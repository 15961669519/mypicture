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59"/>
  </p:handoutMasterIdLst>
  <p:sldIdLst>
    <p:sldId id="389" r:id="rId3"/>
    <p:sldId id="391" r:id="rId4"/>
    <p:sldId id="390" r:id="rId6"/>
    <p:sldId id="392" r:id="rId7"/>
    <p:sldId id="393" r:id="rId8"/>
    <p:sldId id="394" r:id="rId9"/>
    <p:sldId id="395" r:id="rId10"/>
    <p:sldId id="396" r:id="rId11"/>
    <p:sldId id="397" r:id="rId12"/>
    <p:sldId id="398" r:id="rId13"/>
    <p:sldId id="399" r:id="rId14"/>
    <p:sldId id="400" r:id="rId15"/>
    <p:sldId id="401" r:id="rId16"/>
    <p:sldId id="402" r:id="rId17"/>
    <p:sldId id="403" r:id="rId18"/>
    <p:sldId id="404" r:id="rId19"/>
    <p:sldId id="405" r:id="rId20"/>
    <p:sldId id="406" r:id="rId21"/>
    <p:sldId id="407" r:id="rId22"/>
    <p:sldId id="408" r:id="rId23"/>
    <p:sldId id="409" r:id="rId24"/>
    <p:sldId id="410" r:id="rId25"/>
    <p:sldId id="411" r:id="rId26"/>
    <p:sldId id="413" r:id="rId27"/>
    <p:sldId id="414" r:id="rId28"/>
    <p:sldId id="415" r:id="rId29"/>
    <p:sldId id="416" r:id="rId30"/>
    <p:sldId id="417" r:id="rId31"/>
    <p:sldId id="418" r:id="rId32"/>
    <p:sldId id="419" r:id="rId33"/>
    <p:sldId id="420" r:id="rId34"/>
    <p:sldId id="421" r:id="rId35"/>
    <p:sldId id="422" r:id="rId36"/>
    <p:sldId id="425" r:id="rId37"/>
    <p:sldId id="439" r:id="rId38"/>
    <p:sldId id="426" r:id="rId39"/>
    <p:sldId id="427" r:id="rId40"/>
    <p:sldId id="428" r:id="rId41"/>
    <p:sldId id="429" r:id="rId42"/>
    <p:sldId id="446" r:id="rId43"/>
    <p:sldId id="431" r:id="rId44"/>
    <p:sldId id="432" r:id="rId45"/>
    <p:sldId id="433" r:id="rId46"/>
    <p:sldId id="434" r:id="rId47"/>
    <p:sldId id="435" r:id="rId48"/>
    <p:sldId id="438" r:id="rId49"/>
    <p:sldId id="436" r:id="rId50"/>
    <p:sldId id="437" r:id="rId51"/>
    <p:sldId id="440" r:id="rId52"/>
    <p:sldId id="441" r:id="rId53"/>
    <p:sldId id="442" r:id="rId54"/>
    <p:sldId id="443" r:id="rId55"/>
    <p:sldId id="444" r:id="rId56"/>
    <p:sldId id="445" r:id="rId57"/>
    <p:sldId id="314" r:id="rId58"/>
  </p:sldIdLst>
  <p:sldSz cx="9144000" cy="6858000" type="screen4x3"/>
  <p:notesSz cx="6858000" cy="9144000"/>
  <p:custDataLst>
    <p:tags r:id="rId6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FF"/>
    <a:srgbClr val="FF0066"/>
    <a:srgbClr val="07A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68" autoAdjust="0"/>
    <p:restoredTop sz="91981" autoAdjust="0"/>
  </p:normalViewPr>
  <p:slideViewPr>
    <p:cSldViewPr>
      <p:cViewPr varScale="1">
        <p:scale>
          <a:sx n="78" d="100"/>
          <a:sy n="78" d="100"/>
        </p:scale>
        <p:origin x="19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4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3" Type="http://schemas.openxmlformats.org/officeDocument/2006/relationships/tags" Target="tags/tag1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3.xml"/><Relationship Id="rId59" Type="http://schemas.openxmlformats.org/officeDocument/2006/relationships/handoutMaster" Target="handoutMasters/handoutMaster1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DF149-95F8-447F-BF5A-21820058FC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62820-A2EC-4B3F-8E9D-AD93C0C9C5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FA1DD-BA0A-431D-83C0-EA1DC389A2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C1A14-BE97-4AB0-9569-C5D92EE8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 userDrawn="1"/>
        </p:nvCxnSpPr>
        <p:spPr>
          <a:xfrm>
            <a:off x="323528" y="620688"/>
            <a:ext cx="8712968" cy="0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左中括号 13"/>
          <p:cNvSpPr/>
          <p:nvPr userDrawn="1"/>
        </p:nvSpPr>
        <p:spPr>
          <a:xfrm>
            <a:off x="107504" y="150722"/>
            <a:ext cx="360040" cy="469966"/>
          </a:xfrm>
          <a:prstGeom prst="leftBracket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07504" y="177588"/>
            <a:ext cx="1584176" cy="409010"/>
          </a:xfrm>
          <a:prstGeom prst="rect">
            <a:avLst/>
          </a:prstGeom>
        </p:spPr>
        <p:txBody>
          <a:bodyPr>
            <a:normAutofit fontScale="8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E52BB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0" y="6813376"/>
            <a:ext cx="9144000" cy="0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图片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64705" y="3810"/>
            <a:ext cx="1872615" cy="616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50135" y="0"/>
            <a:ext cx="5995453" cy="4938188"/>
          </a:xfrm>
          <a:prstGeom prst="rect">
            <a:avLst/>
          </a:prstGeom>
        </p:spPr>
      </p:pic>
      <p:grpSp>
        <p:nvGrpSpPr>
          <p:cNvPr id="11" name="组合 10"/>
          <p:cNvGrpSpPr/>
          <p:nvPr userDrawn="1"/>
        </p:nvGrpSpPr>
        <p:grpSpPr>
          <a:xfrm>
            <a:off x="972702" y="3102880"/>
            <a:ext cx="3190667" cy="612019"/>
            <a:chOff x="1201186" y="2895503"/>
            <a:chExt cx="4253484" cy="847228"/>
          </a:xfrm>
        </p:grpSpPr>
        <p:grpSp>
          <p:nvGrpSpPr>
            <p:cNvPr id="12" name="组合 11"/>
            <p:cNvGrpSpPr/>
            <p:nvPr/>
          </p:nvGrpSpPr>
          <p:grpSpPr>
            <a:xfrm>
              <a:off x="1201186" y="2895503"/>
              <a:ext cx="3090482" cy="816851"/>
              <a:chOff x="1261460" y="3678169"/>
              <a:chExt cx="3090482" cy="816851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2401633" y="3678169"/>
                <a:ext cx="812800" cy="812800"/>
                <a:chOff x="2241487" y="3690077"/>
                <a:chExt cx="812800" cy="812800"/>
              </a:xfrm>
            </p:grpSpPr>
            <p:sp>
              <p:nvSpPr>
                <p:cNvPr id="25" name="椭圆 24"/>
                <p:cNvSpPr/>
                <p:nvPr/>
              </p:nvSpPr>
              <p:spPr>
                <a:xfrm>
                  <a:off x="2241487" y="3690077"/>
                  <a:ext cx="812800" cy="81280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Freeform 208"/>
                <p:cNvSpPr>
                  <a:spLocks noEditPoints="1"/>
                </p:cNvSpPr>
                <p:nvPr/>
              </p:nvSpPr>
              <p:spPr bwMode="auto">
                <a:xfrm>
                  <a:off x="2477427" y="3890963"/>
                  <a:ext cx="338255" cy="388280"/>
                </a:xfrm>
                <a:custGeom>
                  <a:avLst/>
                  <a:gdLst>
                    <a:gd name="T0" fmla="*/ 217 w 252"/>
                    <a:gd name="T1" fmla="*/ 204 h 288"/>
                    <a:gd name="T2" fmla="*/ 217 w 252"/>
                    <a:gd name="T3" fmla="*/ 196 h 288"/>
                    <a:gd name="T4" fmla="*/ 217 w 252"/>
                    <a:gd name="T5" fmla="*/ 126 h 288"/>
                    <a:gd name="T6" fmla="*/ 156 w 252"/>
                    <a:gd name="T7" fmla="*/ 40 h 288"/>
                    <a:gd name="T8" fmla="*/ 158 w 252"/>
                    <a:gd name="T9" fmla="*/ 32 h 288"/>
                    <a:gd name="T10" fmla="*/ 126 w 252"/>
                    <a:gd name="T11" fmla="*/ 0 h 288"/>
                    <a:gd name="T12" fmla="*/ 94 w 252"/>
                    <a:gd name="T13" fmla="*/ 32 h 288"/>
                    <a:gd name="T14" fmla="*/ 96 w 252"/>
                    <a:gd name="T15" fmla="*/ 40 h 288"/>
                    <a:gd name="T16" fmla="*/ 35 w 252"/>
                    <a:gd name="T17" fmla="*/ 126 h 288"/>
                    <a:gd name="T18" fmla="*/ 35 w 252"/>
                    <a:gd name="T19" fmla="*/ 196 h 288"/>
                    <a:gd name="T20" fmla="*/ 35 w 252"/>
                    <a:gd name="T21" fmla="*/ 204 h 288"/>
                    <a:gd name="T22" fmla="*/ 0 w 252"/>
                    <a:gd name="T23" fmla="*/ 238 h 288"/>
                    <a:gd name="T24" fmla="*/ 14 w 252"/>
                    <a:gd name="T25" fmla="*/ 252 h 288"/>
                    <a:gd name="T26" fmla="*/ 95 w 252"/>
                    <a:gd name="T27" fmla="*/ 252 h 288"/>
                    <a:gd name="T28" fmla="*/ 94 w 252"/>
                    <a:gd name="T29" fmla="*/ 256 h 288"/>
                    <a:gd name="T30" fmla="*/ 126 w 252"/>
                    <a:gd name="T31" fmla="*/ 288 h 288"/>
                    <a:gd name="T32" fmla="*/ 158 w 252"/>
                    <a:gd name="T33" fmla="*/ 256 h 288"/>
                    <a:gd name="T34" fmla="*/ 157 w 252"/>
                    <a:gd name="T35" fmla="*/ 252 h 288"/>
                    <a:gd name="T36" fmla="*/ 238 w 252"/>
                    <a:gd name="T37" fmla="*/ 252 h 288"/>
                    <a:gd name="T38" fmla="*/ 252 w 252"/>
                    <a:gd name="T39" fmla="*/ 238 h 288"/>
                    <a:gd name="T40" fmla="*/ 217 w 252"/>
                    <a:gd name="T41" fmla="*/ 204 h 288"/>
                    <a:gd name="T42" fmla="*/ 108 w 252"/>
                    <a:gd name="T43" fmla="*/ 32 h 288"/>
                    <a:gd name="T44" fmla="*/ 126 w 252"/>
                    <a:gd name="T45" fmla="*/ 14 h 288"/>
                    <a:gd name="T46" fmla="*/ 144 w 252"/>
                    <a:gd name="T47" fmla="*/ 32 h 288"/>
                    <a:gd name="T48" fmla="*/ 143 w 252"/>
                    <a:gd name="T49" fmla="*/ 37 h 288"/>
                    <a:gd name="T50" fmla="*/ 126 w 252"/>
                    <a:gd name="T51" fmla="*/ 35 h 288"/>
                    <a:gd name="T52" fmla="*/ 109 w 252"/>
                    <a:gd name="T53" fmla="*/ 37 h 288"/>
                    <a:gd name="T54" fmla="*/ 108 w 252"/>
                    <a:gd name="T55" fmla="*/ 32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252" h="288">
                      <a:moveTo>
                        <a:pt x="217" y="204"/>
                      </a:moveTo>
                      <a:cubicBezTo>
                        <a:pt x="217" y="202"/>
                        <a:pt x="217" y="199"/>
                        <a:pt x="217" y="196"/>
                      </a:cubicBezTo>
                      <a:cubicBezTo>
                        <a:pt x="217" y="126"/>
                        <a:pt x="217" y="126"/>
                        <a:pt x="217" y="126"/>
                      </a:cubicBezTo>
                      <a:cubicBezTo>
                        <a:pt x="217" y="86"/>
                        <a:pt x="192" y="53"/>
                        <a:pt x="156" y="40"/>
                      </a:cubicBezTo>
                      <a:cubicBezTo>
                        <a:pt x="157" y="37"/>
                        <a:pt x="158" y="35"/>
                        <a:pt x="158" y="32"/>
                      </a:cubicBezTo>
                      <a:cubicBezTo>
                        <a:pt x="158" y="14"/>
                        <a:pt x="143" y="0"/>
                        <a:pt x="126" y="0"/>
                      </a:cubicBezTo>
                      <a:cubicBezTo>
                        <a:pt x="109" y="0"/>
                        <a:pt x="94" y="14"/>
                        <a:pt x="94" y="32"/>
                      </a:cubicBezTo>
                      <a:cubicBezTo>
                        <a:pt x="94" y="35"/>
                        <a:pt x="95" y="37"/>
                        <a:pt x="96" y="40"/>
                      </a:cubicBezTo>
                      <a:cubicBezTo>
                        <a:pt x="60" y="53"/>
                        <a:pt x="35" y="86"/>
                        <a:pt x="35" y="126"/>
                      </a:cubicBezTo>
                      <a:cubicBezTo>
                        <a:pt x="35" y="196"/>
                        <a:pt x="35" y="196"/>
                        <a:pt x="35" y="196"/>
                      </a:cubicBezTo>
                      <a:cubicBezTo>
                        <a:pt x="35" y="199"/>
                        <a:pt x="35" y="202"/>
                        <a:pt x="35" y="204"/>
                      </a:cubicBezTo>
                      <a:cubicBezTo>
                        <a:pt x="0" y="238"/>
                        <a:pt x="0" y="238"/>
                        <a:pt x="0" y="238"/>
                      </a:cubicBezTo>
                      <a:cubicBezTo>
                        <a:pt x="0" y="246"/>
                        <a:pt x="6" y="252"/>
                        <a:pt x="14" y="252"/>
                      </a:cubicBezTo>
                      <a:cubicBezTo>
                        <a:pt x="95" y="252"/>
                        <a:pt x="95" y="252"/>
                        <a:pt x="95" y="252"/>
                      </a:cubicBezTo>
                      <a:cubicBezTo>
                        <a:pt x="95" y="254"/>
                        <a:pt x="94" y="255"/>
                        <a:pt x="94" y="256"/>
                      </a:cubicBezTo>
                      <a:cubicBezTo>
                        <a:pt x="94" y="274"/>
                        <a:pt x="109" y="288"/>
                        <a:pt x="126" y="288"/>
                      </a:cubicBezTo>
                      <a:cubicBezTo>
                        <a:pt x="143" y="288"/>
                        <a:pt x="158" y="274"/>
                        <a:pt x="158" y="256"/>
                      </a:cubicBezTo>
                      <a:cubicBezTo>
                        <a:pt x="158" y="255"/>
                        <a:pt x="157" y="254"/>
                        <a:pt x="157" y="252"/>
                      </a:cubicBezTo>
                      <a:cubicBezTo>
                        <a:pt x="238" y="252"/>
                        <a:pt x="238" y="252"/>
                        <a:pt x="238" y="252"/>
                      </a:cubicBezTo>
                      <a:cubicBezTo>
                        <a:pt x="246" y="252"/>
                        <a:pt x="252" y="246"/>
                        <a:pt x="252" y="238"/>
                      </a:cubicBezTo>
                      <a:lnTo>
                        <a:pt x="217" y="204"/>
                      </a:lnTo>
                      <a:close/>
                      <a:moveTo>
                        <a:pt x="108" y="32"/>
                      </a:moveTo>
                      <a:cubicBezTo>
                        <a:pt x="108" y="22"/>
                        <a:pt x="116" y="14"/>
                        <a:pt x="126" y="14"/>
                      </a:cubicBezTo>
                      <a:cubicBezTo>
                        <a:pt x="136" y="14"/>
                        <a:pt x="144" y="22"/>
                        <a:pt x="144" y="32"/>
                      </a:cubicBezTo>
                      <a:cubicBezTo>
                        <a:pt x="144" y="33"/>
                        <a:pt x="143" y="35"/>
                        <a:pt x="143" y="37"/>
                      </a:cubicBezTo>
                      <a:cubicBezTo>
                        <a:pt x="137" y="36"/>
                        <a:pt x="132" y="35"/>
                        <a:pt x="126" y="35"/>
                      </a:cubicBezTo>
                      <a:cubicBezTo>
                        <a:pt x="120" y="35"/>
                        <a:pt x="115" y="36"/>
                        <a:pt x="109" y="37"/>
                      </a:cubicBezTo>
                      <a:cubicBezTo>
                        <a:pt x="109" y="35"/>
                        <a:pt x="108" y="33"/>
                        <a:pt x="108" y="3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1261460" y="3682220"/>
                <a:ext cx="812800" cy="812800"/>
                <a:chOff x="1101314" y="3694128"/>
                <a:chExt cx="812800" cy="812800"/>
              </a:xfrm>
            </p:grpSpPr>
            <p:sp>
              <p:nvSpPr>
                <p:cNvPr id="23" name="椭圆 22"/>
                <p:cNvSpPr/>
                <p:nvPr/>
              </p:nvSpPr>
              <p:spPr>
                <a:xfrm>
                  <a:off x="1101314" y="3694128"/>
                  <a:ext cx="812800" cy="812800"/>
                </a:xfrm>
                <a:prstGeom prst="ellipse">
                  <a:avLst/>
                </a:prstGeom>
                <a:solidFill>
                  <a:srgbClr val="7ACDE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Freeform 251"/>
                <p:cNvSpPr>
                  <a:spLocks noEditPoints="1"/>
                </p:cNvSpPr>
                <p:nvPr/>
              </p:nvSpPr>
              <p:spPr bwMode="auto">
                <a:xfrm>
                  <a:off x="1308199" y="3948434"/>
                  <a:ext cx="365962" cy="342420"/>
                </a:xfrm>
                <a:custGeom>
                  <a:avLst/>
                  <a:gdLst>
                    <a:gd name="T0" fmla="*/ 266 w 301"/>
                    <a:gd name="T1" fmla="*/ 192 h 282"/>
                    <a:gd name="T2" fmla="*/ 234 w 301"/>
                    <a:gd name="T3" fmla="*/ 69 h 282"/>
                    <a:gd name="T4" fmla="*/ 81 w 301"/>
                    <a:gd name="T5" fmla="*/ 36 h 282"/>
                    <a:gd name="T6" fmla="*/ 32 w 301"/>
                    <a:gd name="T7" fmla="*/ 3 h 282"/>
                    <a:gd name="T8" fmla="*/ 12 w 301"/>
                    <a:gd name="T9" fmla="*/ 13 h 282"/>
                    <a:gd name="T10" fmla="*/ 61 w 301"/>
                    <a:gd name="T11" fmla="*/ 57 h 282"/>
                    <a:gd name="T12" fmla="*/ 132 w 301"/>
                    <a:gd name="T13" fmla="*/ 249 h 282"/>
                    <a:gd name="T14" fmla="*/ 301 w 301"/>
                    <a:gd name="T15" fmla="*/ 260 h 282"/>
                    <a:gd name="T16" fmla="*/ 266 w 301"/>
                    <a:gd name="T17" fmla="*/ 192 h 282"/>
                    <a:gd name="T18" fmla="*/ 242 w 301"/>
                    <a:gd name="T19" fmla="*/ 232 h 282"/>
                    <a:gd name="T20" fmla="*/ 240 w 301"/>
                    <a:gd name="T21" fmla="*/ 233 h 282"/>
                    <a:gd name="T22" fmla="*/ 238 w 301"/>
                    <a:gd name="T23" fmla="*/ 232 h 282"/>
                    <a:gd name="T24" fmla="*/ 159 w 301"/>
                    <a:gd name="T25" fmla="*/ 138 h 282"/>
                    <a:gd name="T26" fmla="*/ 106 w 301"/>
                    <a:gd name="T27" fmla="*/ 75 h 282"/>
                    <a:gd name="T28" fmla="*/ 106 w 301"/>
                    <a:gd name="T29" fmla="*/ 71 h 282"/>
                    <a:gd name="T30" fmla="*/ 109 w 301"/>
                    <a:gd name="T31" fmla="*/ 71 h 282"/>
                    <a:gd name="T32" fmla="*/ 178 w 301"/>
                    <a:gd name="T33" fmla="*/ 122 h 282"/>
                    <a:gd name="T34" fmla="*/ 243 w 301"/>
                    <a:gd name="T35" fmla="*/ 229 h 282"/>
                    <a:gd name="T36" fmla="*/ 242 w 301"/>
                    <a:gd name="T37" fmla="*/ 232 h 2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301" h="282">
                      <a:moveTo>
                        <a:pt x="266" y="192"/>
                      </a:moveTo>
                      <a:cubicBezTo>
                        <a:pt x="268" y="152"/>
                        <a:pt x="252" y="95"/>
                        <a:pt x="234" y="69"/>
                      </a:cubicBezTo>
                      <a:cubicBezTo>
                        <a:pt x="197" y="16"/>
                        <a:pt x="116" y="0"/>
                        <a:pt x="81" y="36"/>
                      </a:cubicBezTo>
                      <a:cubicBezTo>
                        <a:pt x="74" y="43"/>
                        <a:pt x="32" y="3"/>
                        <a:pt x="32" y="3"/>
                      </a:cubicBezTo>
                      <a:cubicBezTo>
                        <a:pt x="12" y="13"/>
                        <a:pt x="12" y="13"/>
                        <a:pt x="12" y="13"/>
                      </a:cubicBezTo>
                      <a:cubicBezTo>
                        <a:pt x="61" y="57"/>
                        <a:pt x="61" y="57"/>
                        <a:pt x="61" y="57"/>
                      </a:cubicBezTo>
                      <a:cubicBezTo>
                        <a:pt x="61" y="57"/>
                        <a:pt x="0" y="152"/>
                        <a:pt x="132" y="249"/>
                      </a:cubicBezTo>
                      <a:cubicBezTo>
                        <a:pt x="177" y="282"/>
                        <a:pt x="241" y="269"/>
                        <a:pt x="301" y="260"/>
                      </a:cubicBezTo>
                      <a:cubicBezTo>
                        <a:pt x="301" y="260"/>
                        <a:pt x="265" y="248"/>
                        <a:pt x="266" y="192"/>
                      </a:cubicBezTo>
                      <a:close/>
                      <a:moveTo>
                        <a:pt x="242" y="232"/>
                      </a:moveTo>
                      <a:cubicBezTo>
                        <a:pt x="241" y="233"/>
                        <a:pt x="241" y="233"/>
                        <a:pt x="240" y="233"/>
                      </a:cubicBezTo>
                      <a:cubicBezTo>
                        <a:pt x="240" y="233"/>
                        <a:pt x="239" y="232"/>
                        <a:pt x="238" y="232"/>
                      </a:cubicBezTo>
                      <a:cubicBezTo>
                        <a:pt x="238" y="232"/>
                        <a:pt x="198" y="182"/>
                        <a:pt x="159" y="138"/>
                      </a:cubicBezTo>
                      <a:cubicBezTo>
                        <a:pt x="115" y="89"/>
                        <a:pt x="106" y="75"/>
                        <a:pt x="106" y="75"/>
                      </a:cubicBezTo>
                      <a:cubicBezTo>
                        <a:pt x="105" y="74"/>
                        <a:pt x="105" y="72"/>
                        <a:pt x="106" y="71"/>
                      </a:cubicBezTo>
                      <a:cubicBezTo>
                        <a:pt x="107" y="71"/>
                        <a:pt x="108" y="70"/>
                        <a:pt x="109" y="71"/>
                      </a:cubicBezTo>
                      <a:cubicBezTo>
                        <a:pt x="109" y="71"/>
                        <a:pt x="144" y="87"/>
                        <a:pt x="178" y="122"/>
                      </a:cubicBezTo>
                      <a:cubicBezTo>
                        <a:pt x="210" y="156"/>
                        <a:pt x="243" y="229"/>
                        <a:pt x="243" y="229"/>
                      </a:cubicBezTo>
                      <a:cubicBezTo>
                        <a:pt x="243" y="230"/>
                        <a:pt x="243" y="232"/>
                        <a:pt x="242" y="23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3539142" y="3678169"/>
                <a:ext cx="812800" cy="812800"/>
                <a:chOff x="3378996" y="3690077"/>
                <a:chExt cx="812800" cy="812800"/>
              </a:xfrm>
            </p:grpSpPr>
            <p:sp>
              <p:nvSpPr>
                <p:cNvPr id="21" name="椭圆 20"/>
                <p:cNvSpPr/>
                <p:nvPr/>
              </p:nvSpPr>
              <p:spPr>
                <a:xfrm>
                  <a:off x="3378996" y="3690077"/>
                  <a:ext cx="812800" cy="812800"/>
                </a:xfrm>
                <a:prstGeom prst="ellipse">
                  <a:avLst/>
                </a:prstGeom>
                <a:solidFill>
                  <a:srgbClr val="F6911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Freeform 367"/>
                <p:cNvSpPr>
                  <a:spLocks noEditPoints="1"/>
                </p:cNvSpPr>
                <p:nvPr/>
              </p:nvSpPr>
              <p:spPr bwMode="auto">
                <a:xfrm>
                  <a:off x="3626404" y="3890963"/>
                  <a:ext cx="359072" cy="382541"/>
                </a:xfrm>
                <a:custGeom>
                  <a:avLst/>
                  <a:gdLst>
                    <a:gd name="T0" fmla="*/ 251 w 269"/>
                    <a:gd name="T1" fmla="*/ 192 h 288"/>
                    <a:gd name="T2" fmla="*/ 234 w 269"/>
                    <a:gd name="T3" fmla="*/ 209 h 288"/>
                    <a:gd name="T4" fmla="*/ 234 w 269"/>
                    <a:gd name="T5" fmla="*/ 211 h 288"/>
                    <a:gd name="T6" fmla="*/ 201 w 269"/>
                    <a:gd name="T7" fmla="*/ 233 h 288"/>
                    <a:gd name="T8" fmla="*/ 160 w 269"/>
                    <a:gd name="T9" fmla="*/ 240 h 288"/>
                    <a:gd name="T10" fmla="*/ 148 w 269"/>
                    <a:gd name="T11" fmla="*/ 187 h 288"/>
                    <a:gd name="T12" fmla="*/ 146 w 269"/>
                    <a:gd name="T13" fmla="*/ 121 h 288"/>
                    <a:gd name="T14" fmla="*/ 193 w 269"/>
                    <a:gd name="T15" fmla="*/ 121 h 288"/>
                    <a:gd name="T16" fmla="*/ 211 w 269"/>
                    <a:gd name="T17" fmla="*/ 117 h 288"/>
                    <a:gd name="T18" fmla="*/ 222 w 269"/>
                    <a:gd name="T19" fmla="*/ 123 h 288"/>
                    <a:gd name="T20" fmla="*/ 236 w 269"/>
                    <a:gd name="T21" fmla="*/ 109 h 288"/>
                    <a:gd name="T22" fmla="*/ 222 w 269"/>
                    <a:gd name="T23" fmla="*/ 95 h 288"/>
                    <a:gd name="T24" fmla="*/ 210 w 269"/>
                    <a:gd name="T25" fmla="*/ 101 h 288"/>
                    <a:gd name="T26" fmla="*/ 145 w 269"/>
                    <a:gd name="T27" fmla="*/ 101 h 288"/>
                    <a:gd name="T28" fmla="*/ 144 w 269"/>
                    <a:gd name="T29" fmla="*/ 68 h 288"/>
                    <a:gd name="T30" fmla="*/ 169 w 269"/>
                    <a:gd name="T31" fmla="*/ 35 h 288"/>
                    <a:gd name="T32" fmla="*/ 134 w 269"/>
                    <a:gd name="T33" fmla="*/ 0 h 288"/>
                    <a:gd name="T34" fmla="*/ 99 w 269"/>
                    <a:gd name="T35" fmla="*/ 35 h 288"/>
                    <a:gd name="T36" fmla="*/ 124 w 269"/>
                    <a:gd name="T37" fmla="*/ 68 h 288"/>
                    <a:gd name="T38" fmla="*/ 123 w 269"/>
                    <a:gd name="T39" fmla="*/ 101 h 288"/>
                    <a:gd name="T40" fmla="*/ 58 w 269"/>
                    <a:gd name="T41" fmla="*/ 101 h 288"/>
                    <a:gd name="T42" fmla="*/ 46 w 269"/>
                    <a:gd name="T43" fmla="*/ 95 h 288"/>
                    <a:gd name="T44" fmla="*/ 32 w 269"/>
                    <a:gd name="T45" fmla="*/ 109 h 288"/>
                    <a:gd name="T46" fmla="*/ 46 w 269"/>
                    <a:gd name="T47" fmla="*/ 123 h 288"/>
                    <a:gd name="T48" fmla="*/ 57 w 269"/>
                    <a:gd name="T49" fmla="*/ 117 h 288"/>
                    <a:gd name="T50" fmla="*/ 76 w 269"/>
                    <a:gd name="T51" fmla="*/ 121 h 288"/>
                    <a:gd name="T52" fmla="*/ 122 w 269"/>
                    <a:gd name="T53" fmla="*/ 121 h 288"/>
                    <a:gd name="T54" fmla="*/ 120 w 269"/>
                    <a:gd name="T55" fmla="*/ 187 h 288"/>
                    <a:gd name="T56" fmla="*/ 109 w 269"/>
                    <a:gd name="T57" fmla="*/ 239 h 288"/>
                    <a:gd name="T58" fmla="*/ 59 w 269"/>
                    <a:gd name="T59" fmla="*/ 227 h 288"/>
                    <a:gd name="T60" fmla="*/ 34 w 269"/>
                    <a:gd name="T61" fmla="*/ 212 h 288"/>
                    <a:gd name="T62" fmla="*/ 35 w 269"/>
                    <a:gd name="T63" fmla="*/ 209 h 288"/>
                    <a:gd name="T64" fmla="*/ 17 w 269"/>
                    <a:gd name="T65" fmla="*/ 192 h 288"/>
                    <a:gd name="T66" fmla="*/ 0 w 269"/>
                    <a:gd name="T67" fmla="*/ 209 h 288"/>
                    <a:gd name="T68" fmla="*/ 17 w 269"/>
                    <a:gd name="T69" fmla="*/ 227 h 288"/>
                    <a:gd name="T70" fmla="*/ 21 w 269"/>
                    <a:gd name="T71" fmla="*/ 226 h 288"/>
                    <a:gd name="T72" fmla="*/ 48 w 269"/>
                    <a:gd name="T73" fmla="*/ 247 h 288"/>
                    <a:gd name="T74" fmla="*/ 102 w 269"/>
                    <a:gd name="T75" fmla="*/ 273 h 288"/>
                    <a:gd name="T76" fmla="*/ 135 w 269"/>
                    <a:gd name="T77" fmla="*/ 288 h 288"/>
                    <a:gd name="T78" fmla="*/ 166 w 269"/>
                    <a:gd name="T79" fmla="*/ 273 h 288"/>
                    <a:gd name="T80" fmla="*/ 220 w 269"/>
                    <a:gd name="T81" fmla="*/ 247 h 288"/>
                    <a:gd name="T82" fmla="*/ 247 w 269"/>
                    <a:gd name="T83" fmla="*/ 226 h 288"/>
                    <a:gd name="T84" fmla="*/ 251 w 269"/>
                    <a:gd name="T85" fmla="*/ 227 h 288"/>
                    <a:gd name="T86" fmla="*/ 269 w 269"/>
                    <a:gd name="T87" fmla="*/ 209 h 288"/>
                    <a:gd name="T88" fmla="*/ 251 w 269"/>
                    <a:gd name="T89" fmla="*/ 192 h 288"/>
                    <a:gd name="T90" fmla="*/ 115 w 269"/>
                    <a:gd name="T91" fmla="*/ 35 h 288"/>
                    <a:gd name="T92" fmla="*/ 134 w 269"/>
                    <a:gd name="T93" fmla="*/ 16 h 288"/>
                    <a:gd name="T94" fmla="*/ 152 w 269"/>
                    <a:gd name="T95" fmla="*/ 35 h 288"/>
                    <a:gd name="T96" fmla="*/ 134 w 269"/>
                    <a:gd name="T97" fmla="*/ 53 h 288"/>
                    <a:gd name="T98" fmla="*/ 115 w 269"/>
                    <a:gd name="T99" fmla="*/ 35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269" h="288">
                      <a:moveTo>
                        <a:pt x="251" y="192"/>
                      </a:moveTo>
                      <a:cubicBezTo>
                        <a:pt x="241" y="192"/>
                        <a:pt x="234" y="200"/>
                        <a:pt x="234" y="209"/>
                      </a:cubicBezTo>
                      <a:cubicBezTo>
                        <a:pt x="234" y="210"/>
                        <a:pt x="234" y="211"/>
                        <a:pt x="234" y="211"/>
                      </a:cubicBezTo>
                      <a:cubicBezTo>
                        <a:pt x="226" y="217"/>
                        <a:pt x="215" y="224"/>
                        <a:pt x="201" y="233"/>
                      </a:cubicBezTo>
                      <a:cubicBezTo>
                        <a:pt x="189" y="240"/>
                        <a:pt x="174" y="241"/>
                        <a:pt x="160" y="240"/>
                      </a:cubicBezTo>
                      <a:cubicBezTo>
                        <a:pt x="148" y="187"/>
                        <a:pt x="148" y="187"/>
                        <a:pt x="148" y="187"/>
                      </a:cubicBezTo>
                      <a:cubicBezTo>
                        <a:pt x="148" y="187"/>
                        <a:pt x="147" y="153"/>
                        <a:pt x="146" y="121"/>
                      </a:cubicBezTo>
                      <a:cubicBezTo>
                        <a:pt x="193" y="121"/>
                        <a:pt x="193" y="121"/>
                        <a:pt x="193" y="121"/>
                      </a:cubicBezTo>
                      <a:cubicBezTo>
                        <a:pt x="211" y="117"/>
                        <a:pt x="211" y="117"/>
                        <a:pt x="211" y="117"/>
                      </a:cubicBezTo>
                      <a:cubicBezTo>
                        <a:pt x="213" y="120"/>
                        <a:pt x="217" y="123"/>
                        <a:pt x="222" y="123"/>
                      </a:cubicBezTo>
                      <a:cubicBezTo>
                        <a:pt x="230" y="123"/>
                        <a:pt x="236" y="116"/>
                        <a:pt x="236" y="109"/>
                      </a:cubicBezTo>
                      <a:cubicBezTo>
                        <a:pt x="236" y="101"/>
                        <a:pt x="230" y="95"/>
                        <a:pt x="222" y="95"/>
                      </a:cubicBezTo>
                      <a:cubicBezTo>
                        <a:pt x="217" y="95"/>
                        <a:pt x="213" y="97"/>
                        <a:pt x="210" y="101"/>
                      </a:cubicBezTo>
                      <a:cubicBezTo>
                        <a:pt x="145" y="101"/>
                        <a:pt x="145" y="101"/>
                        <a:pt x="145" y="101"/>
                      </a:cubicBezTo>
                      <a:cubicBezTo>
                        <a:pt x="145" y="87"/>
                        <a:pt x="144" y="75"/>
                        <a:pt x="144" y="68"/>
                      </a:cubicBezTo>
                      <a:cubicBezTo>
                        <a:pt x="158" y="63"/>
                        <a:pt x="169" y="50"/>
                        <a:pt x="169" y="35"/>
                      </a:cubicBezTo>
                      <a:cubicBezTo>
                        <a:pt x="169" y="16"/>
                        <a:pt x="153" y="0"/>
                        <a:pt x="134" y="0"/>
                      </a:cubicBezTo>
                      <a:cubicBezTo>
                        <a:pt x="115" y="0"/>
                        <a:pt x="99" y="16"/>
                        <a:pt x="99" y="35"/>
                      </a:cubicBezTo>
                      <a:cubicBezTo>
                        <a:pt x="99" y="50"/>
                        <a:pt x="110" y="64"/>
                        <a:pt x="124" y="68"/>
                      </a:cubicBezTo>
                      <a:cubicBezTo>
                        <a:pt x="124" y="75"/>
                        <a:pt x="124" y="87"/>
                        <a:pt x="123" y="101"/>
                      </a:cubicBezTo>
                      <a:cubicBezTo>
                        <a:pt x="58" y="101"/>
                        <a:pt x="58" y="101"/>
                        <a:pt x="58" y="101"/>
                      </a:cubicBezTo>
                      <a:cubicBezTo>
                        <a:pt x="55" y="97"/>
                        <a:pt x="51" y="95"/>
                        <a:pt x="46" y="95"/>
                      </a:cubicBezTo>
                      <a:cubicBezTo>
                        <a:pt x="38" y="95"/>
                        <a:pt x="32" y="101"/>
                        <a:pt x="32" y="109"/>
                      </a:cubicBezTo>
                      <a:cubicBezTo>
                        <a:pt x="32" y="116"/>
                        <a:pt x="38" y="123"/>
                        <a:pt x="46" y="123"/>
                      </a:cubicBezTo>
                      <a:cubicBezTo>
                        <a:pt x="51" y="123"/>
                        <a:pt x="55" y="120"/>
                        <a:pt x="57" y="117"/>
                      </a:cubicBezTo>
                      <a:cubicBezTo>
                        <a:pt x="76" y="121"/>
                        <a:pt x="76" y="121"/>
                        <a:pt x="76" y="121"/>
                      </a:cubicBezTo>
                      <a:cubicBezTo>
                        <a:pt x="122" y="121"/>
                        <a:pt x="122" y="121"/>
                        <a:pt x="122" y="121"/>
                      </a:cubicBezTo>
                      <a:cubicBezTo>
                        <a:pt x="121" y="153"/>
                        <a:pt x="120" y="187"/>
                        <a:pt x="120" y="187"/>
                      </a:cubicBezTo>
                      <a:cubicBezTo>
                        <a:pt x="109" y="239"/>
                        <a:pt x="109" y="239"/>
                        <a:pt x="109" y="239"/>
                      </a:cubicBezTo>
                      <a:cubicBezTo>
                        <a:pt x="91" y="239"/>
                        <a:pt x="73" y="237"/>
                        <a:pt x="59" y="227"/>
                      </a:cubicBezTo>
                      <a:cubicBezTo>
                        <a:pt x="49" y="221"/>
                        <a:pt x="41" y="217"/>
                        <a:pt x="34" y="212"/>
                      </a:cubicBezTo>
                      <a:cubicBezTo>
                        <a:pt x="35" y="211"/>
                        <a:pt x="35" y="210"/>
                        <a:pt x="35" y="209"/>
                      </a:cubicBezTo>
                      <a:cubicBezTo>
                        <a:pt x="35" y="200"/>
                        <a:pt x="27" y="192"/>
                        <a:pt x="17" y="192"/>
                      </a:cubicBezTo>
                      <a:cubicBezTo>
                        <a:pt x="8" y="192"/>
                        <a:pt x="0" y="200"/>
                        <a:pt x="0" y="209"/>
                      </a:cubicBezTo>
                      <a:cubicBezTo>
                        <a:pt x="0" y="219"/>
                        <a:pt x="8" y="227"/>
                        <a:pt x="17" y="227"/>
                      </a:cubicBezTo>
                      <a:cubicBezTo>
                        <a:pt x="19" y="227"/>
                        <a:pt x="20" y="227"/>
                        <a:pt x="21" y="226"/>
                      </a:cubicBezTo>
                      <a:cubicBezTo>
                        <a:pt x="28" y="232"/>
                        <a:pt x="37" y="239"/>
                        <a:pt x="48" y="247"/>
                      </a:cubicBezTo>
                      <a:cubicBezTo>
                        <a:pt x="64" y="257"/>
                        <a:pt x="82" y="267"/>
                        <a:pt x="102" y="273"/>
                      </a:cubicBezTo>
                      <a:cubicBezTo>
                        <a:pt x="105" y="274"/>
                        <a:pt x="128" y="288"/>
                        <a:pt x="135" y="288"/>
                      </a:cubicBezTo>
                      <a:cubicBezTo>
                        <a:pt x="141" y="288"/>
                        <a:pt x="161" y="276"/>
                        <a:pt x="166" y="273"/>
                      </a:cubicBezTo>
                      <a:cubicBezTo>
                        <a:pt x="186" y="267"/>
                        <a:pt x="205" y="257"/>
                        <a:pt x="220" y="247"/>
                      </a:cubicBezTo>
                      <a:cubicBezTo>
                        <a:pt x="231" y="239"/>
                        <a:pt x="241" y="232"/>
                        <a:pt x="247" y="226"/>
                      </a:cubicBezTo>
                      <a:cubicBezTo>
                        <a:pt x="248" y="227"/>
                        <a:pt x="250" y="227"/>
                        <a:pt x="251" y="227"/>
                      </a:cubicBezTo>
                      <a:cubicBezTo>
                        <a:pt x="261" y="227"/>
                        <a:pt x="269" y="219"/>
                        <a:pt x="269" y="209"/>
                      </a:cubicBezTo>
                      <a:cubicBezTo>
                        <a:pt x="269" y="200"/>
                        <a:pt x="261" y="192"/>
                        <a:pt x="251" y="192"/>
                      </a:cubicBezTo>
                      <a:close/>
                      <a:moveTo>
                        <a:pt x="115" y="35"/>
                      </a:moveTo>
                      <a:cubicBezTo>
                        <a:pt x="115" y="25"/>
                        <a:pt x="124" y="16"/>
                        <a:pt x="134" y="16"/>
                      </a:cubicBezTo>
                      <a:cubicBezTo>
                        <a:pt x="144" y="16"/>
                        <a:pt x="152" y="25"/>
                        <a:pt x="152" y="35"/>
                      </a:cubicBezTo>
                      <a:cubicBezTo>
                        <a:pt x="152" y="45"/>
                        <a:pt x="144" y="53"/>
                        <a:pt x="134" y="53"/>
                      </a:cubicBezTo>
                      <a:cubicBezTo>
                        <a:pt x="124" y="53"/>
                        <a:pt x="115" y="45"/>
                        <a:pt x="115" y="3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4641870" y="2929931"/>
              <a:ext cx="812800" cy="812800"/>
              <a:chOff x="5228457" y="3140694"/>
              <a:chExt cx="812800" cy="812800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5228457" y="3140694"/>
                <a:ext cx="812800" cy="8128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Freeform 219"/>
              <p:cNvSpPr>
                <a:spLocks noEditPoints="1"/>
              </p:cNvSpPr>
              <p:nvPr/>
            </p:nvSpPr>
            <p:spPr bwMode="auto">
              <a:xfrm>
                <a:off x="5500841" y="3345553"/>
                <a:ext cx="284850" cy="399237"/>
              </a:xfrm>
              <a:custGeom>
                <a:avLst/>
                <a:gdLst>
                  <a:gd name="T0" fmla="*/ 205 w 211"/>
                  <a:gd name="T1" fmla="*/ 64 h 295"/>
                  <a:gd name="T2" fmla="*/ 61 w 211"/>
                  <a:gd name="T3" fmla="*/ 11 h 295"/>
                  <a:gd name="T4" fmla="*/ 11 w 211"/>
                  <a:gd name="T5" fmla="*/ 19 h 295"/>
                  <a:gd name="T6" fmla="*/ 0 w 211"/>
                  <a:gd name="T7" fmla="*/ 45 h 295"/>
                  <a:gd name="T8" fmla="*/ 1 w 211"/>
                  <a:gd name="T9" fmla="*/ 50 h 295"/>
                  <a:gd name="T10" fmla="*/ 1 w 211"/>
                  <a:gd name="T11" fmla="*/ 228 h 295"/>
                  <a:gd name="T12" fmla="*/ 7 w 211"/>
                  <a:gd name="T13" fmla="*/ 237 h 295"/>
                  <a:gd name="T14" fmla="*/ 153 w 211"/>
                  <a:gd name="T15" fmla="*/ 295 h 295"/>
                  <a:gd name="T16" fmla="*/ 157 w 211"/>
                  <a:gd name="T17" fmla="*/ 295 h 295"/>
                  <a:gd name="T18" fmla="*/ 162 w 211"/>
                  <a:gd name="T19" fmla="*/ 294 h 295"/>
                  <a:gd name="T20" fmla="*/ 166 w 211"/>
                  <a:gd name="T21" fmla="*/ 286 h 295"/>
                  <a:gd name="T22" fmla="*/ 166 w 211"/>
                  <a:gd name="T23" fmla="*/ 276 h 295"/>
                  <a:gd name="T24" fmla="*/ 193 w 211"/>
                  <a:gd name="T25" fmla="*/ 251 h 295"/>
                  <a:gd name="T26" fmla="*/ 201 w 211"/>
                  <a:gd name="T27" fmla="*/ 256 h 295"/>
                  <a:gd name="T28" fmla="*/ 211 w 211"/>
                  <a:gd name="T29" fmla="*/ 246 h 295"/>
                  <a:gd name="T30" fmla="*/ 211 w 211"/>
                  <a:gd name="T31" fmla="*/ 73 h 295"/>
                  <a:gd name="T32" fmla="*/ 205 w 211"/>
                  <a:gd name="T33" fmla="*/ 64 h 295"/>
                  <a:gd name="T34" fmla="*/ 21 w 211"/>
                  <a:gd name="T35" fmla="*/ 49 h 295"/>
                  <a:gd name="T36" fmla="*/ 19 w 211"/>
                  <a:gd name="T37" fmla="*/ 44 h 295"/>
                  <a:gd name="T38" fmla="*/ 24 w 211"/>
                  <a:gd name="T39" fmla="*/ 33 h 295"/>
                  <a:gd name="T40" fmla="*/ 54 w 211"/>
                  <a:gd name="T41" fmla="*/ 28 h 295"/>
                  <a:gd name="T42" fmla="*/ 55 w 211"/>
                  <a:gd name="T43" fmla="*/ 29 h 295"/>
                  <a:gd name="T44" fmla="*/ 190 w 211"/>
                  <a:gd name="T45" fmla="*/ 79 h 295"/>
                  <a:gd name="T46" fmla="*/ 161 w 211"/>
                  <a:gd name="T47" fmla="*/ 106 h 295"/>
                  <a:gd name="T48" fmla="*/ 160 w 211"/>
                  <a:gd name="T49" fmla="*/ 106 h 295"/>
                  <a:gd name="T50" fmla="*/ 21 w 211"/>
                  <a:gd name="T51" fmla="*/ 49 h 295"/>
                  <a:gd name="T52" fmla="*/ 166 w 211"/>
                  <a:gd name="T53" fmla="*/ 111 h 295"/>
                  <a:gd name="T54" fmla="*/ 192 w 211"/>
                  <a:gd name="T55" fmla="*/ 86 h 295"/>
                  <a:gd name="T56" fmla="*/ 192 w 211"/>
                  <a:gd name="T57" fmla="*/ 244 h 295"/>
                  <a:gd name="T58" fmla="*/ 166 w 211"/>
                  <a:gd name="T59" fmla="*/ 268 h 295"/>
                  <a:gd name="T60" fmla="*/ 166 w 211"/>
                  <a:gd name="T61" fmla="*/ 115 h 295"/>
                  <a:gd name="T62" fmla="*/ 166 w 211"/>
                  <a:gd name="T63" fmla="*/ 111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11" h="295">
                    <a:moveTo>
                      <a:pt x="205" y="64"/>
                    </a:moveTo>
                    <a:cubicBezTo>
                      <a:pt x="61" y="11"/>
                      <a:pt x="61" y="11"/>
                      <a:pt x="61" y="11"/>
                    </a:cubicBezTo>
                    <a:cubicBezTo>
                      <a:pt x="58" y="10"/>
                      <a:pt x="32" y="0"/>
                      <a:pt x="11" y="19"/>
                    </a:cubicBezTo>
                    <a:cubicBezTo>
                      <a:pt x="4" y="26"/>
                      <a:pt x="0" y="35"/>
                      <a:pt x="0" y="45"/>
                    </a:cubicBezTo>
                    <a:cubicBezTo>
                      <a:pt x="0" y="47"/>
                      <a:pt x="1" y="48"/>
                      <a:pt x="1" y="50"/>
                    </a:cubicBezTo>
                    <a:cubicBezTo>
                      <a:pt x="1" y="228"/>
                      <a:pt x="1" y="228"/>
                      <a:pt x="1" y="228"/>
                    </a:cubicBezTo>
                    <a:cubicBezTo>
                      <a:pt x="1" y="232"/>
                      <a:pt x="3" y="236"/>
                      <a:pt x="7" y="237"/>
                    </a:cubicBezTo>
                    <a:cubicBezTo>
                      <a:pt x="153" y="295"/>
                      <a:pt x="153" y="295"/>
                      <a:pt x="153" y="295"/>
                    </a:cubicBezTo>
                    <a:cubicBezTo>
                      <a:pt x="154" y="295"/>
                      <a:pt x="156" y="295"/>
                      <a:pt x="157" y="295"/>
                    </a:cubicBezTo>
                    <a:cubicBezTo>
                      <a:pt x="159" y="295"/>
                      <a:pt x="161" y="295"/>
                      <a:pt x="162" y="294"/>
                    </a:cubicBezTo>
                    <a:cubicBezTo>
                      <a:pt x="165" y="292"/>
                      <a:pt x="166" y="289"/>
                      <a:pt x="166" y="286"/>
                    </a:cubicBezTo>
                    <a:cubicBezTo>
                      <a:pt x="166" y="276"/>
                      <a:pt x="166" y="276"/>
                      <a:pt x="166" y="276"/>
                    </a:cubicBezTo>
                    <a:cubicBezTo>
                      <a:pt x="193" y="251"/>
                      <a:pt x="193" y="251"/>
                      <a:pt x="193" y="251"/>
                    </a:cubicBezTo>
                    <a:cubicBezTo>
                      <a:pt x="195" y="254"/>
                      <a:pt x="198" y="256"/>
                      <a:pt x="201" y="256"/>
                    </a:cubicBezTo>
                    <a:cubicBezTo>
                      <a:pt x="207" y="256"/>
                      <a:pt x="211" y="251"/>
                      <a:pt x="211" y="246"/>
                    </a:cubicBezTo>
                    <a:cubicBezTo>
                      <a:pt x="211" y="73"/>
                      <a:pt x="211" y="73"/>
                      <a:pt x="211" y="73"/>
                    </a:cubicBezTo>
                    <a:cubicBezTo>
                      <a:pt x="211" y="69"/>
                      <a:pt x="208" y="66"/>
                      <a:pt x="205" y="64"/>
                    </a:cubicBezTo>
                    <a:close/>
                    <a:moveTo>
                      <a:pt x="21" y="49"/>
                    </a:moveTo>
                    <a:cubicBezTo>
                      <a:pt x="20" y="48"/>
                      <a:pt x="19" y="46"/>
                      <a:pt x="19" y="44"/>
                    </a:cubicBezTo>
                    <a:cubicBezTo>
                      <a:pt x="19" y="40"/>
                      <a:pt x="21" y="36"/>
                      <a:pt x="24" y="33"/>
                    </a:cubicBezTo>
                    <a:cubicBezTo>
                      <a:pt x="36" y="22"/>
                      <a:pt x="54" y="28"/>
                      <a:pt x="54" y="28"/>
                    </a:cubicBezTo>
                    <a:cubicBezTo>
                      <a:pt x="54" y="28"/>
                      <a:pt x="54" y="29"/>
                      <a:pt x="55" y="29"/>
                    </a:cubicBezTo>
                    <a:cubicBezTo>
                      <a:pt x="190" y="79"/>
                      <a:pt x="190" y="79"/>
                      <a:pt x="190" y="79"/>
                    </a:cubicBezTo>
                    <a:cubicBezTo>
                      <a:pt x="161" y="106"/>
                      <a:pt x="161" y="106"/>
                      <a:pt x="161" y="106"/>
                    </a:cubicBezTo>
                    <a:cubicBezTo>
                      <a:pt x="161" y="106"/>
                      <a:pt x="161" y="106"/>
                      <a:pt x="160" y="106"/>
                    </a:cubicBezTo>
                    <a:lnTo>
                      <a:pt x="21" y="49"/>
                    </a:lnTo>
                    <a:close/>
                    <a:moveTo>
                      <a:pt x="166" y="111"/>
                    </a:moveTo>
                    <a:cubicBezTo>
                      <a:pt x="192" y="86"/>
                      <a:pt x="192" y="86"/>
                      <a:pt x="192" y="86"/>
                    </a:cubicBezTo>
                    <a:cubicBezTo>
                      <a:pt x="192" y="244"/>
                      <a:pt x="192" y="244"/>
                      <a:pt x="192" y="244"/>
                    </a:cubicBezTo>
                    <a:cubicBezTo>
                      <a:pt x="166" y="268"/>
                      <a:pt x="166" y="268"/>
                      <a:pt x="166" y="268"/>
                    </a:cubicBezTo>
                    <a:cubicBezTo>
                      <a:pt x="166" y="115"/>
                      <a:pt x="166" y="115"/>
                      <a:pt x="166" y="115"/>
                    </a:cubicBezTo>
                    <a:cubicBezTo>
                      <a:pt x="166" y="114"/>
                      <a:pt x="166" y="112"/>
                      <a:pt x="166" y="11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27" name="组合 26"/>
          <p:cNvGrpSpPr/>
          <p:nvPr userDrawn="1"/>
        </p:nvGrpSpPr>
        <p:grpSpPr>
          <a:xfrm>
            <a:off x="203226" y="85254"/>
            <a:ext cx="2748440" cy="2614613"/>
            <a:chOff x="-839788" y="177800"/>
            <a:chExt cx="3663951" cy="2614613"/>
          </a:xfrm>
          <a:solidFill>
            <a:schemeClr val="bg1">
              <a:alpha val="50000"/>
            </a:schemeClr>
          </a:solidFill>
        </p:grpSpPr>
        <p:sp>
          <p:nvSpPr>
            <p:cNvPr id="28" name="Freeform 5"/>
            <p:cNvSpPr>
              <a:spLocks noEditPoints="1"/>
            </p:cNvSpPr>
            <p:nvPr/>
          </p:nvSpPr>
          <p:spPr bwMode="auto">
            <a:xfrm>
              <a:off x="-839788" y="177800"/>
              <a:ext cx="3663950" cy="1793875"/>
            </a:xfrm>
            <a:custGeom>
              <a:avLst/>
              <a:gdLst>
                <a:gd name="T0" fmla="*/ 598 w 2308"/>
                <a:gd name="T1" fmla="*/ 1130 h 1130"/>
                <a:gd name="T2" fmla="*/ 0 w 2308"/>
                <a:gd name="T3" fmla="*/ 1003 h 1130"/>
                <a:gd name="T4" fmla="*/ 2298 w 2308"/>
                <a:gd name="T5" fmla="*/ 0 h 1130"/>
                <a:gd name="T6" fmla="*/ 2308 w 2308"/>
                <a:gd name="T7" fmla="*/ 21 h 1130"/>
                <a:gd name="T8" fmla="*/ 598 w 2308"/>
                <a:gd name="T9" fmla="*/ 1130 h 1130"/>
                <a:gd name="T10" fmla="*/ 598 w 2308"/>
                <a:gd name="T11" fmla="*/ 1130 h 1130"/>
                <a:gd name="T12" fmla="*/ 63 w 2308"/>
                <a:gd name="T13" fmla="*/ 993 h 1130"/>
                <a:gd name="T14" fmla="*/ 598 w 2308"/>
                <a:gd name="T15" fmla="*/ 1098 h 1130"/>
                <a:gd name="T16" fmla="*/ 2193 w 2308"/>
                <a:gd name="T17" fmla="*/ 74 h 1130"/>
                <a:gd name="T18" fmla="*/ 63 w 2308"/>
                <a:gd name="T19" fmla="*/ 993 h 1130"/>
                <a:gd name="T20" fmla="*/ 63 w 2308"/>
                <a:gd name="T21" fmla="*/ 993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08" h="1130">
                  <a:moveTo>
                    <a:pt x="598" y="1130"/>
                  </a:moveTo>
                  <a:lnTo>
                    <a:pt x="0" y="1003"/>
                  </a:lnTo>
                  <a:lnTo>
                    <a:pt x="2298" y="0"/>
                  </a:lnTo>
                  <a:lnTo>
                    <a:pt x="2308" y="21"/>
                  </a:lnTo>
                  <a:lnTo>
                    <a:pt x="598" y="1130"/>
                  </a:lnTo>
                  <a:lnTo>
                    <a:pt x="598" y="1130"/>
                  </a:lnTo>
                  <a:close/>
                  <a:moveTo>
                    <a:pt x="63" y="993"/>
                  </a:moveTo>
                  <a:lnTo>
                    <a:pt x="598" y="1098"/>
                  </a:lnTo>
                  <a:lnTo>
                    <a:pt x="2193" y="74"/>
                  </a:lnTo>
                  <a:lnTo>
                    <a:pt x="63" y="993"/>
                  </a:lnTo>
                  <a:lnTo>
                    <a:pt x="63" y="9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6"/>
            <p:cNvSpPr>
              <a:spLocks noEditPoints="1"/>
            </p:cNvSpPr>
            <p:nvPr/>
          </p:nvSpPr>
          <p:spPr bwMode="auto">
            <a:xfrm>
              <a:off x="92075" y="177800"/>
              <a:ext cx="2732088" cy="2463800"/>
            </a:xfrm>
            <a:custGeom>
              <a:avLst/>
              <a:gdLst>
                <a:gd name="T0" fmla="*/ 263 w 1721"/>
                <a:gd name="T1" fmla="*/ 1552 h 1552"/>
                <a:gd name="T2" fmla="*/ 0 w 1721"/>
                <a:gd name="T3" fmla="*/ 1109 h 1552"/>
                <a:gd name="T4" fmla="*/ 1711 w 1721"/>
                <a:gd name="T5" fmla="*/ 0 h 1552"/>
                <a:gd name="T6" fmla="*/ 1721 w 1721"/>
                <a:gd name="T7" fmla="*/ 21 h 1552"/>
                <a:gd name="T8" fmla="*/ 284 w 1721"/>
                <a:gd name="T9" fmla="*/ 1267 h 1552"/>
                <a:gd name="T10" fmla="*/ 263 w 1721"/>
                <a:gd name="T11" fmla="*/ 1552 h 1552"/>
                <a:gd name="T12" fmla="*/ 263 w 1721"/>
                <a:gd name="T13" fmla="*/ 1552 h 1552"/>
                <a:gd name="T14" fmla="*/ 32 w 1721"/>
                <a:gd name="T15" fmla="*/ 1119 h 1552"/>
                <a:gd name="T16" fmla="*/ 242 w 1721"/>
                <a:gd name="T17" fmla="*/ 1478 h 1552"/>
                <a:gd name="T18" fmla="*/ 263 w 1721"/>
                <a:gd name="T19" fmla="*/ 1257 h 1552"/>
                <a:gd name="T20" fmla="*/ 1595 w 1721"/>
                <a:gd name="T21" fmla="*/ 106 h 1552"/>
                <a:gd name="T22" fmla="*/ 32 w 1721"/>
                <a:gd name="T23" fmla="*/ 1119 h 1552"/>
                <a:gd name="T24" fmla="*/ 32 w 1721"/>
                <a:gd name="T25" fmla="*/ 1119 h 1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1" h="1552">
                  <a:moveTo>
                    <a:pt x="263" y="1552"/>
                  </a:moveTo>
                  <a:lnTo>
                    <a:pt x="0" y="1109"/>
                  </a:lnTo>
                  <a:lnTo>
                    <a:pt x="1711" y="0"/>
                  </a:lnTo>
                  <a:lnTo>
                    <a:pt x="1721" y="21"/>
                  </a:lnTo>
                  <a:lnTo>
                    <a:pt x="284" y="1267"/>
                  </a:lnTo>
                  <a:lnTo>
                    <a:pt x="263" y="1552"/>
                  </a:lnTo>
                  <a:lnTo>
                    <a:pt x="263" y="1552"/>
                  </a:lnTo>
                  <a:close/>
                  <a:moveTo>
                    <a:pt x="32" y="1119"/>
                  </a:moveTo>
                  <a:lnTo>
                    <a:pt x="242" y="1478"/>
                  </a:lnTo>
                  <a:lnTo>
                    <a:pt x="263" y="1257"/>
                  </a:lnTo>
                  <a:lnTo>
                    <a:pt x="1595" y="106"/>
                  </a:lnTo>
                  <a:lnTo>
                    <a:pt x="32" y="1119"/>
                  </a:lnTo>
                  <a:lnTo>
                    <a:pt x="32" y="11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7"/>
            <p:cNvSpPr>
              <a:spLocks noEditPoints="1"/>
            </p:cNvSpPr>
            <p:nvPr/>
          </p:nvSpPr>
          <p:spPr bwMode="auto">
            <a:xfrm>
              <a:off x="476250" y="177800"/>
              <a:ext cx="2347913" cy="2447925"/>
            </a:xfrm>
            <a:custGeom>
              <a:avLst/>
              <a:gdLst>
                <a:gd name="T0" fmla="*/ 0 w 1479"/>
                <a:gd name="T1" fmla="*/ 1542 h 1542"/>
                <a:gd name="T2" fmla="*/ 21 w 1479"/>
                <a:gd name="T3" fmla="*/ 1257 h 1542"/>
                <a:gd name="T4" fmla="*/ 1469 w 1479"/>
                <a:gd name="T5" fmla="*/ 0 h 1542"/>
                <a:gd name="T6" fmla="*/ 1479 w 1479"/>
                <a:gd name="T7" fmla="*/ 21 h 1542"/>
                <a:gd name="T8" fmla="*/ 0 w 1479"/>
                <a:gd name="T9" fmla="*/ 1542 h 1542"/>
                <a:gd name="T10" fmla="*/ 0 w 1479"/>
                <a:gd name="T11" fmla="*/ 1542 h 1542"/>
                <a:gd name="T12" fmla="*/ 42 w 1479"/>
                <a:gd name="T13" fmla="*/ 1267 h 1542"/>
                <a:gd name="T14" fmla="*/ 21 w 1479"/>
                <a:gd name="T15" fmla="*/ 1489 h 1542"/>
                <a:gd name="T16" fmla="*/ 1290 w 1479"/>
                <a:gd name="T17" fmla="*/ 180 h 1542"/>
                <a:gd name="T18" fmla="*/ 42 w 1479"/>
                <a:gd name="T19" fmla="*/ 1267 h 1542"/>
                <a:gd name="T20" fmla="*/ 42 w 1479"/>
                <a:gd name="T21" fmla="*/ 1267 h 1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9" h="1542">
                  <a:moveTo>
                    <a:pt x="0" y="1542"/>
                  </a:moveTo>
                  <a:lnTo>
                    <a:pt x="21" y="1257"/>
                  </a:lnTo>
                  <a:lnTo>
                    <a:pt x="1469" y="0"/>
                  </a:lnTo>
                  <a:lnTo>
                    <a:pt x="1479" y="21"/>
                  </a:lnTo>
                  <a:lnTo>
                    <a:pt x="0" y="1542"/>
                  </a:lnTo>
                  <a:lnTo>
                    <a:pt x="0" y="1542"/>
                  </a:lnTo>
                  <a:close/>
                  <a:moveTo>
                    <a:pt x="42" y="1267"/>
                  </a:moveTo>
                  <a:lnTo>
                    <a:pt x="21" y="1489"/>
                  </a:lnTo>
                  <a:lnTo>
                    <a:pt x="1290" y="180"/>
                  </a:lnTo>
                  <a:lnTo>
                    <a:pt x="42" y="1267"/>
                  </a:lnTo>
                  <a:lnTo>
                    <a:pt x="42" y="12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8"/>
            <p:cNvSpPr>
              <a:spLocks noEditPoints="1"/>
            </p:cNvSpPr>
            <p:nvPr/>
          </p:nvSpPr>
          <p:spPr bwMode="auto">
            <a:xfrm>
              <a:off x="492125" y="177800"/>
              <a:ext cx="2332038" cy="2614613"/>
            </a:xfrm>
            <a:custGeom>
              <a:avLst/>
              <a:gdLst>
                <a:gd name="T0" fmla="*/ 693 w 1469"/>
                <a:gd name="T1" fmla="*/ 1647 h 1647"/>
                <a:gd name="T2" fmla="*/ 0 w 1469"/>
                <a:gd name="T3" fmla="*/ 1267 h 1647"/>
                <a:gd name="T4" fmla="*/ 1459 w 1469"/>
                <a:gd name="T5" fmla="*/ 0 h 1647"/>
                <a:gd name="T6" fmla="*/ 1469 w 1469"/>
                <a:gd name="T7" fmla="*/ 11 h 1647"/>
                <a:gd name="T8" fmla="*/ 693 w 1469"/>
                <a:gd name="T9" fmla="*/ 1647 h 1647"/>
                <a:gd name="T10" fmla="*/ 693 w 1469"/>
                <a:gd name="T11" fmla="*/ 1647 h 1647"/>
                <a:gd name="T12" fmla="*/ 42 w 1469"/>
                <a:gd name="T13" fmla="*/ 1257 h 1647"/>
                <a:gd name="T14" fmla="*/ 682 w 1469"/>
                <a:gd name="T15" fmla="*/ 1616 h 1647"/>
                <a:gd name="T16" fmla="*/ 1438 w 1469"/>
                <a:gd name="T17" fmla="*/ 53 h 1647"/>
                <a:gd name="T18" fmla="*/ 42 w 1469"/>
                <a:gd name="T19" fmla="*/ 1257 h 1647"/>
                <a:gd name="T20" fmla="*/ 42 w 1469"/>
                <a:gd name="T21" fmla="*/ 1257 h 1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69" h="1647">
                  <a:moveTo>
                    <a:pt x="693" y="1647"/>
                  </a:moveTo>
                  <a:lnTo>
                    <a:pt x="0" y="1267"/>
                  </a:lnTo>
                  <a:lnTo>
                    <a:pt x="1459" y="0"/>
                  </a:lnTo>
                  <a:lnTo>
                    <a:pt x="1469" y="11"/>
                  </a:lnTo>
                  <a:lnTo>
                    <a:pt x="693" y="1647"/>
                  </a:lnTo>
                  <a:lnTo>
                    <a:pt x="693" y="1647"/>
                  </a:lnTo>
                  <a:close/>
                  <a:moveTo>
                    <a:pt x="42" y="1257"/>
                  </a:moveTo>
                  <a:lnTo>
                    <a:pt x="682" y="1616"/>
                  </a:lnTo>
                  <a:lnTo>
                    <a:pt x="1438" y="53"/>
                  </a:lnTo>
                  <a:lnTo>
                    <a:pt x="42" y="1257"/>
                  </a:lnTo>
                  <a:lnTo>
                    <a:pt x="42" y="12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2" name="直角三角形 31"/>
          <p:cNvSpPr/>
          <p:nvPr userDrawn="1"/>
        </p:nvSpPr>
        <p:spPr>
          <a:xfrm flipH="1">
            <a:off x="4058255" y="3114549"/>
            <a:ext cx="5094374" cy="3748211"/>
          </a:xfrm>
          <a:prstGeom prst="rtTriangle">
            <a:avLst/>
          </a:prstGeom>
          <a:solidFill>
            <a:srgbClr val="FF0066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Freeform 50"/>
          <p:cNvSpPr/>
          <p:nvPr userDrawn="1"/>
        </p:nvSpPr>
        <p:spPr bwMode="auto">
          <a:xfrm rot="20016816">
            <a:off x="5640813" y="4990804"/>
            <a:ext cx="898941" cy="1039792"/>
          </a:xfrm>
          <a:custGeom>
            <a:avLst/>
            <a:gdLst>
              <a:gd name="T0" fmla="*/ 375 w 375"/>
              <a:gd name="T1" fmla="*/ 268 h 343"/>
              <a:gd name="T2" fmla="*/ 307 w 375"/>
              <a:gd name="T3" fmla="*/ 343 h 343"/>
              <a:gd name="T4" fmla="*/ 69 w 375"/>
              <a:gd name="T5" fmla="*/ 343 h 343"/>
              <a:gd name="T6" fmla="*/ 0 w 375"/>
              <a:gd name="T7" fmla="*/ 268 h 343"/>
              <a:gd name="T8" fmla="*/ 0 w 375"/>
              <a:gd name="T9" fmla="*/ 75 h 343"/>
              <a:gd name="T10" fmla="*/ 69 w 375"/>
              <a:gd name="T11" fmla="*/ 0 h 343"/>
              <a:gd name="T12" fmla="*/ 307 w 375"/>
              <a:gd name="T13" fmla="*/ 0 h 343"/>
              <a:gd name="T14" fmla="*/ 375 w 375"/>
              <a:gd name="T15" fmla="*/ 75 h 343"/>
              <a:gd name="T16" fmla="*/ 375 w 375"/>
              <a:gd name="T17" fmla="*/ 268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5" h="343">
                <a:moveTo>
                  <a:pt x="375" y="268"/>
                </a:moveTo>
                <a:cubicBezTo>
                  <a:pt x="375" y="310"/>
                  <a:pt x="345" y="343"/>
                  <a:pt x="307" y="343"/>
                </a:cubicBezTo>
                <a:cubicBezTo>
                  <a:pt x="69" y="343"/>
                  <a:pt x="69" y="343"/>
                  <a:pt x="69" y="343"/>
                </a:cubicBezTo>
                <a:cubicBezTo>
                  <a:pt x="31" y="343"/>
                  <a:pt x="0" y="310"/>
                  <a:pt x="0" y="268"/>
                </a:cubicBezTo>
                <a:cubicBezTo>
                  <a:pt x="0" y="75"/>
                  <a:pt x="0" y="75"/>
                  <a:pt x="0" y="75"/>
                </a:cubicBezTo>
                <a:cubicBezTo>
                  <a:pt x="0" y="33"/>
                  <a:pt x="31" y="0"/>
                  <a:pt x="69" y="0"/>
                </a:cubicBezTo>
                <a:cubicBezTo>
                  <a:pt x="307" y="0"/>
                  <a:pt x="307" y="0"/>
                  <a:pt x="307" y="0"/>
                </a:cubicBezTo>
                <a:cubicBezTo>
                  <a:pt x="345" y="0"/>
                  <a:pt x="375" y="33"/>
                  <a:pt x="375" y="75"/>
                </a:cubicBezTo>
                <a:lnTo>
                  <a:pt x="375" y="268"/>
                </a:lnTo>
                <a:close/>
              </a:path>
            </a:pathLst>
          </a:custGeom>
          <a:solidFill>
            <a:srgbClr val="FADA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4" name="Freeform 57"/>
          <p:cNvSpPr/>
          <p:nvPr userDrawn="1"/>
        </p:nvSpPr>
        <p:spPr bwMode="auto">
          <a:xfrm rot="20016816">
            <a:off x="5266721" y="2280268"/>
            <a:ext cx="3180423" cy="2952493"/>
          </a:xfrm>
          <a:custGeom>
            <a:avLst/>
            <a:gdLst>
              <a:gd name="T0" fmla="*/ 1266 w 1326"/>
              <a:gd name="T1" fmla="*/ 0 h 974"/>
              <a:gd name="T2" fmla="*/ 60 w 1326"/>
              <a:gd name="T3" fmla="*/ 0 h 974"/>
              <a:gd name="T4" fmla="*/ 0 w 1326"/>
              <a:gd name="T5" fmla="*/ 62 h 974"/>
              <a:gd name="T6" fmla="*/ 0 w 1326"/>
              <a:gd name="T7" fmla="*/ 912 h 974"/>
              <a:gd name="T8" fmla="*/ 60 w 1326"/>
              <a:gd name="T9" fmla="*/ 974 h 974"/>
              <a:gd name="T10" fmla="*/ 1266 w 1326"/>
              <a:gd name="T11" fmla="*/ 974 h 974"/>
              <a:gd name="T12" fmla="*/ 1326 w 1326"/>
              <a:gd name="T13" fmla="*/ 912 h 974"/>
              <a:gd name="T14" fmla="*/ 1326 w 1326"/>
              <a:gd name="T15" fmla="*/ 62 h 974"/>
              <a:gd name="T16" fmla="*/ 1266 w 1326"/>
              <a:gd name="T17" fmla="*/ 0 h 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6" h="974">
                <a:moveTo>
                  <a:pt x="1266" y="0"/>
                </a:moveTo>
                <a:cubicBezTo>
                  <a:pt x="60" y="0"/>
                  <a:pt x="60" y="0"/>
                  <a:pt x="60" y="0"/>
                </a:cubicBezTo>
                <a:cubicBezTo>
                  <a:pt x="27" y="0"/>
                  <a:pt x="0" y="28"/>
                  <a:pt x="0" y="62"/>
                </a:cubicBezTo>
                <a:cubicBezTo>
                  <a:pt x="0" y="912"/>
                  <a:pt x="0" y="912"/>
                  <a:pt x="0" y="912"/>
                </a:cubicBezTo>
                <a:cubicBezTo>
                  <a:pt x="0" y="946"/>
                  <a:pt x="27" y="974"/>
                  <a:pt x="60" y="974"/>
                </a:cubicBezTo>
                <a:cubicBezTo>
                  <a:pt x="1266" y="974"/>
                  <a:pt x="1266" y="974"/>
                  <a:pt x="1266" y="974"/>
                </a:cubicBezTo>
                <a:cubicBezTo>
                  <a:pt x="1300" y="974"/>
                  <a:pt x="1326" y="946"/>
                  <a:pt x="1326" y="912"/>
                </a:cubicBezTo>
                <a:cubicBezTo>
                  <a:pt x="1326" y="62"/>
                  <a:pt x="1326" y="62"/>
                  <a:pt x="1326" y="62"/>
                </a:cubicBezTo>
                <a:cubicBezTo>
                  <a:pt x="1326" y="28"/>
                  <a:pt x="1300" y="0"/>
                  <a:pt x="1266" y="0"/>
                </a:cubicBezTo>
                <a:close/>
              </a:path>
            </a:pathLst>
          </a:custGeom>
          <a:solidFill>
            <a:srgbClr val="43576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5" name="Oval 60"/>
          <p:cNvSpPr>
            <a:spLocks noChangeArrowheads="1"/>
          </p:cNvSpPr>
          <p:nvPr userDrawn="1"/>
        </p:nvSpPr>
        <p:spPr bwMode="auto">
          <a:xfrm rot="20016816">
            <a:off x="5533600" y="4526358"/>
            <a:ext cx="68647" cy="93594"/>
          </a:xfrm>
          <a:prstGeom prst="ellipse">
            <a:avLst/>
          </a:prstGeom>
          <a:solidFill>
            <a:srgbClr val="F0EE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6" name="Oval 61"/>
          <p:cNvSpPr>
            <a:spLocks noChangeArrowheads="1"/>
          </p:cNvSpPr>
          <p:nvPr userDrawn="1"/>
        </p:nvSpPr>
        <p:spPr bwMode="auto">
          <a:xfrm rot="20016816">
            <a:off x="5434449" y="4257845"/>
            <a:ext cx="68647" cy="97754"/>
          </a:xfrm>
          <a:prstGeom prst="ellipse">
            <a:avLst/>
          </a:prstGeom>
          <a:solidFill>
            <a:srgbClr val="F0EE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" name="Rectangle 63"/>
          <p:cNvSpPr>
            <a:spLocks noChangeArrowheads="1"/>
          </p:cNvSpPr>
          <p:nvPr userDrawn="1"/>
        </p:nvSpPr>
        <p:spPr bwMode="auto">
          <a:xfrm rot="20016816">
            <a:off x="5500644" y="2503997"/>
            <a:ext cx="2618404" cy="25050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Freeform 64"/>
          <p:cNvSpPr/>
          <p:nvPr userDrawn="1"/>
        </p:nvSpPr>
        <p:spPr bwMode="auto">
          <a:xfrm rot="20016816">
            <a:off x="5563322" y="2045526"/>
            <a:ext cx="2812972" cy="2841081"/>
          </a:xfrm>
          <a:custGeom>
            <a:avLst/>
            <a:gdLst>
              <a:gd name="T0" fmla="*/ 1803 w 1803"/>
              <a:gd name="T1" fmla="*/ 0 h 1366"/>
              <a:gd name="T2" fmla="*/ 1803 w 1803"/>
              <a:gd name="T3" fmla="*/ 1366 h 1366"/>
              <a:gd name="T4" fmla="*/ 0 w 1803"/>
              <a:gd name="T5" fmla="*/ 1366 h 1366"/>
              <a:gd name="T6" fmla="*/ 1803 w 1803"/>
              <a:gd name="T7" fmla="*/ 0 h 1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3" h="1366">
                <a:moveTo>
                  <a:pt x="1803" y="0"/>
                </a:moveTo>
                <a:lnTo>
                  <a:pt x="1803" y="1366"/>
                </a:lnTo>
                <a:lnTo>
                  <a:pt x="0" y="1366"/>
                </a:lnTo>
                <a:lnTo>
                  <a:pt x="180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Rectangle 49"/>
          <p:cNvSpPr>
            <a:spLocks noChangeArrowheads="1"/>
          </p:cNvSpPr>
          <p:nvPr userDrawn="1"/>
        </p:nvSpPr>
        <p:spPr bwMode="auto">
          <a:xfrm rot="20016816">
            <a:off x="6031188" y="5957468"/>
            <a:ext cx="605588" cy="713367"/>
          </a:xfrm>
          <a:prstGeom prst="rect">
            <a:avLst/>
          </a:prstGeom>
          <a:solidFill>
            <a:srgbClr val="EBCF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0" name="Freeform 51"/>
          <p:cNvSpPr/>
          <p:nvPr userDrawn="1"/>
        </p:nvSpPr>
        <p:spPr bwMode="auto">
          <a:xfrm rot="20016816">
            <a:off x="5561428" y="5182031"/>
            <a:ext cx="392107" cy="1076470"/>
          </a:xfrm>
          <a:custGeom>
            <a:avLst/>
            <a:gdLst>
              <a:gd name="T0" fmla="*/ 62 w 163"/>
              <a:gd name="T1" fmla="*/ 0 h 355"/>
              <a:gd name="T2" fmla="*/ 1 w 163"/>
              <a:gd name="T3" fmla="*/ 64 h 355"/>
              <a:gd name="T4" fmla="*/ 9 w 163"/>
              <a:gd name="T5" fmla="*/ 290 h 355"/>
              <a:gd name="T6" fmla="*/ 74 w 163"/>
              <a:gd name="T7" fmla="*/ 355 h 355"/>
              <a:gd name="T8" fmla="*/ 101 w 163"/>
              <a:gd name="T9" fmla="*/ 355 h 355"/>
              <a:gd name="T10" fmla="*/ 162 w 163"/>
              <a:gd name="T11" fmla="*/ 291 h 355"/>
              <a:gd name="T12" fmla="*/ 154 w 163"/>
              <a:gd name="T13" fmla="*/ 65 h 355"/>
              <a:gd name="T14" fmla="*/ 89 w 163"/>
              <a:gd name="T15" fmla="*/ 0 h 355"/>
              <a:gd name="T16" fmla="*/ 62 w 163"/>
              <a:gd name="T17" fmla="*/ 0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3" h="355">
                <a:moveTo>
                  <a:pt x="62" y="0"/>
                </a:moveTo>
                <a:cubicBezTo>
                  <a:pt x="28" y="0"/>
                  <a:pt x="0" y="28"/>
                  <a:pt x="1" y="64"/>
                </a:cubicBezTo>
                <a:cubicBezTo>
                  <a:pt x="9" y="290"/>
                  <a:pt x="9" y="290"/>
                  <a:pt x="9" y="290"/>
                </a:cubicBezTo>
                <a:cubicBezTo>
                  <a:pt x="10" y="325"/>
                  <a:pt x="39" y="355"/>
                  <a:pt x="74" y="355"/>
                </a:cubicBezTo>
                <a:cubicBezTo>
                  <a:pt x="101" y="355"/>
                  <a:pt x="101" y="355"/>
                  <a:pt x="101" y="355"/>
                </a:cubicBezTo>
                <a:cubicBezTo>
                  <a:pt x="136" y="355"/>
                  <a:pt x="163" y="327"/>
                  <a:pt x="162" y="291"/>
                </a:cubicBezTo>
                <a:cubicBezTo>
                  <a:pt x="154" y="65"/>
                  <a:pt x="154" y="65"/>
                  <a:pt x="154" y="65"/>
                </a:cubicBezTo>
                <a:cubicBezTo>
                  <a:pt x="153" y="30"/>
                  <a:pt x="124" y="1"/>
                  <a:pt x="89" y="0"/>
                </a:cubicBezTo>
                <a:lnTo>
                  <a:pt x="62" y="0"/>
                </a:lnTo>
                <a:close/>
              </a:path>
            </a:pathLst>
          </a:custGeom>
          <a:solidFill>
            <a:srgbClr val="FADA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1" name="Rectangle 52"/>
          <p:cNvSpPr>
            <a:spLocks noChangeArrowheads="1"/>
          </p:cNvSpPr>
          <p:nvPr userDrawn="1"/>
        </p:nvSpPr>
        <p:spPr bwMode="auto">
          <a:xfrm rot="20016816">
            <a:off x="5925672" y="6051176"/>
            <a:ext cx="809724" cy="332777"/>
          </a:xfrm>
          <a:prstGeom prst="rect">
            <a:avLst/>
          </a:prstGeom>
          <a:solidFill>
            <a:srgbClr val="FEFA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2" name="Rectangle 53"/>
          <p:cNvSpPr>
            <a:spLocks noChangeArrowheads="1"/>
          </p:cNvSpPr>
          <p:nvPr userDrawn="1"/>
        </p:nvSpPr>
        <p:spPr bwMode="auto">
          <a:xfrm rot="20016816">
            <a:off x="6296873" y="5935172"/>
            <a:ext cx="418123" cy="332777"/>
          </a:xfrm>
          <a:prstGeom prst="rect">
            <a:avLst/>
          </a:prstGeom>
          <a:solidFill>
            <a:srgbClr val="BFBC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3" name="Oval 56"/>
          <p:cNvSpPr>
            <a:spLocks noChangeArrowheads="1"/>
          </p:cNvSpPr>
          <p:nvPr userDrawn="1"/>
        </p:nvSpPr>
        <p:spPr bwMode="auto">
          <a:xfrm rot="20016816">
            <a:off x="6526051" y="5954903"/>
            <a:ext cx="149776" cy="195506"/>
          </a:xfrm>
          <a:prstGeom prst="ellipse">
            <a:avLst/>
          </a:prstGeom>
          <a:solidFill>
            <a:srgbClr val="F9E5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4" name="Oval 58"/>
          <p:cNvSpPr>
            <a:spLocks noChangeArrowheads="1"/>
          </p:cNvSpPr>
          <p:nvPr userDrawn="1"/>
        </p:nvSpPr>
        <p:spPr bwMode="auto">
          <a:xfrm rot="20016816">
            <a:off x="5731904" y="5059225"/>
            <a:ext cx="68647" cy="93594"/>
          </a:xfrm>
          <a:prstGeom prst="ellipse">
            <a:avLst/>
          </a:prstGeom>
          <a:solidFill>
            <a:srgbClr val="F0EE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5" name="Oval 59"/>
          <p:cNvSpPr>
            <a:spLocks noChangeArrowheads="1"/>
          </p:cNvSpPr>
          <p:nvPr userDrawn="1"/>
        </p:nvSpPr>
        <p:spPr bwMode="auto">
          <a:xfrm rot="20016816">
            <a:off x="5632406" y="4790821"/>
            <a:ext cx="68647" cy="95673"/>
          </a:xfrm>
          <a:prstGeom prst="ellipse">
            <a:avLst/>
          </a:prstGeom>
          <a:solidFill>
            <a:srgbClr val="F0EE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6" name="Freeform 88"/>
          <p:cNvSpPr/>
          <p:nvPr userDrawn="1"/>
        </p:nvSpPr>
        <p:spPr bwMode="auto">
          <a:xfrm rot="20016816">
            <a:off x="5344634" y="4937289"/>
            <a:ext cx="581941" cy="463808"/>
          </a:xfrm>
          <a:custGeom>
            <a:avLst/>
            <a:gdLst>
              <a:gd name="T0" fmla="*/ 8 w 226"/>
              <a:gd name="T1" fmla="*/ 100 h 135"/>
              <a:gd name="T2" fmla="*/ 56 w 226"/>
              <a:gd name="T3" fmla="*/ 130 h 135"/>
              <a:gd name="T4" fmla="*/ 191 w 226"/>
              <a:gd name="T5" fmla="*/ 99 h 135"/>
              <a:gd name="T6" fmla="*/ 221 w 226"/>
              <a:gd name="T7" fmla="*/ 51 h 135"/>
              <a:gd name="T8" fmla="*/ 217 w 226"/>
              <a:gd name="T9" fmla="*/ 35 h 135"/>
              <a:gd name="T10" fmla="*/ 169 w 226"/>
              <a:gd name="T11" fmla="*/ 5 h 135"/>
              <a:gd name="T12" fmla="*/ 34 w 226"/>
              <a:gd name="T13" fmla="*/ 36 h 135"/>
              <a:gd name="T14" fmla="*/ 4 w 226"/>
              <a:gd name="T15" fmla="*/ 84 h 135"/>
              <a:gd name="T16" fmla="*/ 8 w 226"/>
              <a:gd name="T17" fmla="*/ 100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6" h="135">
                <a:moveTo>
                  <a:pt x="8" y="100"/>
                </a:moveTo>
                <a:cubicBezTo>
                  <a:pt x="13" y="122"/>
                  <a:pt x="34" y="135"/>
                  <a:pt x="56" y="130"/>
                </a:cubicBezTo>
                <a:cubicBezTo>
                  <a:pt x="191" y="99"/>
                  <a:pt x="191" y="99"/>
                  <a:pt x="191" y="99"/>
                </a:cubicBezTo>
                <a:cubicBezTo>
                  <a:pt x="212" y="94"/>
                  <a:pt x="226" y="73"/>
                  <a:pt x="221" y="51"/>
                </a:cubicBezTo>
                <a:cubicBezTo>
                  <a:pt x="217" y="35"/>
                  <a:pt x="217" y="35"/>
                  <a:pt x="217" y="35"/>
                </a:cubicBezTo>
                <a:cubicBezTo>
                  <a:pt x="212" y="14"/>
                  <a:pt x="191" y="0"/>
                  <a:pt x="169" y="5"/>
                </a:cubicBezTo>
                <a:cubicBezTo>
                  <a:pt x="34" y="36"/>
                  <a:pt x="34" y="36"/>
                  <a:pt x="34" y="36"/>
                </a:cubicBezTo>
                <a:cubicBezTo>
                  <a:pt x="13" y="41"/>
                  <a:pt x="0" y="63"/>
                  <a:pt x="4" y="84"/>
                </a:cubicBezTo>
                <a:lnTo>
                  <a:pt x="8" y="100"/>
                </a:lnTo>
                <a:close/>
              </a:path>
            </a:pathLst>
          </a:custGeom>
          <a:solidFill>
            <a:srgbClr val="FADA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7" name="Freeform 89"/>
          <p:cNvSpPr/>
          <p:nvPr userDrawn="1"/>
        </p:nvSpPr>
        <p:spPr bwMode="auto">
          <a:xfrm rot="20016816">
            <a:off x="5639960" y="4902327"/>
            <a:ext cx="213743" cy="289100"/>
          </a:xfrm>
          <a:custGeom>
            <a:avLst/>
            <a:gdLst>
              <a:gd name="T0" fmla="*/ 7 w 83"/>
              <a:gd name="T1" fmla="*/ 57 h 84"/>
              <a:gd name="T2" fmla="*/ 44 w 83"/>
              <a:gd name="T3" fmla="*/ 80 h 84"/>
              <a:gd name="T4" fmla="*/ 55 w 83"/>
              <a:gd name="T5" fmla="*/ 77 h 84"/>
              <a:gd name="T6" fmla="*/ 79 w 83"/>
              <a:gd name="T7" fmla="*/ 40 h 84"/>
              <a:gd name="T8" fmla="*/ 76 w 83"/>
              <a:gd name="T9" fmla="*/ 27 h 84"/>
              <a:gd name="T10" fmla="*/ 39 w 83"/>
              <a:gd name="T11" fmla="*/ 4 h 84"/>
              <a:gd name="T12" fmla="*/ 27 w 83"/>
              <a:gd name="T13" fmla="*/ 7 h 84"/>
              <a:gd name="T14" fmla="*/ 4 w 83"/>
              <a:gd name="T15" fmla="*/ 44 h 84"/>
              <a:gd name="T16" fmla="*/ 7 w 83"/>
              <a:gd name="T17" fmla="*/ 57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84">
                <a:moveTo>
                  <a:pt x="7" y="57"/>
                </a:moveTo>
                <a:cubicBezTo>
                  <a:pt x="11" y="73"/>
                  <a:pt x="27" y="84"/>
                  <a:pt x="44" y="80"/>
                </a:cubicBezTo>
                <a:cubicBezTo>
                  <a:pt x="55" y="77"/>
                  <a:pt x="55" y="77"/>
                  <a:pt x="55" y="77"/>
                </a:cubicBezTo>
                <a:cubicBezTo>
                  <a:pt x="72" y="73"/>
                  <a:pt x="83" y="57"/>
                  <a:pt x="79" y="40"/>
                </a:cubicBezTo>
                <a:cubicBezTo>
                  <a:pt x="76" y="27"/>
                  <a:pt x="76" y="27"/>
                  <a:pt x="76" y="27"/>
                </a:cubicBezTo>
                <a:cubicBezTo>
                  <a:pt x="72" y="11"/>
                  <a:pt x="55" y="0"/>
                  <a:pt x="39" y="4"/>
                </a:cubicBezTo>
                <a:cubicBezTo>
                  <a:pt x="27" y="7"/>
                  <a:pt x="27" y="7"/>
                  <a:pt x="27" y="7"/>
                </a:cubicBezTo>
                <a:cubicBezTo>
                  <a:pt x="10" y="11"/>
                  <a:pt x="0" y="27"/>
                  <a:pt x="4" y="44"/>
                </a:cubicBezTo>
                <a:lnTo>
                  <a:pt x="7" y="57"/>
                </a:lnTo>
                <a:close/>
              </a:path>
            </a:pathLst>
          </a:custGeom>
          <a:solidFill>
            <a:srgbClr val="F0EE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 userDrawn="1"/>
        </p:nvPicPr>
        <p:blipFill rotWithShape="1">
          <a:blip r:embed="rId3"/>
          <a:srcRect r="38601"/>
          <a:stretch>
            <a:fillRect/>
          </a:stretch>
        </p:blipFill>
        <p:spPr>
          <a:xfrm rot="20015684">
            <a:off x="5890042" y="3927823"/>
            <a:ext cx="2830397" cy="853514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28529" y="1727342"/>
            <a:ext cx="1067667" cy="1148096"/>
          </a:xfrm>
          <a:prstGeom prst="rect">
            <a:avLst/>
          </a:prstGeom>
        </p:spPr>
      </p:pic>
      <p:grpSp>
        <p:nvGrpSpPr>
          <p:cNvPr id="50" name="组合 49"/>
          <p:cNvGrpSpPr/>
          <p:nvPr userDrawn="1"/>
        </p:nvGrpSpPr>
        <p:grpSpPr>
          <a:xfrm>
            <a:off x="7185056" y="2761405"/>
            <a:ext cx="1765741" cy="1868926"/>
            <a:chOff x="9378462" y="3001773"/>
            <a:chExt cx="3791619" cy="2339063"/>
          </a:xfrm>
        </p:grpSpPr>
        <p:sp>
          <p:nvSpPr>
            <p:cNvPr id="51" name="Freeform 72"/>
            <p:cNvSpPr/>
            <p:nvPr/>
          </p:nvSpPr>
          <p:spPr bwMode="auto">
            <a:xfrm rot="20016816">
              <a:off x="10210926" y="3584461"/>
              <a:ext cx="630196" cy="790345"/>
            </a:xfrm>
            <a:custGeom>
              <a:avLst/>
              <a:gdLst>
                <a:gd name="T0" fmla="*/ 42 w 183"/>
                <a:gd name="T1" fmla="*/ 11 h 230"/>
                <a:gd name="T2" fmla="*/ 99 w 183"/>
                <a:gd name="T3" fmla="*/ 27 h 230"/>
                <a:gd name="T4" fmla="*/ 172 w 183"/>
                <a:gd name="T5" fmla="*/ 153 h 230"/>
                <a:gd name="T6" fmla="*/ 156 w 183"/>
                <a:gd name="T7" fmla="*/ 210 h 230"/>
                <a:gd name="T8" fmla="*/ 141 w 183"/>
                <a:gd name="T9" fmla="*/ 218 h 230"/>
                <a:gd name="T10" fmla="*/ 84 w 183"/>
                <a:gd name="T11" fmla="*/ 203 h 230"/>
                <a:gd name="T12" fmla="*/ 11 w 183"/>
                <a:gd name="T13" fmla="*/ 77 h 230"/>
                <a:gd name="T14" fmla="*/ 27 w 183"/>
                <a:gd name="T15" fmla="*/ 20 h 230"/>
                <a:gd name="T16" fmla="*/ 42 w 183"/>
                <a:gd name="T17" fmla="*/ 11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230">
                  <a:moveTo>
                    <a:pt x="42" y="11"/>
                  </a:moveTo>
                  <a:cubicBezTo>
                    <a:pt x="62" y="0"/>
                    <a:pt x="87" y="7"/>
                    <a:pt x="99" y="27"/>
                  </a:cubicBezTo>
                  <a:cubicBezTo>
                    <a:pt x="172" y="153"/>
                    <a:pt x="172" y="153"/>
                    <a:pt x="172" y="153"/>
                  </a:cubicBezTo>
                  <a:cubicBezTo>
                    <a:pt x="183" y="173"/>
                    <a:pt x="176" y="198"/>
                    <a:pt x="156" y="210"/>
                  </a:cubicBezTo>
                  <a:cubicBezTo>
                    <a:pt x="141" y="218"/>
                    <a:pt x="141" y="218"/>
                    <a:pt x="141" y="218"/>
                  </a:cubicBezTo>
                  <a:cubicBezTo>
                    <a:pt x="121" y="230"/>
                    <a:pt x="96" y="223"/>
                    <a:pt x="84" y="203"/>
                  </a:cubicBezTo>
                  <a:cubicBezTo>
                    <a:pt x="11" y="77"/>
                    <a:pt x="11" y="77"/>
                    <a:pt x="11" y="77"/>
                  </a:cubicBezTo>
                  <a:cubicBezTo>
                    <a:pt x="0" y="57"/>
                    <a:pt x="7" y="31"/>
                    <a:pt x="27" y="20"/>
                  </a:cubicBezTo>
                  <a:lnTo>
                    <a:pt x="42" y="11"/>
                  </a:lnTo>
                  <a:close/>
                </a:path>
              </a:pathLst>
            </a:custGeom>
            <a:solidFill>
              <a:srgbClr val="FADA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73"/>
            <p:cNvSpPr/>
            <p:nvPr/>
          </p:nvSpPr>
          <p:spPr bwMode="auto">
            <a:xfrm rot="20016816">
              <a:off x="10201589" y="3587625"/>
              <a:ext cx="615637" cy="702991"/>
            </a:xfrm>
            <a:custGeom>
              <a:avLst/>
              <a:gdLst>
                <a:gd name="T0" fmla="*/ 4 w 179"/>
                <a:gd name="T1" fmla="*/ 66 h 205"/>
                <a:gd name="T2" fmla="*/ 9 w 179"/>
                <a:gd name="T3" fmla="*/ 64 h 205"/>
                <a:gd name="T4" fmla="*/ 122 w 179"/>
                <a:gd name="T5" fmla="*/ 69 h 205"/>
                <a:gd name="T6" fmla="*/ 160 w 179"/>
                <a:gd name="T7" fmla="*/ 205 h 205"/>
                <a:gd name="T8" fmla="*/ 169 w 179"/>
                <a:gd name="T9" fmla="*/ 153 h 205"/>
                <a:gd name="T10" fmla="*/ 96 w 179"/>
                <a:gd name="T11" fmla="*/ 27 h 205"/>
                <a:gd name="T12" fmla="*/ 39 w 179"/>
                <a:gd name="T13" fmla="*/ 11 h 205"/>
                <a:gd name="T14" fmla="*/ 24 w 179"/>
                <a:gd name="T15" fmla="*/ 20 h 205"/>
                <a:gd name="T16" fmla="*/ 4 w 179"/>
                <a:gd name="T17" fmla="*/ 66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205">
                  <a:moveTo>
                    <a:pt x="4" y="66"/>
                  </a:moveTo>
                  <a:cubicBezTo>
                    <a:pt x="9" y="64"/>
                    <a:pt x="9" y="64"/>
                    <a:pt x="9" y="64"/>
                  </a:cubicBezTo>
                  <a:cubicBezTo>
                    <a:pt x="38" y="47"/>
                    <a:pt x="105" y="40"/>
                    <a:pt x="122" y="69"/>
                  </a:cubicBezTo>
                  <a:cubicBezTo>
                    <a:pt x="160" y="205"/>
                    <a:pt x="160" y="205"/>
                    <a:pt x="160" y="205"/>
                  </a:cubicBezTo>
                  <a:cubicBezTo>
                    <a:pt x="175" y="192"/>
                    <a:pt x="179" y="170"/>
                    <a:pt x="169" y="153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84" y="7"/>
                    <a:pt x="59" y="0"/>
                    <a:pt x="39" y="11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7" y="30"/>
                    <a:pt x="0" y="49"/>
                    <a:pt x="4" y="66"/>
                  </a:cubicBezTo>
                  <a:close/>
                </a:path>
              </a:pathLst>
            </a:custGeom>
            <a:solidFill>
              <a:srgbClr val="EBCF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74"/>
            <p:cNvSpPr/>
            <p:nvPr/>
          </p:nvSpPr>
          <p:spPr bwMode="auto">
            <a:xfrm rot="20016816">
              <a:off x="10401469" y="3292308"/>
              <a:ext cx="632276" cy="794504"/>
            </a:xfrm>
            <a:custGeom>
              <a:avLst/>
              <a:gdLst>
                <a:gd name="T0" fmla="*/ 42 w 184"/>
                <a:gd name="T1" fmla="*/ 12 h 231"/>
                <a:gd name="T2" fmla="*/ 99 w 184"/>
                <a:gd name="T3" fmla="*/ 27 h 231"/>
                <a:gd name="T4" fmla="*/ 172 w 184"/>
                <a:gd name="T5" fmla="*/ 153 h 231"/>
                <a:gd name="T6" fmla="*/ 157 w 184"/>
                <a:gd name="T7" fmla="*/ 210 h 231"/>
                <a:gd name="T8" fmla="*/ 142 w 184"/>
                <a:gd name="T9" fmla="*/ 219 h 231"/>
                <a:gd name="T10" fmla="*/ 85 w 184"/>
                <a:gd name="T11" fmla="*/ 204 h 231"/>
                <a:gd name="T12" fmla="*/ 12 w 184"/>
                <a:gd name="T13" fmla="*/ 78 h 231"/>
                <a:gd name="T14" fmla="*/ 27 w 184"/>
                <a:gd name="T15" fmla="*/ 20 h 231"/>
                <a:gd name="T16" fmla="*/ 42 w 184"/>
                <a:gd name="T17" fmla="*/ 12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" h="231">
                  <a:moveTo>
                    <a:pt x="42" y="12"/>
                  </a:moveTo>
                  <a:cubicBezTo>
                    <a:pt x="62" y="0"/>
                    <a:pt x="88" y="7"/>
                    <a:pt x="99" y="27"/>
                  </a:cubicBezTo>
                  <a:cubicBezTo>
                    <a:pt x="172" y="153"/>
                    <a:pt x="172" y="153"/>
                    <a:pt x="172" y="153"/>
                  </a:cubicBezTo>
                  <a:cubicBezTo>
                    <a:pt x="184" y="173"/>
                    <a:pt x="177" y="199"/>
                    <a:pt x="157" y="210"/>
                  </a:cubicBezTo>
                  <a:cubicBezTo>
                    <a:pt x="142" y="219"/>
                    <a:pt x="142" y="219"/>
                    <a:pt x="142" y="219"/>
                  </a:cubicBezTo>
                  <a:cubicBezTo>
                    <a:pt x="122" y="231"/>
                    <a:pt x="96" y="224"/>
                    <a:pt x="85" y="204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0" y="58"/>
                    <a:pt x="7" y="32"/>
                    <a:pt x="27" y="20"/>
                  </a:cubicBezTo>
                  <a:lnTo>
                    <a:pt x="42" y="12"/>
                  </a:lnTo>
                  <a:close/>
                </a:path>
              </a:pathLst>
            </a:custGeom>
            <a:solidFill>
              <a:srgbClr val="FADA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75"/>
            <p:cNvSpPr/>
            <p:nvPr/>
          </p:nvSpPr>
          <p:spPr bwMode="auto">
            <a:xfrm rot="20016816">
              <a:off x="10391779" y="3296043"/>
              <a:ext cx="615637" cy="705071"/>
            </a:xfrm>
            <a:custGeom>
              <a:avLst/>
              <a:gdLst>
                <a:gd name="T0" fmla="*/ 5 w 179"/>
                <a:gd name="T1" fmla="*/ 67 h 205"/>
                <a:gd name="T2" fmla="*/ 9 w 179"/>
                <a:gd name="T3" fmla="*/ 64 h 205"/>
                <a:gd name="T4" fmla="*/ 121 w 179"/>
                <a:gd name="T5" fmla="*/ 70 h 205"/>
                <a:gd name="T6" fmla="*/ 161 w 179"/>
                <a:gd name="T7" fmla="*/ 205 h 205"/>
                <a:gd name="T8" fmla="*/ 169 w 179"/>
                <a:gd name="T9" fmla="*/ 153 h 205"/>
                <a:gd name="T10" fmla="*/ 96 w 179"/>
                <a:gd name="T11" fmla="*/ 27 h 205"/>
                <a:gd name="T12" fmla="*/ 39 w 179"/>
                <a:gd name="T13" fmla="*/ 12 h 205"/>
                <a:gd name="T14" fmla="*/ 24 w 179"/>
                <a:gd name="T15" fmla="*/ 20 h 205"/>
                <a:gd name="T16" fmla="*/ 5 w 179"/>
                <a:gd name="T17" fmla="*/ 67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205">
                  <a:moveTo>
                    <a:pt x="5" y="67"/>
                  </a:moveTo>
                  <a:cubicBezTo>
                    <a:pt x="9" y="64"/>
                    <a:pt x="9" y="64"/>
                    <a:pt x="9" y="64"/>
                  </a:cubicBezTo>
                  <a:cubicBezTo>
                    <a:pt x="38" y="47"/>
                    <a:pt x="104" y="41"/>
                    <a:pt x="121" y="70"/>
                  </a:cubicBezTo>
                  <a:cubicBezTo>
                    <a:pt x="161" y="205"/>
                    <a:pt x="161" y="205"/>
                    <a:pt x="161" y="205"/>
                  </a:cubicBezTo>
                  <a:cubicBezTo>
                    <a:pt x="175" y="192"/>
                    <a:pt x="179" y="171"/>
                    <a:pt x="169" y="153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85" y="7"/>
                    <a:pt x="59" y="0"/>
                    <a:pt x="39" y="12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8" y="30"/>
                    <a:pt x="0" y="49"/>
                    <a:pt x="5" y="67"/>
                  </a:cubicBezTo>
                  <a:close/>
                </a:path>
              </a:pathLst>
            </a:custGeom>
            <a:solidFill>
              <a:srgbClr val="EBCF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76"/>
            <p:cNvSpPr/>
            <p:nvPr/>
          </p:nvSpPr>
          <p:spPr bwMode="auto">
            <a:xfrm rot="20016816">
              <a:off x="10593985" y="3001773"/>
              <a:ext cx="632276" cy="794504"/>
            </a:xfrm>
            <a:custGeom>
              <a:avLst/>
              <a:gdLst>
                <a:gd name="T0" fmla="*/ 42 w 184"/>
                <a:gd name="T1" fmla="*/ 12 h 231"/>
                <a:gd name="T2" fmla="*/ 100 w 184"/>
                <a:gd name="T3" fmla="*/ 27 h 231"/>
                <a:gd name="T4" fmla="*/ 172 w 184"/>
                <a:gd name="T5" fmla="*/ 153 h 231"/>
                <a:gd name="T6" fmla="*/ 157 w 184"/>
                <a:gd name="T7" fmla="*/ 210 h 231"/>
                <a:gd name="T8" fmla="*/ 142 w 184"/>
                <a:gd name="T9" fmla="*/ 219 h 231"/>
                <a:gd name="T10" fmla="*/ 85 w 184"/>
                <a:gd name="T11" fmla="*/ 204 h 231"/>
                <a:gd name="T12" fmla="*/ 12 w 184"/>
                <a:gd name="T13" fmla="*/ 78 h 231"/>
                <a:gd name="T14" fmla="*/ 27 w 184"/>
                <a:gd name="T15" fmla="*/ 21 h 231"/>
                <a:gd name="T16" fmla="*/ 42 w 184"/>
                <a:gd name="T17" fmla="*/ 12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" h="231">
                  <a:moveTo>
                    <a:pt x="42" y="12"/>
                  </a:moveTo>
                  <a:cubicBezTo>
                    <a:pt x="62" y="0"/>
                    <a:pt x="88" y="7"/>
                    <a:pt x="100" y="27"/>
                  </a:cubicBezTo>
                  <a:cubicBezTo>
                    <a:pt x="172" y="153"/>
                    <a:pt x="172" y="153"/>
                    <a:pt x="172" y="153"/>
                  </a:cubicBezTo>
                  <a:cubicBezTo>
                    <a:pt x="184" y="173"/>
                    <a:pt x="177" y="199"/>
                    <a:pt x="157" y="210"/>
                  </a:cubicBezTo>
                  <a:cubicBezTo>
                    <a:pt x="142" y="219"/>
                    <a:pt x="142" y="219"/>
                    <a:pt x="142" y="219"/>
                  </a:cubicBezTo>
                  <a:cubicBezTo>
                    <a:pt x="122" y="231"/>
                    <a:pt x="96" y="224"/>
                    <a:pt x="85" y="204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0" y="58"/>
                    <a:pt x="7" y="32"/>
                    <a:pt x="27" y="21"/>
                  </a:cubicBezTo>
                  <a:lnTo>
                    <a:pt x="42" y="12"/>
                  </a:lnTo>
                  <a:close/>
                </a:path>
              </a:pathLst>
            </a:custGeom>
            <a:solidFill>
              <a:srgbClr val="FADA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77"/>
            <p:cNvSpPr/>
            <p:nvPr/>
          </p:nvSpPr>
          <p:spPr bwMode="auto">
            <a:xfrm rot="20016816">
              <a:off x="10558413" y="3011575"/>
              <a:ext cx="615637" cy="588599"/>
            </a:xfrm>
            <a:custGeom>
              <a:avLst/>
              <a:gdLst>
                <a:gd name="T0" fmla="*/ 5 w 179"/>
                <a:gd name="T1" fmla="*/ 67 h 171"/>
                <a:gd name="T2" fmla="*/ 10 w 179"/>
                <a:gd name="T3" fmla="*/ 64 h 171"/>
                <a:gd name="T4" fmla="*/ 121 w 179"/>
                <a:gd name="T5" fmla="*/ 70 h 171"/>
                <a:gd name="T6" fmla="*/ 169 w 179"/>
                <a:gd name="T7" fmla="*/ 153 h 171"/>
                <a:gd name="T8" fmla="*/ 97 w 179"/>
                <a:gd name="T9" fmla="*/ 27 h 171"/>
                <a:gd name="T10" fmla="*/ 39 w 179"/>
                <a:gd name="T11" fmla="*/ 12 h 171"/>
                <a:gd name="T12" fmla="*/ 24 w 179"/>
                <a:gd name="T13" fmla="*/ 21 h 171"/>
                <a:gd name="T14" fmla="*/ 5 w 179"/>
                <a:gd name="T15" fmla="*/ 67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9" h="171">
                  <a:moveTo>
                    <a:pt x="5" y="67"/>
                  </a:moveTo>
                  <a:cubicBezTo>
                    <a:pt x="10" y="64"/>
                    <a:pt x="10" y="64"/>
                    <a:pt x="10" y="64"/>
                  </a:cubicBezTo>
                  <a:cubicBezTo>
                    <a:pt x="39" y="48"/>
                    <a:pt x="104" y="41"/>
                    <a:pt x="121" y="70"/>
                  </a:cubicBezTo>
                  <a:cubicBezTo>
                    <a:pt x="121" y="70"/>
                    <a:pt x="179" y="171"/>
                    <a:pt x="169" y="153"/>
                  </a:cubicBezTo>
                  <a:cubicBezTo>
                    <a:pt x="97" y="27"/>
                    <a:pt x="97" y="27"/>
                    <a:pt x="97" y="27"/>
                  </a:cubicBezTo>
                  <a:cubicBezTo>
                    <a:pt x="85" y="7"/>
                    <a:pt x="59" y="0"/>
                    <a:pt x="39" y="12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8" y="30"/>
                    <a:pt x="0" y="49"/>
                    <a:pt x="5" y="67"/>
                  </a:cubicBezTo>
                  <a:close/>
                </a:path>
              </a:pathLst>
            </a:custGeom>
            <a:solidFill>
              <a:srgbClr val="EBCF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78"/>
            <p:cNvSpPr/>
            <p:nvPr/>
          </p:nvSpPr>
          <p:spPr bwMode="auto">
            <a:xfrm rot="20016816">
              <a:off x="9470136" y="3387176"/>
              <a:ext cx="908897" cy="1249993"/>
            </a:xfrm>
            <a:custGeom>
              <a:avLst/>
              <a:gdLst>
                <a:gd name="T0" fmla="*/ 236 w 265"/>
                <a:gd name="T1" fmla="*/ 342 h 364"/>
                <a:gd name="T2" fmla="*/ 252 w 265"/>
                <a:gd name="T3" fmla="*/ 281 h 364"/>
                <a:gd name="T4" fmla="*/ 107 w 265"/>
                <a:gd name="T5" fmla="*/ 29 h 364"/>
                <a:gd name="T6" fmla="*/ 45 w 265"/>
                <a:gd name="T7" fmla="*/ 12 h 364"/>
                <a:gd name="T8" fmla="*/ 29 w 265"/>
                <a:gd name="T9" fmla="*/ 22 h 364"/>
                <a:gd name="T10" fmla="*/ 13 w 265"/>
                <a:gd name="T11" fmla="*/ 83 h 364"/>
                <a:gd name="T12" fmla="*/ 158 w 265"/>
                <a:gd name="T13" fmla="*/ 335 h 364"/>
                <a:gd name="T14" fmla="*/ 220 w 265"/>
                <a:gd name="T15" fmla="*/ 352 h 364"/>
                <a:gd name="T16" fmla="*/ 236 w 265"/>
                <a:gd name="T17" fmla="*/ 342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5" h="364">
                  <a:moveTo>
                    <a:pt x="236" y="342"/>
                  </a:moveTo>
                  <a:cubicBezTo>
                    <a:pt x="257" y="330"/>
                    <a:pt x="265" y="302"/>
                    <a:pt x="252" y="281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94" y="7"/>
                    <a:pt x="67" y="0"/>
                    <a:pt x="45" y="1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8" y="34"/>
                    <a:pt x="0" y="62"/>
                    <a:pt x="13" y="83"/>
                  </a:cubicBezTo>
                  <a:cubicBezTo>
                    <a:pt x="158" y="335"/>
                    <a:pt x="158" y="335"/>
                    <a:pt x="158" y="335"/>
                  </a:cubicBezTo>
                  <a:cubicBezTo>
                    <a:pt x="171" y="357"/>
                    <a:pt x="198" y="364"/>
                    <a:pt x="220" y="352"/>
                  </a:cubicBezTo>
                  <a:lnTo>
                    <a:pt x="236" y="342"/>
                  </a:lnTo>
                  <a:close/>
                </a:path>
              </a:pathLst>
            </a:custGeom>
            <a:solidFill>
              <a:srgbClr val="FADA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79"/>
            <p:cNvSpPr/>
            <p:nvPr/>
          </p:nvSpPr>
          <p:spPr bwMode="auto">
            <a:xfrm rot="20016816">
              <a:off x="9414518" y="3402424"/>
              <a:ext cx="904737" cy="940094"/>
            </a:xfrm>
            <a:custGeom>
              <a:avLst/>
              <a:gdLst>
                <a:gd name="T0" fmla="*/ 5 w 263"/>
                <a:gd name="T1" fmla="*/ 72 h 274"/>
                <a:gd name="T2" fmla="*/ 10 w 263"/>
                <a:gd name="T3" fmla="*/ 69 h 274"/>
                <a:gd name="T4" fmla="*/ 99 w 263"/>
                <a:gd name="T5" fmla="*/ 93 h 274"/>
                <a:gd name="T6" fmla="*/ 248 w 263"/>
                <a:gd name="T7" fmla="*/ 274 h 274"/>
                <a:gd name="T8" fmla="*/ 220 w 263"/>
                <a:gd name="T9" fmla="*/ 231 h 274"/>
                <a:gd name="T10" fmla="*/ 103 w 263"/>
                <a:gd name="T11" fmla="*/ 29 h 274"/>
                <a:gd name="T12" fmla="*/ 42 w 263"/>
                <a:gd name="T13" fmla="*/ 12 h 274"/>
                <a:gd name="T14" fmla="*/ 26 w 263"/>
                <a:gd name="T15" fmla="*/ 22 h 274"/>
                <a:gd name="T16" fmla="*/ 5 w 263"/>
                <a:gd name="T17" fmla="*/ 72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74">
                  <a:moveTo>
                    <a:pt x="5" y="72"/>
                  </a:moveTo>
                  <a:cubicBezTo>
                    <a:pt x="10" y="69"/>
                    <a:pt x="10" y="69"/>
                    <a:pt x="10" y="69"/>
                  </a:cubicBezTo>
                  <a:cubicBezTo>
                    <a:pt x="41" y="51"/>
                    <a:pt x="81" y="61"/>
                    <a:pt x="99" y="93"/>
                  </a:cubicBezTo>
                  <a:cubicBezTo>
                    <a:pt x="248" y="274"/>
                    <a:pt x="248" y="274"/>
                    <a:pt x="248" y="274"/>
                  </a:cubicBezTo>
                  <a:cubicBezTo>
                    <a:pt x="263" y="260"/>
                    <a:pt x="231" y="250"/>
                    <a:pt x="220" y="231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91" y="7"/>
                    <a:pt x="63" y="0"/>
                    <a:pt x="42" y="12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8" y="32"/>
                    <a:pt x="0" y="53"/>
                    <a:pt x="5" y="72"/>
                  </a:cubicBezTo>
                  <a:close/>
                </a:path>
              </a:pathLst>
            </a:custGeom>
            <a:solidFill>
              <a:srgbClr val="EBCF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80"/>
            <p:cNvSpPr/>
            <p:nvPr/>
          </p:nvSpPr>
          <p:spPr bwMode="auto">
            <a:xfrm rot="20016816">
              <a:off x="9378462" y="3592109"/>
              <a:ext cx="343177" cy="341096"/>
            </a:xfrm>
            <a:custGeom>
              <a:avLst/>
              <a:gdLst>
                <a:gd name="T0" fmla="*/ 77 w 100"/>
                <a:gd name="T1" fmla="*/ 82 h 99"/>
                <a:gd name="T2" fmla="*/ 90 w 100"/>
                <a:gd name="T3" fmla="*/ 34 h 99"/>
                <a:gd name="T4" fmla="*/ 84 w 100"/>
                <a:gd name="T5" fmla="*/ 23 h 99"/>
                <a:gd name="T6" fmla="*/ 36 w 100"/>
                <a:gd name="T7" fmla="*/ 10 h 99"/>
                <a:gd name="T8" fmla="*/ 23 w 100"/>
                <a:gd name="T9" fmla="*/ 17 h 99"/>
                <a:gd name="T10" fmla="*/ 10 w 100"/>
                <a:gd name="T11" fmla="*/ 65 h 99"/>
                <a:gd name="T12" fmla="*/ 17 w 100"/>
                <a:gd name="T13" fmla="*/ 77 h 99"/>
                <a:gd name="T14" fmla="*/ 65 w 100"/>
                <a:gd name="T15" fmla="*/ 90 h 99"/>
                <a:gd name="T16" fmla="*/ 77 w 100"/>
                <a:gd name="T17" fmla="*/ 8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0" h="99">
                  <a:moveTo>
                    <a:pt x="77" y="82"/>
                  </a:moveTo>
                  <a:cubicBezTo>
                    <a:pt x="94" y="73"/>
                    <a:pt x="100" y="51"/>
                    <a:pt x="90" y="34"/>
                  </a:cubicBezTo>
                  <a:cubicBezTo>
                    <a:pt x="84" y="23"/>
                    <a:pt x="84" y="23"/>
                    <a:pt x="84" y="23"/>
                  </a:cubicBezTo>
                  <a:cubicBezTo>
                    <a:pt x="74" y="6"/>
                    <a:pt x="52" y="0"/>
                    <a:pt x="36" y="10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6" y="27"/>
                    <a:pt x="0" y="48"/>
                    <a:pt x="10" y="65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26" y="94"/>
                    <a:pt x="48" y="99"/>
                    <a:pt x="65" y="90"/>
                  </a:cubicBezTo>
                  <a:lnTo>
                    <a:pt x="77" y="82"/>
                  </a:lnTo>
                  <a:close/>
                </a:path>
              </a:pathLst>
            </a:custGeom>
            <a:solidFill>
              <a:srgbClr val="F0E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81"/>
            <p:cNvSpPr/>
            <p:nvPr/>
          </p:nvSpPr>
          <p:spPr bwMode="auto">
            <a:xfrm rot="20016816">
              <a:off x="11155215" y="4025057"/>
              <a:ext cx="1154320" cy="1131441"/>
            </a:xfrm>
            <a:custGeom>
              <a:avLst/>
              <a:gdLst>
                <a:gd name="T0" fmla="*/ 555 w 555"/>
                <a:gd name="T1" fmla="*/ 337 h 544"/>
                <a:gd name="T2" fmla="*/ 195 w 555"/>
                <a:gd name="T3" fmla="*/ 544 h 544"/>
                <a:gd name="T4" fmla="*/ 0 w 555"/>
                <a:gd name="T5" fmla="*/ 207 h 544"/>
                <a:gd name="T6" fmla="*/ 360 w 555"/>
                <a:gd name="T7" fmla="*/ 0 h 544"/>
                <a:gd name="T8" fmla="*/ 555 w 555"/>
                <a:gd name="T9" fmla="*/ 337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5" h="544">
                  <a:moveTo>
                    <a:pt x="555" y="337"/>
                  </a:moveTo>
                  <a:lnTo>
                    <a:pt x="195" y="544"/>
                  </a:lnTo>
                  <a:lnTo>
                    <a:pt x="0" y="207"/>
                  </a:lnTo>
                  <a:lnTo>
                    <a:pt x="360" y="0"/>
                  </a:lnTo>
                  <a:lnTo>
                    <a:pt x="555" y="337"/>
                  </a:lnTo>
                  <a:close/>
                </a:path>
              </a:pathLst>
            </a:custGeom>
            <a:solidFill>
              <a:srgbClr val="EBCF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82"/>
            <p:cNvSpPr/>
            <p:nvPr/>
          </p:nvSpPr>
          <p:spPr bwMode="auto">
            <a:xfrm rot="20016816">
              <a:off x="10067129" y="3289737"/>
              <a:ext cx="1803234" cy="1695082"/>
            </a:xfrm>
            <a:custGeom>
              <a:avLst/>
              <a:gdLst>
                <a:gd name="T0" fmla="*/ 504 w 525"/>
                <a:gd name="T1" fmla="*/ 219 h 493"/>
                <a:gd name="T2" fmla="*/ 487 w 525"/>
                <a:gd name="T3" fmla="*/ 316 h 493"/>
                <a:gd name="T4" fmla="*/ 210 w 525"/>
                <a:gd name="T5" fmla="*/ 475 h 493"/>
                <a:gd name="T6" fmla="*/ 117 w 525"/>
                <a:gd name="T7" fmla="*/ 442 h 493"/>
                <a:gd name="T8" fmla="*/ 21 w 525"/>
                <a:gd name="T9" fmla="*/ 274 h 493"/>
                <a:gd name="T10" fmla="*/ 38 w 525"/>
                <a:gd name="T11" fmla="*/ 178 h 493"/>
                <a:gd name="T12" fmla="*/ 315 w 525"/>
                <a:gd name="T13" fmla="*/ 18 h 493"/>
                <a:gd name="T14" fmla="*/ 407 w 525"/>
                <a:gd name="T15" fmla="*/ 51 h 493"/>
                <a:gd name="T16" fmla="*/ 504 w 525"/>
                <a:gd name="T17" fmla="*/ 219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93">
                  <a:moveTo>
                    <a:pt x="504" y="219"/>
                  </a:moveTo>
                  <a:cubicBezTo>
                    <a:pt x="525" y="255"/>
                    <a:pt x="517" y="298"/>
                    <a:pt x="487" y="316"/>
                  </a:cubicBezTo>
                  <a:cubicBezTo>
                    <a:pt x="210" y="475"/>
                    <a:pt x="210" y="475"/>
                    <a:pt x="210" y="475"/>
                  </a:cubicBezTo>
                  <a:cubicBezTo>
                    <a:pt x="180" y="493"/>
                    <a:pt x="138" y="478"/>
                    <a:pt x="117" y="442"/>
                  </a:cubicBezTo>
                  <a:cubicBezTo>
                    <a:pt x="21" y="274"/>
                    <a:pt x="21" y="274"/>
                    <a:pt x="21" y="274"/>
                  </a:cubicBezTo>
                  <a:cubicBezTo>
                    <a:pt x="0" y="238"/>
                    <a:pt x="8" y="195"/>
                    <a:pt x="38" y="178"/>
                  </a:cubicBezTo>
                  <a:cubicBezTo>
                    <a:pt x="315" y="18"/>
                    <a:pt x="315" y="18"/>
                    <a:pt x="315" y="18"/>
                  </a:cubicBezTo>
                  <a:cubicBezTo>
                    <a:pt x="345" y="0"/>
                    <a:pt x="387" y="15"/>
                    <a:pt x="407" y="51"/>
                  </a:cubicBezTo>
                  <a:lnTo>
                    <a:pt x="504" y="219"/>
                  </a:lnTo>
                  <a:close/>
                </a:path>
              </a:pathLst>
            </a:custGeom>
            <a:solidFill>
              <a:srgbClr val="FADA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83"/>
            <p:cNvSpPr/>
            <p:nvPr/>
          </p:nvSpPr>
          <p:spPr bwMode="auto">
            <a:xfrm rot="20016816">
              <a:off x="11152956" y="4139949"/>
              <a:ext cx="1102323" cy="829862"/>
            </a:xfrm>
            <a:custGeom>
              <a:avLst/>
              <a:gdLst>
                <a:gd name="T0" fmla="*/ 530 w 530"/>
                <a:gd name="T1" fmla="*/ 139 h 399"/>
                <a:gd name="T2" fmla="*/ 81 w 530"/>
                <a:gd name="T3" fmla="*/ 399 h 399"/>
                <a:gd name="T4" fmla="*/ 0 w 530"/>
                <a:gd name="T5" fmla="*/ 260 h 399"/>
                <a:gd name="T6" fmla="*/ 451 w 530"/>
                <a:gd name="T7" fmla="*/ 0 h 399"/>
                <a:gd name="T8" fmla="*/ 530 w 530"/>
                <a:gd name="T9" fmla="*/ 139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0" h="399">
                  <a:moveTo>
                    <a:pt x="530" y="139"/>
                  </a:moveTo>
                  <a:lnTo>
                    <a:pt x="81" y="399"/>
                  </a:lnTo>
                  <a:lnTo>
                    <a:pt x="0" y="260"/>
                  </a:lnTo>
                  <a:lnTo>
                    <a:pt x="451" y="0"/>
                  </a:lnTo>
                  <a:lnTo>
                    <a:pt x="530" y="139"/>
                  </a:lnTo>
                  <a:close/>
                </a:path>
              </a:pathLst>
            </a:custGeom>
            <a:solidFill>
              <a:srgbClr val="FEFA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84"/>
            <p:cNvSpPr/>
            <p:nvPr/>
          </p:nvSpPr>
          <p:spPr bwMode="auto">
            <a:xfrm rot="20016816">
              <a:off x="11933347" y="3957008"/>
              <a:ext cx="174708" cy="384774"/>
            </a:xfrm>
            <a:custGeom>
              <a:avLst/>
              <a:gdLst>
                <a:gd name="T0" fmla="*/ 84 w 84"/>
                <a:gd name="T1" fmla="*/ 139 h 185"/>
                <a:gd name="T2" fmla="*/ 0 w 84"/>
                <a:gd name="T3" fmla="*/ 185 h 185"/>
                <a:gd name="T4" fmla="*/ 0 w 84"/>
                <a:gd name="T5" fmla="*/ 0 h 185"/>
                <a:gd name="T6" fmla="*/ 5 w 84"/>
                <a:gd name="T7" fmla="*/ 0 h 185"/>
                <a:gd name="T8" fmla="*/ 84 w 84"/>
                <a:gd name="T9" fmla="*/ 139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185">
                  <a:moveTo>
                    <a:pt x="84" y="139"/>
                  </a:moveTo>
                  <a:lnTo>
                    <a:pt x="0" y="185"/>
                  </a:lnTo>
                  <a:lnTo>
                    <a:pt x="0" y="0"/>
                  </a:lnTo>
                  <a:lnTo>
                    <a:pt x="5" y="0"/>
                  </a:lnTo>
                  <a:lnTo>
                    <a:pt x="84" y="139"/>
                  </a:lnTo>
                  <a:close/>
                </a:path>
              </a:pathLst>
            </a:custGeom>
            <a:solidFill>
              <a:srgbClr val="BFB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85"/>
            <p:cNvSpPr/>
            <p:nvPr/>
          </p:nvSpPr>
          <p:spPr bwMode="auto">
            <a:xfrm rot="20016816">
              <a:off x="11360608" y="4140760"/>
              <a:ext cx="1809473" cy="1200076"/>
            </a:xfrm>
            <a:custGeom>
              <a:avLst/>
              <a:gdLst>
                <a:gd name="T0" fmla="*/ 870 w 870"/>
                <a:gd name="T1" fmla="*/ 577 h 577"/>
                <a:gd name="T2" fmla="*/ 150 w 870"/>
                <a:gd name="T3" fmla="*/ 577 h 577"/>
                <a:gd name="T4" fmla="*/ 0 w 870"/>
                <a:gd name="T5" fmla="*/ 316 h 577"/>
                <a:gd name="T6" fmla="*/ 548 w 870"/>
                <a:gd name="T7" fmla="*/ 0 h 577"/>
                <a:gd name="T8" fmla="*/ 870 w 870"/>
                <a:gd name="T9" fmla="*/ 577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0" h="577">
                  <a:moveTo>
                    <a:pt x="870" y="577"/>
                  </a:moveTo>
                  <a:lnTo>
                    <a:pt x="150" y="577"/>
                  </a:lnTo>
                  <a:lnTo>
                    <a:pt x="0" y="316"/>
                  </a:lnTo>
                  <a:lnTo>
                    <a:pt x="548" y="0"/>
                  </a:lnTo>
                  <a:lnTo>
                    <a:pt x="870" y="577"/>
                  </a:lnTo>
                  <a:close/>
                </a:path>
              </a:pathLst>
            </a:custGeom>
            <a:solidFill>
              <a:srgbClr val="473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86"/>
            <p:cNvSpPr/>
            <p:nvPr/>
          </p:nvSpPr>
          <p:spPr bwMode="auto">
            <a:xfrm rot="20016816">
              <a:off x="12176814" y="3949423"/>
              <a:ext cx="948414" cy="1200076"/>
            </a:xfrm>
            <a:custGeom>
              <a:avLst/>
              <a:gdLst>
                <a:gd name="T0" fmla="*/ 456 w 456"/>
                <a:gd name="T1" fmla="*/ 577 h 577"/>
                <a:gd name="T2" fmla="*/ 0 w 456"/>
                <a:gd name="T3" fmla="*/ 577 h 577"/>
                <a:gd name="T4" fmla="*/ 0 w 456"/>
                <a:gd name="T5" fmla="*/ 74 h 577"/>
                <a:gd name="T6" fmla="*/ 134 w 456"/>
                <a:gd name="T7" fmla="*/ 0 h 577"/>
                <a:gd name="T8" fmla="*/ 456 w 456"/>
                <a:gd name="T9" fmla="*/ 577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6" h="577">
                  <a:moveTo>
                    <a:pt x="456" y="577"/>
                  </a:moveTo>
                  <a:lnTo>
                    <a:pt x="0" y="577"/>
                  </a:lnTo>
                  <a:lnTo>
                    <a:pt x="0" y="74"/>
                  </a:lnTo>
                  <a:lnTo>
                    <a:pt x="134" y="0"/>
                  </a:lnTo>
                  <a:lnTo>
                    <a:pt x="456" y="577"/>
                  </a:lnTo>
                  <a:close/>
                </a:path>
              </a:pathLst>
            </a:custGeom>
            <a:solidFill>
              <a:srgbClr val="352F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87"/>
            <p:cNvSpPr/>
            <p:nvPr/>
          </p:nvSpPr>
          <p:spPr bwMode="auto">
            <a:xfrm rot="20016816">
              <a:off x="11820580" y="4122959"/>
              <a:ext cx="226705" cy="222545"/>
            </a:xfrm>
            <a:custGeom>
              <a:avLst/>
              <a:gdLst>
                <a:gd name="T0" fmla="*/ 58 w 66"/>
                <a:gd name="T1" fmla="*/ 18 h 65"/>
                <a:gd name="T2" fmla="*/ 47 w 66"/>
                <a:gd name="T3" fmla="*/ 57 h 65"/>
                <a:gd name="T4" fmla="*/ 8 w 66"/>
                <a:gd name="T5" fmla="*/ 47 h 65"/>
                <a:gd name="T6" fmla="*/ 19 w 66"/>
                <a:gd name="T7" fmla="*/ 8 h 65"/>
                <a:gd name="T8" fmla="*/ 58 w 66"/>
                <a:gd name="T9" fmla="*/ 18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65">
                  <a:moveTo>
                    <a:pt x="58" y="18"/>
                  </a:moveTo>
                  <a:cubicBezTo>
                    <a:pt x="66" y="32"/>
                    <a:pt x="61" y="49"/>
                    <a:pt x="47" y="57"/>
                  </a:cubicBezTo>
                  <a:cubicBezTo>
                    <a:pt x="34" y="65"/>
                    <a:pt x="16" y="61"/>
                    <a:pt x="8" y="47"/>
                  </a:cubicBezTo>
                  <a:cubicBezTo>
                    <a:pt x="0" y="33"/>
                    <a:pt x="5" y="16"/>
                    <a:pt x="19" y="8"/>
                  </a:cubicBezTo>
                  <a:cubicBezTo>
                    <a:pt x="32" y="0"/>
                    <a:pt x="50" y="4"/>
                    <a:pt x="58" y="18"/>
                  </a:cubicBezTo>
                  <a:close/>
                </a:path>
              </a:pathLst>
            </a:custGeom>
            <a:solidFill>
              <a:srgbClr val="F9E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pic>
        <p:nvPicPr>
          <p:cNvPr id="67" name="图片 6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56445" y="3476158"/>
            <a:ext cx="644820" cy="902286"/>
          </a:xfrm>
          <a:prstGeom prst="rect">
            <a:avLst/>
          </a:prstGeom>
        </p:spPr>
      </p:pic>
      <p:sp>
        <p:nvSpPr>
          <p:cNvPr id="68" name="标题 1"/>
          <p:cNvSpPr>
            <a:spLocks noGrp="1"/>
          </p:cNvSpPr>
          <p:nvPr>
            <p:ph type="ctrTitle"/>
          </p:nvPr>
        </p:nvSpPr>
        <p:spPr>
          <a:xfrm>
            <a:off x="628759" y="4220044"/>
            <a:ext cx="4962322" cy="101320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3" name="Picture 4" descr="C:\Users\Administrator\Desktop\素材\201737-120G214051758_副本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64289" y="4581128"/>
            <a:ext cx="1944215" cy="2250907"/>
          </a:xfrm>
          <a:prstGeom prst="rect">
            <a:avLst/>
          </a:prstGeom>
          <a:noFill/>
        </p:spPr>
      </p:pic>
      <p:sp>
        <p:nvSpPr>
          <p:cNvPr id="14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164289" y="5934880"/>
            <a:ext cx="1944215" cy="878496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algn="ctr">
              <a:lnSpc>
                <a:spcPct val="70000"/>
              </a:lnSpc>
              <a:buNone/>
              <a:defRPr sz="1400" b="1"/>
            </a:lvl1pPr>
          </a:lstStyle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机器人等级考试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三级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燕归乐教育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科技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 descr="未标题-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131820" y="476250"/>
            <a:ext cx="1859280" cy="17678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 userDrawn="1"/>
        </p:nvSpPr>
        <p:spPr>
          <a:xfrm>
            <a:off x="467544" y="404664"/>
            <a:ext cx="2662064" cy="650503"/>
          </a:xfrm>
          <a:prstGeom prst="rect">
            <a:avLst/>
          </a:prstGeom>
        </p:spPr>
        <p:txBody>
          <a:bodyPr>
            <a:normAutofit fontScale="97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52BB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课前复习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E52BB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827584" y="1124744"/>
            <a:ext cx="734481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左中括号 25"/>
          <p:cNvSpPr/>
          <p:nvPr userDrawn="1"/>
        </p:nvSpPr>
        <p:spPr>
          <a:xfrm>
            <a:off x="611560" y="332656"/>
            <a:ext cx="360040" cy="792088"/>
          </a:xfrm>
          <a:prstGeom prst="leftBracket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Picture 4" descr="C:\Users\Administrator\Desktop\素材\PPT素材（www.51pptmoban.com）\1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60841" y="6108751"/>
            <a:ext cx="1619671" cy="704625"/>
          </a:xfrm>
          <a:prstGeom prst="rect">
            <a:avLst/>
          </a:prstGeom>
          <a:noFill/>
        </p:spPr>
      </p:pic>
      <p:pic>
        <p:nvPicPr>
          <p:cNvPr id="2" name="图片 1" descr="图片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9835" y="476250"/>
            <a:ext cx="1872615" cy="616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 userDrawn="1"/>
        </p:nvCxnSpPr>
        <p:spPr>
          <a:xfrm>
            <a:off x="827584" y="1124744"/>
            <a:ext cx="734481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左中括号 23"/>
          <p:cNvSpPr/>
          <p:nvPr userDrawn="1"/>
        </p:nvSpPr>
        <p:spPr>
          <a:xfrm>
            <a:off x="611560" y="332656"/>
            <a:ext cx="360040" cy="792088"/>
          </a:xfrm>
          <a:prstGeom prst="leftBracket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/>
          <p:cNvSpPr txBox="1"/>
          <p:nvPr userDrawn="1"/>
        </p:nvSpPr>
        <p:spPr>
          <a:xfrm>
            <a:off x="467544" y="404664"/>
            <a:ext cx="2662064" cy="650503"/>
          </a:xfrm>
          <a:prstGeom prst="rect">
            <a:avLst/>
          </a:prstGeom>
        </p:spPr>
        <p:txBody>
          <a:bodyPr>
            <a:normAutofit fontScale="97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52BB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课程目标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E52BB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pic>
        <p:nvPicPr>
          <p:cNvPr id="23" name="Picture 2" descr="C:\Users\Administrator\Desktop\素材\PPT素材（www.51pptmoban.com）\2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8424" y="5310236"/>
            <a:ext cx="720080" cy="1547764"/>
          </a:xfrm>
          <a:prstGeom prst="rect">
            <a:avLst/>
          </a:prstGeom>
          <a:noFill/>
        </p:spPr>
      </p:pic>
      <p:pic>
        <p:nvPicPr>
          <p:cNvPr id="2" name="图片 1" descr="图片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9835" y="476250"/>
            <a:ext cx="1872615" cy="616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0" y="6813376"/>
            <a:ext cx="9144000" cy="0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0" y="44623"/>
            <a:ext cx="9144000" cy="0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图片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92315" y="116205"/>
            <a:ext cx="1872615" cy="616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" descr="C:\Users\Administrator\Desktop\素材\PPT素材（www.51pptmoban.com）\未标题-1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44408" y="5445223"/>
            <a:ext cx="661579" cy="1412777"/>
          </a:xfrm>
          <a:prstGeom prst="rect">
            <a:avLst/>
          </a:prstGeom>
          <a:noFill/>
        </p:spPr>
      </p:pic>
      <p:cxnSp>
        <p:nvCxnSpPr>
          <p:cNvPr id="12" name="直接连接符 11"/>
          <p:cNvCxnSpPr/>
          <p:nvPr userDrawn="1"/>
        </p:nvCxnSpPr>
        <p:spPr>
          <a:xfrm>
            <a:off x="827584" y="1124744"/>
            <a:ext cx="734481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左中括号 12"/>
          <p:cNvSpPr/>
          <p:nvPr userDrawn="1"/>
        </p:nvSpPr>
        <p:spPr>
          <a:xfrm>
            <a:off x="611560" y="332656"/>
            <a:ext cx="360040" cy="792088"/>
          </a:xfrm>
          <a:prstGeom prst="leftBracket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/>
          <p:cNvSpPr txBox="1"/>
          <p:nvPr userDrawn="1"/>
        </p:nvSpPr>
        <p:spPr>
          <a:xfrm>
            <a:off x="467544" y="404664"/>
            <a:ext cx="2662064" cy="650503"/>
          </a:xfrm>
          <a:prstGeom prst="rect">
            <a:avLst/>
          </a:prstGeom>
        </p:spPr>
        <p:txBody>
          <a:bodyPr>
            <a:normAutofit fontScale="97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52BB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情景引入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E52BB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pic>
        <p:nvPicPr>
          <p:cNvPr id="2" name="图片 1" descr="图片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9835" y="476250"/>
            <a:ext cx="1872615" cy="616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C:\Users\Administrator\Desktop\素材\PPT素材（www.51pptmoban.com）\1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12360" y="5989028"/>
            <a:ext cx="1224136" cy="872085"/>
          </a:xfrm>
          <a:prstGeom prst="rect">
            <a:avLst/>
          </a:prstGeom>
          <a:noFill/>
        </p:spPr>
      </p:pic>
      <p:cxnSp>
        <p:nvCxnSpPr>
          <p:cNvPr id="11" name="直接连接符 10"/>
          <p:cNvCxnSpPr/>
          <p:nvPr userDrawn="1"/>
        </p:nvCxnSpPr>
        <p:spPr>
          <a:xfrm>
            <a:off x="827584" y="1124744"/>
            <a:ext cx="734481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左中括号 11"/>
          <p:cNvSpPr/>
          <p:nvPr userDrawn="1"/>
        </p:nvSpPr>
        <p:spPr>
          <a:xfrm>
            <a:off x="611560" y="332656"/>
            <a:ext cx="360040" cy="792088"/>
          </a:xfrm>
          <a:prstGeom prst="leftBracket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/>
          <p:cNvSpPr txBox="1"/>
          <p:nvPr userDrawn="1"/>
        </p:nvSpPr>
        <p:spPr>
          <a:xfrm>
            <a:off x="467544" y="404664"/>
            <a:ext cx="2662064" cy="650503"/>
          </a:xfrm>
          <a:prstGeom prst="rect">
            <a:avLst/>
          </a:prstGeom>
        </p:spPr>
        <p:txBody>
          <a:bodyPr>
            <a:normAutofit fontScale="97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52BB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探索建构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E52BB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pic>
        <p:nvPicPr>
          <p:cNvPr id="2" name="图片 1" descr="图片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9835" y="476250"/>
            <a:ext cx="1872615" cy="616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Administrator\Desktop\素材\PPT素材（www.51pptmoban.com）\8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0392" y="5783982"/>
            <a:ext cx="936104" cy="1101402"/>
          </a:xfrm>
          <a:prstGeom prst="rect">
            <a:avLst/>
          </a:prstGeom>
          <a:noFill/>
        </p:spPr>
      </p:pic>
      <p:cxnSp>
        <p:nvCxnSpPr>
          <p:cNvPr id="11" name="直接连接符 10"/>
          <p:cNvCxnSpPr/>
          <p:nvPr userDrawn="1"/>
        </p:nvCxnSpPr>
        <p:spPr>
          <a:xfrm>
            <a:off x="827584" y="1124744"/>
            <a:ext cx="734481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左中括号 13"/>
          <p:cNvSpPr/>
          <p:nvPr userDrawn="1"/>
        </p:nvSpPr>
        <p:spPr>
          <a:xfrm>
            <a:off x="611560" y="332656"/>
            <a:ext cx="360040" cy="792088"/>
          </a:xfrm>
          <a:prstGeom prst="leftBracket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/>
          <p:cNvSpPr txBox="1"/>
          <p:nvPr userDrawn="1"/>
        </p:nvSpPr>
        <p:spPr>
          <a:xfrm>
            <a:off x="467544" y="404664"/>
            <a:ext cx="2662064" cy="650503"/>
          </a:xfrm>
          <a:prstGeom prst="rect">
            <a:avLst/>
          </a:prstGeom>
        </p:spPr>
        <p:txBody>
          <a:bodyPr>
            <a:normAutofit fontScale="97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52BB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探索建构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E52BB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pic>
        <p:nvPicPr>
          <p:cNvPr id="2" name="图片 1" descr="图片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9835" y="476250"/>
            <a:ext cx="1872615" cy="616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Administrator\Desktop\素材\PPT素材（www.51pptmoban.com）\未标1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31451" y="5517232"/>
            <a:ext cx="805045" cy="1368152"/>
          </a:xfrm>
          <a:prstGeom prst="rect">
            <a:avLst/>
          </a:prstGeom>
          <a:noFill/>
        </p:spPr>
      </p:pic>
      <p:cxnSp>
        <p:nvCxnSpPr>
          <p:cNvPr id="11" name="直接连接符 10"/>
          <p:cNvCxnSpPr/>
          <p:nvPr userDrawn="1"/>
        </p:nvCxnSpPr>
        <p:spPr>
          <a:xfrm>
            <a:off x="827584" y="1124744"/>
            <a:ext cx="734481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左中括号 13"/>
          <p:cNvSpPr/>
          <p:nvPr userDrawn="1"/>
        </p:nvSpPr>
        <p:spPr>
          <a:xfrm>
            <a:off x="611560" y="332656"/>
            <a:ext cx="360040" cy="792088"/>
          </a:xfrm>
          <a:prstGeom prst="leftBracket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/>
          <p:cNvSpPr txBox="1"/>
          <p:nvPr userDrawn="1"/>
        </p:nvSpPr>
        <p:spPr>
          <a:xfrm>
            <a:off x="467544" y="404664"/>
            <a:ext cx="2662064" cy="650503"/>
          </a:xfrm>
          <a:prstGeom prst="rect">
            <a:avLst/>
          </a:prstGeom>
        </p:spPr>
        <p:txBody>
          <a:bodyPr>
            <a:normAutofit fontScale="97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52BB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反思改进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E52BB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pic>
        <p:nvPicPr>
          <p:cNvPr id="2" name="图片 1" descr="图片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9835" y="476250"/>
            <a:ext cx="1872615" cy="616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istrator\Desktop\素材\PPT素材（www.51pptmoban.com）\355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73713" y="5445224"/>
            <a:ext cx="518767" cy="1368152"/>
          </a:xfrm>
          <a:prstGeom prst="rect">
            <a:avLst/>
          </a:prstGeom>
          <a:noFill/>
        </p:spPr>
      </p:pic>
      <p:cxnSp>
        <p:nvCxnSpPr>
          <p:cNvPr id="13" name="直接连接符 12"/>
          <p:cNvCxnSpPr/>
          <p:nvPr userDrawn="1"/>
        </p:nvCxnSpPr>
        <p:spPr>
          <a:xfrm>
            <a:off x="827584" y="1124744"/>
            <a:ext cx="734481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左中括号 13"/>
          <p:cNvSpPr/>
          <p:nvPr userDrawn="1"/>
        </p:nvSpPr>
        <p:spPr>
          <a:xfrm>
            <a:off x="611560" y="332656"/>
            <a:ext cx="360040" cy="792088"/>
          </a:xfrm>
          <a:prstGeom prst="leftBracket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/>
          <p:cNvSpPr txBox="1"/>
          <p:nvPr userDrawn="1"/>
        </p:nvSpPr>
        <p:spPr>
          <a:xfrm>
            <a:off x="467544" y="404664"/>
            <a:ext cx="2662064" cy="650503"/>
          </a:xfrm>
          <a:prstGeom prst="rect">
            <a:avLst/>
          </a:prstGeom>
        </p:spPr>
        <p:txBody>
          <a:bodyPr>
            <a:normAutofit fontScale="97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52BB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延续创新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E52BB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pic>
        <p:nvPicPr>
          <p:cNvPr id="2" name="图片 1" descr="图片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9835" y="476250"/>
            <a:ext cx="1872615" cy="616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istrator\Desktop\素材\PPT素材（www.51pptmoban.com）\未标题-3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8384" y="5908194"/>
            <a:ext cx="1080120" cy="949806"/>
          </a:xfrm>
          <a:prstGeom prst="rect">
            <a:avLst/>
          </a:prstGeom>
          <a:noFill/>
        </p:spPr>
      </p:pic>
      <p:cxnSp>
        <p:nvCxnSpPr>
          <p:cNvPr id="13" name="直接连接符 12"/>
          <p:cNvCxnSpPr/>
          <p:nvPr userDrawn="1"/>
        </p:nvCxnSpPr>
        <p:spPr>
          <a:xfrm>
            <a:off x="827584" y="1124744"/>
            <a:ext cx="734481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左中括号 13"/>
          <p:cNvSpPr/>
          <p:nvPr userDrawn="1"/>
        </p:nvSpPr>
        <p:spPr>
          <a:xfrm>
            <a:off x="611560" y="332656"/>
            <a:ext cx="360040" cy="792088"/>
          </a:xfrm>
          <a:prstGeom prst="leftBracket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/>
          <p:cNvSpPr txBox="1"/>
          <p:nvPr userDrawn="1"/>
        </p:nvSpPr>
        <p:spPr>
          <a:xfrm>
            <a:off x="467544" y="404664"/>
            <a:ext cx="2662064" cy="650503"/>
          </a:xfrm>
          <a:prstGeom prst="rect">
            <a:avLst/>
          </a:prstGeom>
        </p:spPr>
        <p:txBody>
          <a:bodyPr>
            <a:normAutofit fontScale="97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52BB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分享评价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E52BB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pic>
        <p:nvPicPr>
          <p:cNvPr id="2" name="图片 1" descr="图片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9835" y="476250"/>
            <a:ext cx="1872615" cy="616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Administrator\Desktop\素材\PPT素材（www.51pptmoban.com）\30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63769" y="5373216"/>
            <a:ext cx="700719" cy="1484783"/>
          </a:xfrm>
          <a:prstGeom prst="rect">
            <a:avLst/>
          </a:prstGeom>
          <a:noFill/>
        </p:spPr>
      </p:pic>
      <p:cxnSp>
        <p:nvCxnSpPr>
          <p:cNvPr id="12" name="直接连接符 11"/>
          <p:cNvCxnSpPr/>
          <p:nvPr userDrawn="1"/>
        </p:nvCxnSpPr>
        <p:spPr>
          <a:xfrm>
            <a:off x="827584" y="1124744"/>
            <a:ext cx="734481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左中括号 13"/>
          <p:cNvSpPr/>
          <p:nvPr userDrawn="1"/>
        </p:nvSpPr>
        <p:spPr>
          <a:xfrm>
            <a:off x="611560" y="332656"/>
            <a:ext cx="360040" cy="792088"/>
          </a:xfrm>
          <a:prstGeom prst="leftBracket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/>
          <p:cNvSpPr txBox="1"/>
          <p:nvPr userDrawn="1"/>
        </p:nvSpPr>
        <p:spPr>
          <a:xfrm>
            <a:off x="467544" y="404664"/>
            <a:ext cx="2662064" cy="650503"/>
          </a:xfrm>
          <a:prstGeom prst="rect">
            <a:avLst/>
          </a:prstGeom>
        </p:spPr>
        <p:txBody>
          <a:bodyPr>
            <a:normAutofit fontScale="97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52BB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课后任务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E52BB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pic>
        <p:nvPicPr>
          <p:cNvPr id="2" name="图片 1" descr="图片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9835" y="476250"/>
            <a:ext cx="1872615" cy="61658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红绿灯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(17.11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所需器件：交通灯模块两个，连接线若干，主板一块，电位器模块一个，其他器件若干。（如果不采用模块，也可以采用相对应的分立原件，如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灯、按键、电阻、电位器、杜邦线等）。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默认设置下，东西向、南北向道路绿灯通行时长均为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秒，绿灯结束后黄灯闪烁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秒，黄灯结束后红灯点亮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绿灯亮或黄灯闪烁时，对向交通灯为红灯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因所模拟路口为主干道（东西向）和支路（南北向）交汇处，故需设计主干道绿灯通行时长调节装置（电位器）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(4)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装置不改变支路绿灯通行时长，仅可以增加主干道绿灯通行时长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0~5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秒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(5)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未作规定处可自行处理，无明显与事实违背即可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" name="流程图: 终止 47"/>
          <p:cNvSpPr/>
          <p:nvPr/>
        </p:nvSpPr>
        <p:spPr>
          <a:xfrm>
            <a:off x="3423026" y="940652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9" name="直接箭头连接符 48"/>
          <p:cNvCxnSpPr>
            <a:stCxn id="80" idx="2"/>
            <a:endCxn id="50" idx="0"/>
          </p:cNvCxnSpPr>
          <p:nvPr/>
        </p:nvCxnSpPr>
        <p:spPr>
          <a:xfrm>
            <a:off x="3904723" y="1728968"/>
            <a:ext cx="1" cy="193326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2667615" y="1922294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初始化引脚及串口参数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2" name="直接箭头连接符 51"/>
          <p:cNvCxnSpPr>
            <a:stCxn id="50" idx="2"/>
            <a:endCxn id="87" idx="0"/>
          </p:cNvCxnSpPr>
          <p:nvPr/>
        </p:nvCxnSpPr>
        <p:spPr>
          <a:xfrm flipH="1">
            <a:off x="3904723" y="2198161"/>
            <a:ext cx="1" cy="266396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48" idx="2"/>
            <a:endCxn id="80" idx="0"/>
          </p:cNvCxnSpPr>
          <p:nvPr/>
        </p:nvCxnSpPr>
        <p:spPr>
          <a:xfrm>
            <a:off x="3904717" y="1229005"/>
            <a:ext cx="6" cy="197506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>
          <a:xfrm>
            <a:off x="2667614" y="1426511"/>
            <a:ext cx="2474217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2" name="肘形连接符 12295"/>
          <p:cNvCxnSpPr>
            <a:stCxn id="126" idx="2"/>
          </p:cNvCxnSpPr>
          <p:nvPr/>
        </p:nvCxnSpPr>
        <p:spPr>
          <a:xfrm rot="5400000" flipH="1">
            <a:off x="2012120" y="4200705"/>
            <a:ext cx="3785168" cy="13"/>
          </a:xfrm>
          <a:prstGeom prst="bentConnector4">
            <a:avLst>
              <a:gd name="adj1" fmla="val -6039"/>
              <a:gd name="adj2" fmla="val -13541884615"/>
            </a:avLst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7" name="矩形 86"/>
          <p:cNvSpPr/>
          <p:nvPr/>
        </p:nvSpPr>
        <p:spPr>
          <a:xfrm>
            <a:off x="2543888" y="2464557"/>
            <a:ext cx="2721670" cy="513896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主路绿灯亮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红、黄灯灭；辅路红灯亮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绿、黄灯灭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8" name="直接箭头连接符 87"/>
          <p:cNvCxnSpPr>
            <a:stCxn id="87" idx="2"/>
            <a:endCxn id="89" idx="0"/>
          </p:cNvCxnSpPr>
          <p:nvPr/>
        </p:nvCxnSpPr>
        <p:spPr>
          <a:xfrm flipH="1">
            <a:off x="3904709" y="2978453"/>
            <a:ext cx="14" cy="268716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9" name="矩形 88"/>
          <p:cNvSpPr/>
          <p:nvPr/>
        </p:nvSpPr>
        <p:spPr>
          <a:xfrm>
            <a:off x="2431664" y="3247169"/>
            <a:ext cx="2946089" cy="82155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读取电位器值并从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～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1023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映射到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5000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～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10000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zh-CN" altLang="en-US" dirty="0"/>
          </a:p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设为延时时间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单位毫秒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0" name="直接箭头连接符 89"/>
          <p:cNvCxnSpPr>
            <a:stCxn id="89" idx="2"/>
            <a:endCxn id="91" idx="0"/>
          </p:cNvCxnSpPr>
          <p:nvPr/>
        </p:nvCxnSpPr>
        <p:spPr>
          <a:xfrm>
            <a:off x="3904709" y="4068719"/>
            <a:ext cx="1" cy="267622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1" name="矩形 90"/>
          <p:cNvSpPr/>
          <p:nvPr/>
        </p:nvSpPr>
        <p:spPr>
          <a:xfrm>
            <a:off x="2372864" y="4336341"/>
            <a:ext cx="3063691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主路绿灯灭黄灯闪三秒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三次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2" name="直接箭头连接符 91"/>
          <p:cNvCxnSpPr>
            <a:stCxn id="91" idx="2"/>
            <a:endCxn id="93" idx="0"/>
          </p:cNvCxnSpPr>
          <p:nvPr/>
        </p:nvCxnSpPr>
        <p:spPr>
          <a:xfrm>
            <a:off x="3904710" y="4638798"/>
            <a:ext cx="7" cy="188836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3" name="矩形 92"/>
          <p:cNvSpPr/>
          <p:nvPr/>
        </p:nvSpPr>
        <p:spPr>
          <a:xfrm>
            <a:off x="2195736" y="4827634"/>
            <a:ext cx="3417961" cy="283713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主路红灯亮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辅路绿灯亮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红灯灭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02" name="直接箭头连接符 101"/>
          <p:cNvCxnSpPr>
            <a:stCxn id="93" idx="2"/>
            <a:endCxn id="103" idx="0"/>
          </p:cNvCxnSpPr>
          <p:nvPr/>
        </p:nvCxnSpPr>
        <p:spPr>
          <a:xfrm>
            <a:off x="3904717" y="5111347"/>
            <a:ext cx="0" cy="18883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2667608" y="5300182"/>
            <a:ext cx="2474217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5000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04" name="直接箭头连接符 103"/>
          <p:cNvCxnSpPr>
            <a:stCxn id="103" idx="2"/>
            <a:endCxn id="126" idx="0"/>
          </p:cNvCxnSpPr>
          <p:nvPr/>
        </p:nvCxnSpPr>
        <p:spPr>
          <a:xfrm flipH="1">
            <a:off x="3904710" y="5602639"/>
            <a:ext cx="7" cy="18819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6" name="矩形 125"/>
          <p:cNvSpPr/>
          <p:nvPr/>
        </p:nvSpPr>
        <p:spPr>
          <a:xfrm>
            <a:off x="2372864" y="5790838"/>
            <a:ext cx="3063691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辅路绿灯灭黄灯闪三秒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三次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红绿灯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(17.11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0" grpId="0" animBg="1"/>
      <p:bldP spid="80" grpId="0" animBg="1"/>
      <p:bldP spid="87" grpId="0" animBg="1"/>
      <p:bldP spid="89" grpId="0" animBg="1"/>
      <p:bldP spid="91" grpId="0" animBg="1"/>
      <p:bldP spid="93" grpId="0" animBg="1"/>
      <p:bldP spid="103" grpId="0" animBg="1"/>
      <p:bldP spid="1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36" name="图片 13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" r="1" b="335"/>
          <a:stretch>
            <a:fillRect/>
          </a:stretch>
        </p:blipFill>
        <p:spPr>
          <a:xfrm>
            <a:off x="1979713" y="667263"/>
            <a:ext cx="5469633" cy="3452250"/>
          </a:xfrm>
          <a:prstGeom prst="rect">
            <a:avLst/>
          </a:prstGeom>
        </p:spPr>
      </p:pic>
      <p:sp>
        <p:nvSpPr>
          <p:cNvPr id="137" name="文本框 13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红绿灯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(17.11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38" name="图片 13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79713" y="4119575"/>
            <a:ext cx="2416665" cy="2609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按键和电位器控制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灯闪烁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(18.03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所需器件：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灯模块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按键模块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，电位器模块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个，连接线若干，主板一块，其他器件若干。（如果不采用模块，也可以采用相对应的分立原件，如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灯、按键、电阻、电位器、杜邦线等）。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按键模块称为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键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默认状态下，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灯处于点亮状态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键按下时，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灯处于闪烁状态；此时可以通过旋转电位器模块来实时改变闪烁频率在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100ms-800ms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之间实时变化，当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键松开时，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灯恢复点亮状态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(4)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未作规定处可自行处理，无明显与事实违背即可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按键和电位器控制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灯闪烁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(18.03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流程图: 终止 27"/>
          <p:cNvSpPr/>
          <p:nvPr/>
        </p:nvSpPr>
        <p:spPr>
          <a:xfrm>
            <a:off x="4032499" y="809069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9" name="直接箭头连接符 28"/>
          <p:cNvCxnSpPr>
            <a:stCxn id="34" idx="2"/>
            <a:endCxn id="30" idx="0"/>
          </p:cNvCxnSpPr>
          <p:nvPr/>
        </p:nvCxnSpPr>
        <p:spPr>
          <a:xfrm>
            <a:off x="4514190" y="1608633"/>
            <a:ext cx="0" cy="20875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3277081" y="1817387"/>
            <a:ext cx="2474217" cy="28599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初始化引脚状态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1" name="直接箭头连接符 30"/>
          <p:cNvCxnSpPr>
            <a:stCxn id="30" idx="2"/>
            <a:endCxn id="32" idx="0"/>
          </p:cNvCxnSpPr>
          <p:nvPr/>
        </p:nvCxnSpPr>
        <p:spPr>
          <a:xfrm>
            <a:off x="4514190" y="2103384"/>
            <a:ext cx="0" cy="209556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3277081" y="2312940"/>
            <a:ext cx="2474217" cy="28599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获取按键值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3" name="直接箭头连接符 32"/>
          <p:cNvCxnSpPr>
            <a:stCxn id="28" idx="2"/>
            <a:endCxn id="34" idx="0"/>
          </p:cNvCxnSpPr>
          <p:nvPr/>
        </p:nvCxnSpPr>
        <p:spPr>
          <a:xfrm>
            <a:off x="4514190" y="1097422"/>
            <a:ext cx="0" cy="20875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277081" y="1306176"/>
            <a:ext cx="2474218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8" name="直接箭头连接符 14"/>
          <p:cNvCxnSpPr>
            <a:stCxn id="58" idx="3"/>
            <a:endCxn id="54" idx="0"/>
          </p:cNvCxnSpPr>
          <p:nvPr/>
        </p:nvCxnSpPr>
        <p:spPr>
          <a:xfrm>
            <a:off x="6040727" y="3035113"/>
            <a:ext cx="234304" cy="188992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2" name="矩形 41"/>
          <p:cNvSpPr/>
          <p:nvPr/>
        </p:nvSpPr>
        <p:spPr>
          <a:xfrm>
            <a:off x="1829602" y="3232116"/>
            <a:ext cx="1910343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灯亮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3" name="直接箭头连接符 42"/>
          <p:cNvCxnSpPr>
            <a:stCxn id="42" idx="2"/>
            <a:endCxn id="116" idx="0"/>
          </p:cNvCxnSpPr>
          <p:nvPr/>
        </p:nvCxnSpPr>
        <p:spPr>
          <a:xfrm>
            <a:off x="2784774" y="3534573"/>
            <a:ext cx="0" cy="25446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肘形连接符 12295"/>
          <p:cNvCxnSpPr/>
          <p:nvPr/>
        </p:nvCxnSpPr>
        <p:spPr>
          <a:xfrm rot="5400000" flipH="1" flipV="1">
            <a:off x="2375870" y="4304964"/>
            <a:ext cx="4270285" cy="6352"/>
          </a:xfrm>
          <a:prstGeom prst="bentConnector4">
            <a:avLst>
              <a:gd name="adj1" fmla="val -4035"/>
              <a:gd name="adj2" fmla="val 44557210"/>
            </a:avLst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5319859" y="3224105"/>
            <a:ext cx="1910343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灯亮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5" name="直接箭头连接符 54"/>
          <p:cNvCxnSpPr>
            <a:stCxn id="116" idx="2"/>
            <a:endCxn id="56" idx="0"/>
          </p:cNvCxnSpPr>
          <p:nvPr/>
        </p:nvCxnSpPr>
        <p:spPr>
          <a:xfrm>
            <a:off x="2784774" y="4642355"/>
            <a:ext cx="0" cy="21999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1829602" y="4862354"/>
            <a:ext cx="1910343" cy="29483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灯灭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7" name="直接箭头连接符 56"/>
          <p:cNvCxnSpPr>
            <a:stCxn id="32" idx="2"/>
            <a:endCxn id="58" idx="0"/>
          </p:cNvCxnSpPr>
          <p:nvPr/>
        </p:nvCxnSpPr>
        <p:spPr>
          <a:xfrm flipH="1">
            <a:off x="4514188" y="2598937"/>
            <a:ext cx="2" cy="23026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流程图: 决策 57"/>
          <p:cNvSpPr/>
          <p:nvPr/>
        </p:nvSpPr>
        <p:spPr>
          <a:xfrm>
            <a:off x="2987649" y="2829202"/>
            <a:ext cx="3053078" cy="411821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按键值是否为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9" name="直接箭头连接符 14"/>
          <p:cNvCxnSpPr>
            <a:stCxn id="58" idx="1"/>
            <a:endCxn id="42" idx="0"/>
          </p:cNvCxnSpPr>
          <p:nvPr/>
        </p:nvCxnSpPr>
        <p:spPr>
          <a:xfrm rot="10800000" flipV="1">
            <a:off x="2784775" y="3035112"/>
            <a:ext cx="202875" cy="197003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0" name="TextBox 13"/>
          <p:cNvSpPr txBox="1"/>
          <p:nvPr/>
        </p:nvSpPr>
        <p:spPr>
          <a:xfrm>
            <a:off x="2667832" y="2708920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1" name="TextBox 14"/>
          <p:cNvSpPr txBox="1"/>
          <p:nvPr/>
        </p:nvSpPr>
        <p:spPr>
          <a:xfrm>
            <a:off x="5975893" y="2708920"/>
            <a:ext cx="27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1490726" y="3789040"/>
            <a:ext cx="2588096" cy="853315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获取电位器值并从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～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1023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映射到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～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800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设为延时时间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单位毫秒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1490726" y="5375782"/>
            <a:ext cx="2588096" cy="850474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获取电位器值并从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～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1023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映射到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～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800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设为延时时间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单位毫秒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24" name="直接箭头连接符 123"/>
          <p:cNvCxnSpPr>
            <a:stCxn id="56" idx="2"/>
            <a:endCxn id="121" idx="0"/>
          </p:cNvCxnSpPr>
          <p:nvPr/>
        </p:nvCxnSpPr>
        <p:spPr>
          <a:xfrm>
            <a:off x="2784774" y="5157192"/>
            <a:ext cx="0" cy="218590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8" name="肘形连接符 12295"/>
          <p:cNvCxnSpPr>
            <a:stCxn id="54" idx="2"/>
            <a:endCxn id="121" idx="2"/>
          </p:cNvCxnSpPr>
          <p:nvPr/>
        </p:nvCxnSpPr>
        <p:spPr>
          <a:xfrm rot="5400000">
            <a:off x="3180056" y="3131281"/>
            <a:ext cx="2699694" cy="3490257"/>
          </a:xfrm>
          <a:prstGeom prst="bentConnector3">
            <a:avLst>
              <a:gd name="adj1" fmla="val 108468"/>
            </a:avLst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2" grpId="0" animBg="1"/>
      <p:bldP spid="34" grpId="0" animBg="1"/>
      <p:bldP spid="42" grpId="0" animBg="1"/>
      <p:bldP spid="54" grpId="0" animBg="1"/>
      <p:bldP spid="56" grpId="0" animBg="1"/>
      <p:bldP spid="58" grpId="0" animBg="1"/>
      <p:bldP spid="60" grpId="0"/>
      <p:bldP spid="61" grpId="0"/>
      <p:bldP spid="116" grpId="0" animBg="1"/>
      <p:bldP spid="1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36" name="图片 13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6130" y="1772816"/>
            <a:ext cx="7283745" cy="268123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按键和电位器控制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灯闪烁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(18.03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电位器控制两个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(18.06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所需器件：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不同颜色的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灯模块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以下简称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LEDA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LEDB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灯的颜色自己选定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电位器模块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，连接线若干，主板一块，其他器件若干。（如果不采用模块，也可以采用相对应的分立原件，如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灯、按键、电阻、电位器、杜邦线等）。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通过旋转电位器的旋钮来改变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LEDA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LEDB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的亮度变化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当电位器旋钮位于一端时，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LEDA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处于最亮状态，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LEDB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处于熄灭状态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当电位器旋钮向另外一端旋转时，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LEDA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亮度逐渐降低，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LEDB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处于熄灭状态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(4)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当电位器旋钮达到中间位置时，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LEDA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LEDB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都处于熄灭状态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(5)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继续向另外一端旋转电位器，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LEDB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逐渐变亮，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LEDA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处于熄灭状态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(6)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当电位器旋钮达到另外一端时，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LEDB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达到最亮，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LEDA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处于熄灭状态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流程图: 终止 27"/>
          <p:cNvSpPr/>
          <p:nvPr/>
        </p:nvSpPr>
        <p:spPr>
          <a:xfrm>
            <a:off x="3528443" y="1080414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9" name="直接箭头连接符 28"/>
          <p:cNvCxnSpPr>
            <a:stCxn id="34" idx="2"/>
            <a:endCxn id="30" idx="0"/>
          </p:cNvCxnSpPr>
          <p:nvPr/>
        </p:nvCxnSpPr>
        <p:spPr>
          <a:xfrm>
            <a:off x="4010134" y="1879978"/>
            <a:ext cx="0" cy="20875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773025" y="2088732"/>
            <a:ext cx="2474217" cy="28599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初始化引脚状态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1" name="直接箭头连接符 30"/>
          <p:cNvCxnSpPr>
            <a:stCxn id="30" idx="2"/>
            <a:endCxn id="21" idx="0"/>
          </p:cNvCxnSpPr>
          <p:nvPr/>
        </p:nvCxnSpPr>
        <p:spPr>
          <a:xfrm>
            <a:off x="4010134" y="2374729"/>
            <a:ext cx="0" cy="20875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28" idx="2"/>
            <a:endCxn id="34" idx="0"/>
          </p:cNvCxnSpPr>
          <p:nvPr/>
        </p:nvCxnSpPr>
        <p:spPr>
          <a:xfrm>
            <a:off x="4010134" y="1368767"/>
            <a:ext cx="0" cy="20875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2773025" y="1577521"/>
            <a:ext cx="2474218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8" name="直接箭头连接符 14"/>
          <p:cNvCxnSpPr>
            <a:stCxn id="58" idx="3"/>
            <a:endCxn id="37" idx="0"/>
          </p:cNvCxnSpPr>
          <p:nvPr/>
        </p:nvCxnSpPr>
        <p:spPr>
          <a:xfrm>
            <a:off x="5536673" y="3391454"/>
            <a:ext cx="250352" cy="243748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5" name="肘形连接符 12295"/>
          <p:cNvCxnSpPr/>
          <p:nvPr/>
        </p:nvCxnSpPr>
        <p:spPr>
          <a:xfrm rot="5400000" flipH="1">
            <a:off x="2851992" y="3618841"/>
            <a:ext cx="2303019" cy="12700"/>
          </a:xfrm>
          <a:prstGeom prst="bentConnector4">
            <a:avLst>
              <a:gd name="adj1" fmla="val -6084"/>
              <a:gd name="adj2" fmla="val -24846110"/>
            </a:avLst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流程图: 决策 57"/>
          <p:cNvSpPr/>
          <p:nvPr/>
        </p:nvSpPr>
        <p:spPr>
          <a:xfrm>
            <a:off x="2483595" y="3078234"/>
            <a:ext cx="3053078" cy="626440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电位器值是否≤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511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9" name="直接箭头连接符 14"/>
          <p:cNvCxnSpPr>
            <a:stCxn id="58" idx="1"/>
            <a:endCxn id="23" idx="0"/>
          </p:cNvCxnSpPr>
          <p:nvPr/>
        </p:nvCxnSpPr>
        <p:spPr>
          <a:xfrm rot="10800000" flipV="1">
            <a:off x="2243233" y="3391454"/>
            <a:ext cx="240363" cy="243538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0" name="TextBox 13"/>
          <p:cNvSpPr txBox="1"/>
          <p:nvPr/>
        </p:nvSpPr>
        <p:spPr>
          <a:xfrm>
            <a:off x="2163778" y="3047651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1" name="TextBox 14"/>
          <p:cNvSpPr txBox="1"/>
          <p:nvPr/>
        </p:nvSpPr>
        <p:spPr>
          <a:xfrm>
            <a:off x="5471839" y="3047651"/>
            <a:ext cx="27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28" name="肘形连接符 12295"/>
          <p:cNvCxnSpPr>
            <a:stCxn id="37" idx="2"/>
            <a:endCxn id="23" idx="2"/>
          </p:cNvCxnSpPr>
          <p:nvPr/>
        </p:nvCxnSpPr>
        <p:spPr>
          <a:xfrm rot="5400000">
            <a:off x="4015129" y="2776492"/>
            <a:ext cx="12700" cy="3543793"/>
          </a:xfrm>
          <a:prstGeom prst="bentConnector3">
            <a:avLst>
              <a:gd name="adj1" fmla="val 1800000"/>
            </a:avLst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电位器控制两个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(18.06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06123" y="3634992"/>
            <a:ext cx="2474217" cy="913396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将电位器值从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511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～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映射到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～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255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设为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亮度；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亮度值为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491827" y="3635202"/>
            <a:ext cx="2590395" cy="913186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将电位器值从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512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～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1023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映射到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～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255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设为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亮度；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亮度值为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773025" y="2583483"/>
            <a:ext cx="2474217" cy="28599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读取电位器值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2" name="直接箭头连接符 21"/>
          <p:cNvCxnSpPr>
            <a:stCxn id="21" idx="2"/>
            <a:endCxn id="58" idx="0"/>
          </p:cNvCxnSpPr>
          <p:nvPr/>
        </p:nvCxnSpPr>
        <p:spPr>
          <a:xfrm>
            <a:off x="4010134" y="2869480"/>
            <a:ext cx="0" cy="20875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4" grpId="0" animBg="1"/>
      <p:bldP spid="58" grpId="0" animBg="1"/>
      <p:bldP spid="60" grpId="0"/>
      <p:bldP spid="61" grpId="0"/>
      <p:bldP spid="23" grpId="0" animBg="1"/>
      <p:bldP spid="37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36" name="图片 13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5516" y="1484784"/>
            <a:ext cx="8712967" cy="244952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电位器控制两个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(18.06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两个按键控制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(18.09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所需器件：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按键模块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以下简称按键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、按键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，连接线若干，主板一块，其他器件若干。（如果不采用模块，也可以采用相对应的分立原件，如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灯、按键、电阻、电位器、杜邦线等）。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仅当按键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按下时，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灯闪烁，闪烁时间自行确定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仅当按键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按下时，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灯为呼吸灯状态，呼吸灯亮度变化的频率自行确定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当按键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和按键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都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没有按下时，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灯常亮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(4)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其它未规定动作，可自行确定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(5)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说明：呼吸灯是指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的亮度由熄灭慢慢变化到最亮，然后由最亮变化到熄灭，依此循环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流程图: 终止 27"/>
          <p:cNvSpPr/>
          <p:nvPr/>
        </p:nvSpPr>
        <p:spPr>
          <a:xfrm>
            <a:off x="3528443" y="1080414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9" name="直接箭头连接符 28"/>
          <p:cNvCxnSpPr>
            <a:stCxn id="34" idx="2"/>
            <a:endCxn id="30" idx="0"/>
          </p:cNvCxnSpPr>
          <p:nvPr/>
        </p:nvCxnSpPr>
        <p:spPr>
          <a:xfrm>
            <a:off x="4010134" y="1879978"/>
            <a:ext cx="0" cy="20875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773025" y="2088732"/>
            <a:ext cx="2474217" cy="28599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初始化引脚状态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1" name="直接箭头连接符 30"/>
          <p:cNvCxnSpPr>
            <a:stCxn id="30" idx="2"/>
            <a:endCxn id="95" idx="0"/>
          </p:cNvCxnSpPr>
          <p:nvPr/>
        </p:nvCxnSpPr>
        <p:spPr>
          <a:xfrm>
            <a:off x="4010134" y="2374729"/>
            <a:ext cx="0" cy="223526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28" idx="2"/>
            <a:endCxn id="34" idx="0"/>
          </p:cNvCxnSpPr>
          <p:nvPr/>
        </p:nvCxnSpPr>
        <p:spPr>
          <a:xfrm>
            <a:off x="4010134" y="1368767"/>
            <a:ext cx="0" cy="20875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2773025" y="1577521"/>
            <a:ext cx="2474218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5" name="肘形连接符 12295"/>
          <p:cNvCxnSpPr>
            <a:stCxn id="123" idx="2"/>
          </p:cNvCxnSpPr>
          <p:nvPr/>
        </p:nvCxnSpPr>
        <p:spPr>
          <a:xfrm rot="5400000" flipH="1">
            <a:off x="2537013" y="3891888"/>
            <a:ext cx="2998117" cy="71180"/>
          </a:xfrm>
          <a:prstGeom prst="bentConnector4">
            <a:avLst>
              <a:gd name="adj1" fmla="val -9896"/>
              <a:gd name="adj2" fmla="val -5828887"/>
            </a:avLst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5" name="矩形 94"/>
          <p:cNvSpPr/>
          <p:nvPr/>
        </p:nvSpPr>
        <p:spPr>
          <a:xfrm>
            <a:off x="2773025" y="2598255"/>
            <a:ext cx="2474217" cy="28599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获取按键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值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28" name="肘形连接符 12295"/>
          <p:cNvCxnSpPr>
            <a:stCxn id="133" idx="2"/>
            <a:endCxn id="97" idx="2"/>
          </p:cNvCxnSpPr>
          <p:nvPr/>
        </p:nvCxnSpPr>
        <p:spPr>
          <a:xfrm rot="5400000">
            <a:off x="4192800" y="2262465"/>
            <a:ext cx="935495" cy="5388855"/>
          </a:xfrm>
          <a:prstGeom prst="bentConnector3">
            <a:avLst>
              <a:gd name="adj1" fmla="val 119237"/>
            </a:avLst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95" idx="2"/>
            <a:endCxn id="70" idx="0"/>
          </p:cNvCxnSpPr>
          <p:nvPr/>
        </p:nvCxnSpPr>
        <p:spPr>
          <a:xfrm>
            <a:off x="4010134" y="2884252"/>
            <a:ext cx="0" cy="213306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14"/>
          <p:cNvCxnSpPr>
            <a:stCxn id="70" idx="3"/>
            <a:endCxn id="75" idx="0"/>
          </p:cNvCxnSpPr>
          <p:nvPr/>
        </p:nvCxnSpPr>
        <p:spPr>
          <a:xfrm>
            <a:off x="5361663" y="3429349"/>
            <a:ext cx="379088" cy="206383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0" name="流程图: 决策 69"/>
          <p:cNvSpPr/>
          <p:nvPr/>
        </p:nvSpPr>
        <p:spPr>
          <a:xfrm>
            <a:off x="2658605" y="3097558"/>
            <a:ext cx="2703058" cy="663582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按键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值为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？按键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值为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1" name="直接箭头连接符 14"/>
          <p:cNvCxnSpPr>
            <a:stCxn id="70" idx="1"/>
            <a:endCxn id="79" idx="0"/>
          </p:cNvCxnSpPr>
          <p:nvPr/>
        </p:nvCxnSpPr>
        <p:spPr>
          <a:xfrm rot="10800000" flipV="1">
            <a:off x="1966119" y="3429349"/>
            <a:ext cx="692486" cy="212564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2" name="TextBox 13"/>
          <p:cNvSpPr txBox="1"/>
          <p:nvPr/>
        </p:nvSpPr>
        <p:spPr>
          <a:xfrm flipH="1">
            <a:off x="2267744" y="3097558"/>
            <a:ext cx="181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TextBox 14"/>
          <p:cNvSpPr txBox="1"/>
          <p:nvPr/>
        </p:nvSpPr>
        <p:spPr>
          <a:xfrm>
            <a:off x="5327898" y="3111812"/>
            <a:ext cx="27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4" name="直接箭头连接符 14"/>
          <p:cNvCxnSpPr>
            <a:stCxn id="75" idx="3"/>
            <a:endCxn id="133" idx="0"/>
          </p:cNvCxnSpPr>
          <p:nvPr/>
        </p:nvCxnSpPr>
        <p:spPr>
          <a:xfrm>
            <a:off x="7092280" y="3967523"/>
            <a:ext cx="262694" cy="235625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5" name="流程图: 决策 74"/>
          <p:cNvSpPr/>
          <p:nvPr/>
        </p:nvSpPr>
        <p:spPr>
          <a:xfrm>
            <a:off x="4389222" y="3635732"/>
            <a:ext cx="2703058" cy="663582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按键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值为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？按键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值为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6" name="直接箭头连接符 14"/>
          <p:cNvCxnSpPr>
            <a:stCxn id="75" idx="1"/>
            <a:endCxn id="120" idx="0"/>
          </p:cNvCxnSpPr>
          <p:nvPr/>
        </p:nvCxnSpPr>
        <p:spPr>
          <a:xfrm rot="10800000" flipV="1">
            <a:off x="4071662" y="3967522"/>
            <a:ext cx="317560" cy="229663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7" name="TextBox 13"/>
          <p:cNvSpPr txBox="1"/>
          <p:nvPr/>
        </p:nvSpPr>
        <p:spPr>
          <a:xfrm>
            <a:off x="4067944" y="3645024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8" name="TextBox 14"/>
          <p:cNvSpPr txBox="1"/>
          <p:nvPr/>
        </p:nvSpPr>
        <p:spPr>
          <a:xfrm>
            <a:off x="6948264" y="3645024"/>
            <a:ext cx="27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1187624" y="3641913"/>
            <a:ext cx="1556990" cy="28599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灯亮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3" name="直接箭头连接符 82"/>
          <p:cNvCxnSpPr>
            <a:stCxn id="79" idx="2"/>
            <a:endCxn id="86" idx="0"/>
          </p:cNvCxnSpPr>
          <p:nvPr/>
        </p:nvCxnSpPr>
        <p:spPr>
          <a:xfrm>
            <a:off x="1966119" y="3927910"/>
            <a:ext cx="0" cy="212913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>
            <a:off x="1187624" y="4140823"/>
            <a:ext cx="1556990" cy="28599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2" name="直接箭头连接符 91"/>
          <p:cNvCxnSpPr>
            <a:stCxn id="86" idx="2"/>
            <a:endCxn id="94" idx="0"/>
          </p:cNvCxnSpPr>
          <p:nvPr/>
        </p:nvCxnSpPr>
        <p:spPr>
          <a:xfrm>
            <a:off x="1966119" y="4426820"/>
            <a:ext cx="0" cy="212913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1187624" y="4639733"/>
            <a:ext cx="1556990" cy="28599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灯灭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6" name="直接箭头连接符 95"/>
          <p:cNvCxnSpPr>
            <a:stCxn id="94" idx="2"/>
            <a:endCxn id="97" idx="0"/>
          </p:cNvCxnSpPr>
          <p:nvPr/>
        </p:nvCxnSpPr>
        <p:spPr>
          <a:xfrm>
            <a:off x="1966119" y="4925730"/>
            <a:ext cx="0" cy="212913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7" name="矩形 96"/>
          <p:cNvSpPr/>
          <p:nvPr/>
        </p:nvSpPr>
        <p:spPr>
          <a:xfrm>
            <a:off x="1187624" y="5138643"/>
            <a:ext cx="1556990" cy="28599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3059832" y="4197186"/>
            <a:ext cx="2023659" cy="513432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255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步长为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3059832" y="4913104"/>
            <a:ext cx="2023659" cy="513432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255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步长为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24" name="直接箭头连接符 123"/>
          <p:cNvCxnSpPr>
            <a:stCxn id="120" idx="2"/>
            <a:endCxn id="123" idx="0"/>
          </p:cNvCxnSpPr>
          <p:nvPr/>
        </p:nvCxnSpPr>
        <p:spPr>
          <a:xfrm>
            <a:off x="4071662" y="4710618"/>
            <a:ext cx="0" cy="202486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3" name="矩形 132"/>
          <p:cNvSpPr/>
          <p:nvPr/>
        </p:nvSpPr>
        <p:spPr>
          <a:xfrm>
            <a:off x="6576479" y="4203148"/>
            <a:ext cx="1556990" cy="28599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灯亮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两个按键控制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(18.09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4" grpId="0" animBg="1"/>
      <p:bldP spid="95" grpId="0" animBg="1"/>
      <p:bldP spid="70" grpId="0" animBg="1"/>
      <p:bldP spid="72" grpId="0"/>
      <p:bldP spid="73" grpId="0"/>
      <p:bldP spid="75" grpId="0" animBg="1"/>
      <p:bldP spid="77" grpId="0"/>
      <p:bldP spid="78" grpId="0"/>
      <p:bldP spid="79" grpId="0" animBg="1"/>
      <p:bldP spid="86" grpId="0" animBg="1"/>
      <p:bldP spid="94" grpId="0" animBg="1"/>
      <p:bldP spid="97" grpId="0" animBg="1"/>
      <p:bldP spid="120" grpId="0" animBg="1"/>
      <p:bldP spid="123" grpId="0" animBg="1"/>
      <p:bldP spid="1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36" name="图片 13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1600" y="1081138"/>
            <a:ext cx="7565730" cy="563627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两个按键控制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(18.09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电位器控制舵机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(18.12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所需器件：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按键模块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以下简称按键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舵机模块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电位器模块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个，连接线若干，主板一块，其他器件若干。（如果不采用模块，也可以采用相对应的分立原件，如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灯、按键、电阻、电位器、杜邦线等）。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实现舵机能够在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45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度至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135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度循环转动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实现可通过旋转电位器，调整舵机循环转动的速度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实现按键控制舵机的启停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5" name="流程图: 终止 34"/>
          <p:cNvSpPr/>
          <p:nvPr/>
        </p:nvSpPr>
        <p:spPr>
          <a:xfrm>
            <a:off x="3812192" y="1052736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7" name="直接箭头连接符 36"/>
          <p:cNvCxnSpPr>
            <a:stCxn id="43" idx="2"/>
            <a:endCxn id="38" idx="0"/>
          </p:cNvCxnSpPr>
          <p:nvPr/>
        </p:nvCxnSpPr>
        <p:spPr>
          <a:xfrm>
            <a:off x="4293887" y="1929543"/>
            <a:ext cx="1" cy="27700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3056779" y="2206552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9" name="直接箭头连接符 38"/>
          <p:cNvCxnSpPr>
            <a:stCxn id="38" idx="2"/>
            <a:endCxn id="40" idx="0"/>
          </p:cNvCxnSpPr>
          <p:nvPr/>
        </p:nvCxnSpPr>
        <p:spPr>
          <a:xfrm flipH="1">
            <a:off x="4293887" y="2482419"/>
            <a:ext cx="1" cy="27658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3056778" y="2759004"/>
            <a:ext cx="2474217" cy="28599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获取按键值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2" name="直接箭头连接符 41"/>
          <p:cNvCxnSpPr>
            <a:stCxn id="35" idx="2"/>
            <a:endCxn id="43" idx="0"/>
          </p:cNvCxnSpPr>
          <p:nvPr/>
        </p:nvCxnSpPr>
        <p:spPr>
          <a:xfrm>
            <a:off x="4293883" y="1341089"/>
            <a:ext cx="4" cy="28599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3056778" y="1627086"/>
            <a:ext cx="2474217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4" name="直接箭头连接符 43"/>
          <p:cNvCxnSpPr>
            <a:stCxn id="40" idx="2"/>
            <a:endCxn id="66" idx="0"/>
          </p:cNvCxnSpPr>
          <p:nvPr/>
        </p:nvCxnSpPr>
        <p:spPr>
          <a:xfrm flipH="1">
            <a:off x="4287877" y="3045001"/>
            <a:ext cx="6010" cy="27658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肘形连接符 12295"/>
          <p:cNvCxnSpPr>
            <a:stCxn id="55" idx="2"/>
          </p:cNvCxnSpPr>
          <p:nvPr/>
        </p:nvCxnSpPr>
        <p:spPr>
          <a:xfrm rot="5400000" flipH="1" flipV="1">
            <a:off x="2080747" y="2946100"/>
            <a:ext cx="2561917" cy="1852342"/>
          </a:xfrm>
          <a:prstGeom prst="bentConnector4">
            <a:avLst>
              <a:gd name="adj1" fmla="val -8923"/>
              <a:gd name="adj2" fmla="val 182970"/>
            </a:avLst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795615" y="3859760"/>
            <a:ext cx="3279839" cy="513896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舵机转动角度从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45°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135°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步长为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1°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，获取电位器值为速度</a:t>
            </a:r>
            <a:endParaRPr lang="zh-CN" altLang="en-US" dirty="0"/>
          </a:p>
        </p:txBody>
      </p:sp>
      <p:cxnSp>
        <p:nvCxnSpPr>
          <p:cNvPr id="54" name="直接箭头连接符 53"/>
          <p:cNvCxnSpPr>
            <a:stCxn id="48" idx="2"/>
            <a:endCxn id="55" idx="0"/>
          </p:cNvCxnSpPr>
          <p:nvPr/>
        </p:nvCxnSpPr>
        <p:spPr>
          <a:xfrm>
            <a:off x="2435535" y="4373656"/>
            <a:ext cx="0" cy="26567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706594" y="4639333"/>
            <a:ext cx="3457882" cy="513896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舵机转动角度从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135°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45°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步长为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-1°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，获取电位器值为速度</a:t>
            </a:r>
            <a:endParaRPr lang="zh-CN" altLang="en-US" dirty="0"/>
          </a:p>
        </p:txBody>
      </p:sp>
      <p:sp>
        <p:nvSpPr>
          <p:cNvPr id="66" name="流程图: 决策 65"/>
          <p:cNvSpPr/>
          <p:nvPr/>
        </p:nvSpPr>
        <p:spPr>
          <a:xfrm>
            <a:off x="3046300" y="3321586"/>
            <a:ext cx="2483154" cy="513896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按键值为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7" name="直接箭头连接符 14"/>
          <p:cNvCxnSpPr>
            <a:stCxn id="66" idx="1"/>
            <a:endCxn id="48" idx="0"/>
          </p:cNvCxnSpPr>
          <p:nvPr/>
        </p:nvCxnSpPr>
        <p:spPr>
          <a:xfrm rot="10800000" flipV="1">
            <a:off x="2435536" y="3578534"/>
            <a:ext cx="610765" cy="281226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80" name="TextBox 13"/>
          <p:cNvSpPr txBox="1"/>
          <p:nvPr/>
        </p:nvSpPr>
        <p:spPr>
          <a:xfrm flipH="1">
            <a:off x="2645730" y="3275692"/>
            <a:ext cx="366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1" name="TextBox 14"/>
          <p:cNvSpPr txBox="1"/>
          <p:nvPr/>
        </p:nvSpPr>
        <p:spPr>
          <a:xfrm>
            <a:off x="5457777" y="3275692"/>
            <a:ext cx="41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2" name="直接箭头连接符 81"/>
          <p:cNvCxnSpPr>
            <a:stCxn id="66" idx="3"/>
          </p:cNvCxnSpPr>
          <p:nvPr/>
        </p:nvCxnSpPr>
        <p:spPr>
          <a:xfrm>
            <a:off x="5529454" y="3578534"/>
            <a:ext cx="291094" cy="0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电位器控制舵机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(18.12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8" grpId="0" animBg="1"/>
      <p:bldP spid="40" grpId="0" animBg="1"/>
      <p:bldP spid="43" grpId="0" animBg="1"/>
      <p:bldP spid="48" grpId="0" animBg="1"/>
      <p:bldP spid="55" grpId="0" animBg="1"/>
      <p:bldP spid="66" grpId="0" animBg="1"/>
      <p:bldP spid="80" grpId="0"/>
      <p:bldP spid="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36" name="图片 13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7112" y="1278535"/>
            <a:ext cx="5400600" cy="43009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电位器控制舵机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(18.12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电位器控制流水灯和蜂鸣器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(19.03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所需器件：电位器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个，交通灯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个，蜂鸣器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个，连接线若干，主板一块，其他器件若干。（如果不采用模块，也可以采用相对应的分立原件，如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灯、按键、电阻、电位器、杜邦线等）。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旋动电位器，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小灯依次被点亮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旋回电位器，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小灯依次被熄灭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旋转电位器时，蜂鸣器发声且声调不同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(4)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电位器处于最低端时蜂鸣器停止发声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(5)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未作规定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处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可自行处理，无明显与事实违背即可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电位器控制流水灯和蜂鸣器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(19.03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7" name="直接箭头连接符 56"/>
          <p:cNvCxnSpPr>
            <a:stCxn id="90" idx="2"/>
            <a:endCxn id="58" idx="0"/>
          </p:cNvCxnSpPr>
          <p:nvPr/>
        </p:nvCxnSpPr>
        <p:spPr>
          <a:xfrm flipH="1">
            <a:off x="2755039" y="2113391"/>
            <a:ext cx="5" cy="27700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1517930" y="2390400"/>
            <a:ext cx="2474217" cy="476669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获取电位器值并从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～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1023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映射到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～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3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2" name="流程图: 决策 61"/>
          <p:cNvSpPr/>
          <p:nvPr/>
        </p:nvSpPr>
        <p:spPr>
          <a:xfrm>
            <a:off x="1418017" y="3144078"/>
            <a:ext cx="2664809" cy="429691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映射值为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5" name="直接箭头连接符 14"/>
          <p:cNvCxnSpPr>
            <a:stCxn id="68" idx="2"/>
          </p:cNvCxnSpPr>
          <p:nvPr/>
        </p:nvCxnSpPr>
        <p:spPr>
          <a:xfrm rot="5400000" flipH="1" flipV="1">
            <a:off x="1082221" y="2350364"/>
            <a:ext cx="1832743" cy="1541379"/>
          </a:xfrm>
          <a:prstGeom prst="bentConnector4">
            <a:avLst>
              <a:gd name="adj1" fmla="val -97236"/>
              <a:gd name="adj2" fmla="val 447808"/>
            </a:avLst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551684" y="3560812"/>
            <a:ext cx="1352440" cy="476613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蜂鸣器停止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灯全灭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9" name="流程图: 决策 68"/>
          <p:cNvSpPr/>
          <p:nvPr/>
        </p:nvSpPr>
        <p:spPr>
          <a:xfrm>
            <a:off x="2966595" y="4170134"/>
            <a:ext cx="2664809" cy="496745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映射值为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2088130" y="4635025"/>
            <a:ext cx="1354945" cy="536516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红灯亮，黄、绿灯灭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流程图: 决策 72"/>
          <p:cNvSpPr/>
          <p:nvPr/>
        </p:nvSpPr>
        <p:spPr>
          <a:xfrm>
            <a:off x="4499992" y="4697428"/>
            <a:ext cx="2664809" cy="496744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映射值为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3635896" y="5135111"/>
            <a:ext cx="1354942" cy="536516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红、黄灯亮，绿灯灭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5" name="直接连接符 84"/>
          <p:cNvCxnSpPr>
            <a:endCxn id="72" idx="2"/>
          </p:cNvCxnSpPr>
          <p:nvPr/>
        </p:nvCxnSpPr>
        <p:spPr>
          <a:xfrm flipV="1">
            <a:off x="2755038" y="5171541"/>
            <a:ext cx="10565" cy="645524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流程图: 终止 87"/>
          <p:cNvSpPr/>
          <p:nvPr/>
        </p:nvSpPr>
        <p:spPr>
          <a:xfrm>
            <a:off x="2268730" y="692696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9" name="直接箭头连接符 88"/>
          <p:cNvCxnSpPr>
            <a:stCxn id="94" idx="2"/>
            <a:endCxn id="90" idx="0"/>
          </p:cNvCxnSpPr>
          <p:nvPr/>
        </p:nvCxnSpPr>
        <p:spPr>
          <a:xfrm>
            <a:off x="2755043" y="1560515"/>
            <a:ext cx="1" cy="27700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1517935" y="1837524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3" name="直接箭头连接符 92"/>
          <p:cNvCxnSpPr>
            <a:stCxn id="88" idx="2"/>
            <a:endCxn id="94" idx="0"/>
          </p:cNvCxnSpPr>
          <p:nvPr/>
        </p:nvCxnSpPr>
        <p:spPr>
          <a:xfrm>
            <a:off x="2750421" y="981049"/>
            <a:ext cx="4622" cy="27700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1517934" y="1258058"/>
            <a:ext cx="2474217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6673441" y="5141402"/>
            <a:ext cx="1354943" cy="279334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灯全亮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76" name="直接箭头连接符 175"/>
          <p:cNvCxnSpPr/>
          <p:nvPr/>
        </p:nvCxnSpPr>
        <p:spPr>
          <a:xfrm flipH="1">
            <a:off x="2750422" y="2867069"/>
            <a:ext cx="4617" cy="27700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7" name="TextBox 13"/>
          <p:cNvSpPr txBox="1"/>
          <p:nvPr/>
        </p:nvSpPr>
        <p:spPr>
          <a:xfrm>
            <a:off x="1133457" y="3047655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9" name="TextBox 13"/>
          <p:cNvSpPr txBox="1"/>
          <p:nvPr/>
        </p:nvSpPr>
        <p:spPr>
          <a:xfrm>
            <a:off x="5522715" y="4070822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0" name="TextBox 14"/>
          <p:cNvSpPr txBox="1"/>
          <p:nvPr/>
        </p:nvSpPr>
        <p:spPr>
          <a:xfrm>
            <a:off x="2637412" y="4070822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1" name="TextBox 13"/>
          <p:cNvSpPr txBox="1"/>
          <p:nvPr/>
        </p:nvSpPr>
        <p:spPr>
          <a:xfrm>
            <a:off x="7056111" y="4611887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7" name="TextBox 14"/>
          <p:cNvSpPr txBox="1"/>
          <p:nvPr/>
        </p:nvSpPr>
        <p:spPr>
          <a:xfrm>
            <a:off x="4254737" y="4608599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20" name="直接连接符 219"/>
          <p:cNvCxnSpPr>
            <a:endCxn id="146" idx="2"/>
          </p:cNvCxnSpPr>
          <p:nvPr/>
        </p:nvCxnSpPr>
        <p:spPr>
          <a:xfrm flipV="1">
            <a:off x="7350913" y="5420736"/>
            <a:ext cx="0" cy="396329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箭头连接符 238"/>
          <p:cNvCxnSpPr>
            <a:stCxn id="240" idx="2"/>
            <a:endCxn id="69" idx="0"/>
          </p:cNvCxnSpPr>
          <p:nvPr/>
        </p:nvCxnSpPr>
        <p:spPr>
          <a:xfrm>
            <a:off x="4299000" y="3893901"/>
            <a:ext cx="0" cy="276233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0" name="矩形 239"/>
          <p:cNvSpPr/>
          <p:nvPr/>
        </p:nvSpPr>
        <p:spPr>
          <a:xfrm>
            <a:off x="2479769" y="3629168"/>
            <a:ext cx="3638461" cy="264733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蜂鸣器播放，将电位器值设为频率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" name="连接符: 肘形 2"/>
          <p:cNvCxnSpPr>
            <a:stCxn id="69" idx="1"/>
            <a:endCxn id="72" idx="0"/>
          </p:cNvCxnSpPr>
          <p:nvPr/>
        </p:nvCxnSpPr>
        <p:spPr>
          <a:xfrm rot="10800000" flipV="1">
            <a:off x="2765603" y="4418507"/>
            <a:ext cx="200992" cy="216518"/>
          </a:xfrm>
          <a:prstGeom prst="bentConnector2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/>
          <p:cNvCxnSpPr>
            <a:stCxn id="73" idx="1"/>
            <a:endCxn id="76" idx="0"/>
          </p:cNvCxnSpPr>
          <p:nvPr/>
        </p:nvCxnSpPr>
        <p:spPr>
          <a:xfrm rot="10800000" flipV="1">
            <a:off x="4313368" y="4945799"/>
            <a:ext cx="186625" cy="189311"/>
          </a:xfrm>
          <a:prstGeom prst="bentConnector2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/>
          <p:cNvCxnSpPr>
            <a:stCxn id="73" idx="3"/>
            <a:endCxn id="146" idx="0"/>
          </p:cNvCxnSpPr>
          <p:nvPr/>
        </p:nvCxnSpPr>
        <p:spPr>
          <a:xfrm>
            <a:off x="7164801" y="4945800"/>
            <a:ext cx="186112" cy="195602"/>
          </a:xfrm>
          <a:prstGeom prst="bentConnector2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76" idx="2"/>
          </p:cNvCxnSpPr>
          <p:nvPr/>
        </p:nvCxnSpPr>
        <p:spPr>
          <a:xfrm>
            <a:off x="4313367" y="5671627"/>
            <a:ext cx="0" cy="14543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/>
          <p:cNvCxnSpPr>
            <a:stCxn id="69" idx="3"/>
            <a:endCxn id="73" idx="0"/>
          </p:cNvCxnSpPr>
          <p:nvPr/>
        </p:nvCxnSpPr>
        <p:spPr>
          <a:xfrm>
            <a:off x="5631404" y="4418507"/>
            <a:ext cx="200993" cy="278921"/>
          </a:xfrm>
          <a:prstGeom prst="bentConnector2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49"/>
          <p:cNvCxnSpPr>
            <a:stCxn id="62" idx="1"/>
            <a:endCxn id="68" idx="0"/>
          </p:cNvCxnSpPr>
          <p:nvPr/>
        </p:nvCxnSpPr>
        <p:spPr>
          <a:xfrm rot="10800000" flipV="1">
            <a:off x="1227905" y="3358924"/>
            <a:ext cx="190113" cy="201888"/>
          </a:xfrm>
          <a:prstGeom prst="bentConnector2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13"/>
          <p:cNvSpPr txBox="1"/>
          <p:nvPr/>
        </p:nvSpPr>
        <p:spPr>
          <a:xfrm>
            <a:off x="4006192" y="3046866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4" name="连接符: 肘形 53"/>
          <p:cNvCxnSpPr>
            <a:stCxn id="62" idx="3"/>
            <a:endCxn id="240" idx="0"/>
          </p:cNvCxnSpPr>
          <p:nvPr/>
        </p:nvCxnSpPr>
        <p:spPr>
          <a:xfrm>
            <a:off x="4082826" y="3358924"/>
            <a:ext cx="216174" cy="270244"/>
          </a:xfrm>
          <a:prstGeom prst="bentConnector2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2" grpId="0" animBg="1"/>
      <p:bldP spid="68" grpId="0" animBg="1"/>
      <p:bldP spid="69" grpId="0" animBg="1"/>
      <p:bldP spid="72" grpId="0" animBg="1"/>
      <p:bldP spid="73" grpId="0" animBg="1"/>
      <p:bldP spid="76" grpId="0" animBg="1"/>
      <p:bldP spid="88" grpId="0" animBg="1"/>
      <p:bldP spid="90" grpId="0" animBg="1"/>
      <p:bldP spid="94" grpId="0" animBg="1"/>
      <p:bldP spid="146" grpId="0" animBg="1"/>
      <p:bldP spid="177" grpId="0"/>
      <p:bldP spid="179" grpId="0"/>
      <p:bldP spid="180" grpId="0"/>
      <p:bldP spid="181" grpId="0"/>
      <p:bldP spid="187" grpId="0"/>
      <p:bldP spid="240" grpId="0" animBg="1"/>
      <p:bldP spid="5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36" name="图片 13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7624" y="684629"/>
            <a:ext cx="6904494" cy="605673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电位器控制流水灯和蜂鸣器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(19.03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按键和电位器控制流水灯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(19.06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所需器件：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按键模块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个，交通灯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个，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电位器模块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个，连接线若干，主板一块，其他器件若干。（如果不采用模块，也可以采用相对应的分立原件，如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灯、按键、电阻、电位器、杜邦线等）。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按下按钮，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小灯开始逐一被点亮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全部点亮后，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小灯依次熄灭（手不松开按键）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旋动电位器，可以修改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灯熄灭或点亮的间隔时间，手不松开按键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(4)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松开按钮，全部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小灯全熄灭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(5)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未作规定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处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可自行处理，无明显与事实违背即可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2" name="流程图: 决策 61"/>
          <p:cNvSpPr/>
          <p:nvPr/>
        </p:nvSpPr>
        <p:spPr>
          <a:xfrm>
            <a:off x="3062253" y="3084602"/>
            <a:ext cx="3035849" cy="434531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按键值是否为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" name="流程图: 终止 87"/>
          <p:cNvSpPr/>
          <p:nvPr/>
        </p:nvSpPr>
        <p:spPr>
          <a:xfrm>
            <a:off x="4098489" y="1139736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9" name="直接箭头连接符 88"/>
          <p:cNvCxnSpPr>
            <a:stCxn id="94" idx="2"/>
            <a:endCxn id="90" idx="0"/>
          </p:cNvCxnSpPr>
          <p:nvPr/>
        </p:nvCxnSpPr>
        <p:spPr>
          <a:xfrm>
            <a:off x="4580180" y="1917743"/>
            <a:ext cx="1" cy="20159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3343072" y="2119342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3" name="直接箭头连接符 92"/>
          <p:cNvCxnSpPr>
            <a:stCxn id="88" idx="2"/>
            <a:endCxn id="94" idx="0"/>
          </p:cNvCxnSpPr>
          <p:nvPr/>
        </p:nvCxnSpPr>
        <p:spPr>
          <a:xfrm>
            <a:off x="4580180" y="1428089"/>
            <a:ext cx="0" cy="18719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3343071" y="1615286"/>
            <a:ext cx="2474217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76" name="直接箭头连接符 175"/>
          <p:cNvCxnSpPr>
            <a:stCxn id="59" idx="2"/>
            <a:endCxn id="62" idx="0"/>
          </p:cNvCxnSpPr>
          <p:nvPr/>
        </p:nvCxnSpPr>
        <p:spPr>
          <a:xfrm flipH="1">
            <a:off x="4580178" y="2877420"/>
            <a:ext cx="1" cy="207182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7" name="TextBox 13"/>
          <p:cNvSpPr txBox="1"/>
          <p:nvPr/>
        </p:nvSpPr>
        <p:spPr>
          <a:xfrm>
            <a:off x="2803488" y="2950775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按键和电位器控制流水灯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(19.06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0" name="直接箭头连接符 14"/>
          <p:cNvCxnSpPr>
            <a:stCxn id="62" idx="1"/>
            <a:endCxn id="95" idx="0"/>
          </p:cNvCxnSpPr>
          <p:nvPr/>
        </p:nvCxnSpPr>
        <p:spPr>
          <a:xfrm rot="10800000" flipV="1">
            <a:off x="2900963" y="3301867"/>
            <a:ext cx="161290" cy="234627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5" name="矩形 94"/>
          <p:cNvSpPr/>
          <p:nvPr/>
        </p:nvSpPr>
        <p:spPr>
          <a:xfrm>
            <a:off x="1435625" y="3536495"/>
            <a:ext cx="2930676" cy="507784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红、黄、绿灯依次点亮，间隔时间为电位器值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7" name="直接箭头连接符 96"/>
          <p:cNvCxnSpPr>
            <a:stCxn id="95" idx="2"/>
            <a:endCxn id="98" idx="0"/>
          </p:cNvCxnSpPr>
          <p:nvPr/>
        </p:nvCxnSpPr>
        <p:spPr>
          <a:xfrm>
            <a:off x="2900963" y="4044279"/>
            <a:ext cx="1" cy="231431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8" name="矩形 97"/>
          <p:cNvSpPr/>
          <p:nvPr/>
        </p:nvSpPr>
        <p:spPr>
          <a:xfrm>
            <a:off x="1435625" y="4275710"/>
            <a:ext cx="2930677" cy="507784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红、黄、绿灯依次熄灭，间隔时间为电位器值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7" name="TextBox 14"/>
          <p:cNvSpPr txBox="1"/>
          <p:nvPr/>
        </p:nvSpPr>
        <p:spPr>
          <a:xfrm>
            <a:off x="5970092" y="2950775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5698973" y="3555240"/>
            <a:ext cx="1249291" cy="282453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灯全关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8" name="直接箭头连接符 57"/>
          <p:cNvCxnSpPr>
            <a:stCxn id="90" idx="2"/>
            <a:endCxn id="59" idx="0"/>
          </p:cNvCxnSpPr>
          <p:nvPr/>
        </p:nvCxnSpPr>
        <p:spPr>
          <a:xfrm flipH="1">
            <a:off x="4580179" y="2395209"/>
            <a:ext cx="2" cy="20634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3343070" y="2601553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获取按键值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3" name="直接箭头连接符 14"/>
          <p:cNvCxnSpPr>
            <a:stCxn id="62" idx="3"/>
            <a:endCxn id="219" idx="0"/>
          </p:cNvCxnSpPr>
          <p:nvPr/>
        </p:nvCxnSpPr>
        <p:spPr>
          <a:xfrm>
            <a:off x="6098102" y="3301868"/>
            <a:ext cx="225517" cy="253372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45" name="肘形连接符 12295"/>
          <p:cNvCxnSpPr/>
          <p:nvPr/>
        </p:nvCxnSpPr>
        <p:spPr>
          <a:xfrm rot="5400000" flipH="1">
            <a:off x="3337053" y="3698044"/>
            <a:ext cx="2478071" cy="8177"/>
          </a:xfrm>
          <a:prstGeom prst="bentConnector4">
            <a:avLst>
              <a:gd name="adj1" fmla="val -6943"/>
              <a:gd name="adj2" fmla="val -29687196"/>
            </a:avLst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肘形连接符 12295"/>
          <p:cNvCxnSpPr>
            <a:stCxn id="219" idx="2"/>
            <a:endCxn id="98" idx="2"/>
          </p:cNvCxnSpPr>
          <p:nvPr/>
        </p:nvCxnSpPr>
        <p:spPr>
          <a:xfrm rot="5400000">
            <a:off x="4139392" y="2599266"/>
            <a:ext cx="945801" cy="3422655"/>
          </a:xfrm>
          <a:prstGeom prst="bentConnector3">
            <a:avLst>
              <a:gd name="adj1" fmla="val 118190"/>
            </a:avLst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88" grpId="0" animBg="1"/>
      <p:bldP spid="90" grpId="0" animBg="1"/>
      <p:bldP spid="94" grpId="0" animBg="1"/>
      <p:bldP spid="177" grpId="0"/>
      <p:bldP spid="95" grpId="0" animBg="1"/>
      <p:bldP spid="98" grpId="0" animBg="1"/>
      <p:bldP spid="217" grpId="0"/>
      <p:bldP spid="219" grpId="0" animBg="1"/>
      <p:bldP spid="5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36" name="图片 13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7744" y="641138"/>
            <a:ext cx="3456384" cy="613358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按键和电位器控制流水灯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(19.06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71287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按键和电位器控制</a:t>
            </a:r>
            <a:r>
              <a:rPr lang="en-US" altLang="zh-CN" sz="26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6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灯和蜂鸣器</a:t>
            </a:r>
            <a:r>
              <a:rPr lang="en-US" altLang="zh-CN" sz="26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(19.09</a:t>
            </a:r>
            <a:r>
              <a:rPr lang="zh-CN" altLang="en-US" sz="26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6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6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所需器件：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按键模块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个；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电位器模块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个；蜂鸣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器模块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个；连接线若干，主板一块，其他器件若干。（如果不采用模块，也可以采用相对应的分立原件，如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灯、按键、电阻、电位器、杜邦线等）。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按下按钮，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灯亮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，蜂鸣器响。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按钮按下时，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旋动电位器，可以修改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蜂鸣器的频率。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(4)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松开按钮，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灯熄灭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，蜂鸣器停止。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(5)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未作规定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处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可自行处理，无明显与事实违背即可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2" name="流程图: 决策 61"/>
          <p:cNvSpPr/>
          <p:nvPr/>
        </p:nvSpPr>
        <p:spPr>
          <a:xfrm>
            <a:off x="3062253" y="2637562"/>
            <a:ext cx="3035849" cy="434531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按键值是否为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" name="流程图: 终止 87"/>
          <p:cNvSpPr/>
          <p:nvPr/>
        </p:nvSpPr>
        <p:spPr>
          <a:xfrm>
            <a:off x="4098489" y="692696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9" name="直接箭头连接符 88"/>
          <p:cNvCxnSpPr>
            <a:stCxn id="94" idx="2"/>
            <a:endCxn id="90" idx="0"/>
          </p:cNvCxnSpPr>
          <p:nvPr/>
        </p:nvCxnSpPr>
        <p:spPr>
          <a:xfrm>
            <a:off x="4580180" y="1470703"/>
            <a:ext cx="1" cy="20159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3343072" y="1672302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3" name="直接箭头连接符 92"/>
          <p:cNvCxnSpPr>
            <a:stCxn id="88" idx="2"/>
            <a:endCxn id="94" idx="0"/>
          </p:cNvCxnSpPr>
          <p:nvPr/>
        </p:nvCxnSpPr>
        <p:spPr>
          <a:xfrm>
            <a:off x="4580180" y="981049"/>
            <a:ext cx="0" cy="18719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3343071" y="1168246"/>
            <a:ext cx="2474217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76" name="直接箭头连接符 175"/>
          <p:cNvCxnSpPr>
            <a:stCxn id="59" idx="2"/>
            <a:endCxn id="62" idx="0"/>
          </p:cNvCxnSpPr>
          <p:nvPr/>
        </p:nvCxnSpPr>
        <p:spPr>
          <a:xfrm flipH="1">
            <a:off x="4580178" y="2430380"/>
            <a:ext cx="1" cy="207182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7" name="TextBox 13"/>
          <p:cNvSpPr txBox="1"/>
          <p:nvPr/>
        </p:nvSpPr>
        <p:spPr>
          <a:xfrm>
            <a:off x="2803488" y="2503735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0" name="直接箭头连接符 14"/>
          <p:cNvCxnSpPr>
            <a:stCxn id="62" idx="1"/>
            <a:endCxn id="95" idx="0"/>
          </p:cNvCxnSpPr>
          <p:nvPr/>
        </p:nvCxnSpPr>
        <p:spPr>
          <a:xfrm rot="10800000" flipV="1">
            <a:off x="2896875" y="2854828"/>
            <a:ext cx="165379" cy="300778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5" name="矩形 94"/>
          <p:cNvSpPr/>
          <p:nvPr/>
        </p:nvSpPr>
        <p:spPr>
          <a:xfrm>
            <a:off x="1204557" y="3155606"/>
            <a:ext cx="3384634" cy="259454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蜂鸣器响，读取电位器值为频率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7" name="直接箭头连接符 96"/>
          <p:cNvCxnSpPr>
            <a:stCxn id="95" idx="2"/>
            <a:endCxn id="98" idx="0"/>
          </p:cNvCxnSpPr>
          <p:nvPr/>
        </p:nvCxnSpPr>
        <p:spPr>
          <a:xfrm>
            <a:off x="2896874" y="3415060"/>
            <a:ext cx="0" cy="225646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8" name="矩形 97"/>
          <p:cNvSpPr/>
          <p:nvPr/>
        </p:nvSpPr>
        <p:spPr>
          <a:xfrm>
            <a:off x="2248938" y="3640706"/>
            <a:ext cx="1295872" cy="293869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灯亮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7" name="TextBox 14"/>
          <p:cNvSpPr txBox="1"/>
          <p:nvPr/>
        </p:nvSpPr>
        <p:spPr>
          <a:xfrm>
            <a:off x="5970092" y="2503735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5766145" y="3640706"/>
            <a:ext cx="1249291" cy="282453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灯熄灭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8" name="直接箭头连接符 57"/>
          <p:cNvCxnSpPr>
            <a:stCxn id="90" idx="2"/>
            <a:endCxn id="59" idx="0"/>
          </p:cNvCxnSpPr>
          <p:nvPr/>
        </p:nvCxnSpPr>
        <p:spPr>
          <a:xfrm flipH="1">
            <a:off x="4580179" y="1948169"/>
            <a:ext cx="2" cy="20634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3343070" y="2154513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获取按键值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3" name="直接箭头连接符 14"/>
          <p:cNvCxnSpPr>
            <a:stCxn id="62" idx="3"/>
            <a:endCxn id="43" idx="0"/>
          </p:cNvCxnSpPr>
          <p:nvPr/>
        </p:nvCxnSpPr>
        <p:spPr>
          <a:xfrm>
            <a:off x="6098102" y="2854828"/>
            <a:ext cx="292689" cy="304057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45" name="肘形连接符 12295"/>
          <p:cNvCxnSpPr/>
          <p:nvPr/>
        </p:nvCxnSpPr>
        <p:spPr>
          <a:xfrm rot="5400000" flipH="1">
            <a:off x="3503500" y="3073259"/>
            <a:ext cx="2129735" cy="7265"/>
          </a:xfrm>
          <a:prstGeom prst="bentConnector4">
            <a:avLst>
              <a:gd name="adj1" fmla="val -8078"/>
              <a:gd name="adj2" fmla="val -36138802"/>
            </a:avLst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肘形连接符 12295"/>
          <p:cNvCxnSpPr>
            <a:stCxn id="219" idx="2"/>
            <a:endCxn id="98" idx="2"/>
          </p:cNvCxnSpPr>
          <p:nvPr/>
        </p:nvCxnSpPr>
        <p:spPr>
          <a:xfrm rot="5400000">
            <a:off x="4638125" y="2181909"/>
            <a:ext cx="11416" cy="3493917"/>
          </a:xfrm>
          <a:prstGeom prst="bentConnector3">
            <a:avLst>
              <a:gd name="adj1" fmla="val 2102453"/>
            </a:avLst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5697479" y="3158885"/>
            <a:ext cx="1386624" cy="267591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蜂鸣器停止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4" name="直接箭头连接符 43"/>
          <p:cNvCxnSpPr>
            <a:stCxn id="43" idx="2"/>
            <a:endCxn id="219" idx="0"/>
          </p:cNvCxnSpPr>
          <p:nvPr/>
        </p:nvCxnSpPr>
        <p:spPr>
          <a:xfrm>
            <a:off x="6390791" y="3426476"/>
            <a:ext cx="0" cy="214230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179512" y="116632"/>
            <a:ext cx="71287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按键和电位器控制</a:t>
            </a:r>
            <a:r>
              <a:rPr lang="en-US" altLang="zh-CN" sz="26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6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灯和蜂鸣器</a:t>
            </a:r>
            <a:r>
              <a:rPr lang="en-US" altLang="zh-CN" sz="26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(19.09</a:t>
            </a:r>
            <a:r>
              <a:rPr lang="zh-CN" altLang="en-US" sz="26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6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6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520" y="4355757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95736" y="4498396"/>
            <a:ext cx="4752528" cy="22429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88" grpId="0" animBg="1"/>
      <p:bldP spid="90" grpId="0" animBg="1"/>
      <p:bldP spid="94" grpId="0" animBg="1"/>
      <p:bldP spid="177" grpId="0"/>
      <p:bldP spid="95" grpId="0" animBg="1"/>
      <p:bldP spid="98" grpId="0" animBg="1"/>
      <p:bldP spid="217" grpId="0"/>
      <p:bldP spid="219" grpId="0" animBg="1"/>
      <p:bldP spid="59" grpId="0" animBg="1"/>
      <p:bldP spid="43" grpId="0" animBg="1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抢答器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(19.12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595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所需器件：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按键模块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个；蜂鸣器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个，连接线若干，主板一块，其他器件若干。（如果不采用模块，也可以采用相对应的分立原件，如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灯、按键、电阻、电位器、杜邦线等）。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抢答器由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按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键和分别对应的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组成。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按下主控板的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RST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按键，抢答器开始工作，抢答前，两颗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灯均为熄灭状态。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随机等待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1-5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秒钟时间后，蜂鸣器发出时长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100ms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的提示声音后，抢答开始。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(4)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率先按下的按键所对应的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灯点亮，随之按下的按键所对应的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灯保持熄灭状态。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(5)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个按键都保持按下状态时，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灯的状态保持抢答时的状态不变。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(6)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个按键都释放时，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灯均熄灭。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(7)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再次按下主控板的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RST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按键，开始第二轮抢答。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(8)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未做规定处可自行处理，无明显与事实违背即可。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" name="流程图: 终止 87"/>
          <p:cNvSpPr/>
          <p:nvPr/>
        </p:nvSpPr>
        <p:spPr>
          <a:xfrm>
            <a:off x="3914637" y="692696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9" name="直接箭头连接符 88"/>
          <p:cNvCxnSpPr>
            <a:stCxn id="94" idx="2"/>
            <a:endCxn id="90" idx="0"/>
          </p:cNvCxnSpPr>
          <p:nvPr/>
        </p:nvCxnSpPr>
        <p:spPr>
          <a:xfrm>
            <a:off x="4396328" y="1470703"/>
            <a:ext cx="1" cy="20159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3159220" y="1672302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初始化引脚、随机数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3" name="直接箭头连接符 92"/>
          <p:cNvCxnSpPr>
            <a:stCxn id="88" idx="2"/>
            <a:endCxn id="94" idx="0"/>
          </p:cNvCxnSpPr>
          <p:nvPr/>
        </p:nvCxnSpPr>
        <p:spPr>
          <a:xfrm>
            <a:off x="4396328" y="981049"/>
            <a:ext cx="0" cy="18719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3159219" y="1168246"/>
            <a:ext cx="2474217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1040117" y="4200244"/>
            <a:ext cx="1700186" cy="275866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灯开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灯关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8" name="直接箭头连接符 57"/>
          <p:cNvCxnSpPr>
            <a:stCxn id="90" idx="2"/>
            <a:endCxn id="59" idx="0"/>
          </p:cNvCxnSpPr>
          <p:nvPr/>
        </p:nvCxnSpPr>
        <p:spPr>
          <a:xfrm flipH="1">
            <a:off x="4396327" y="1948169"/>
            <a:ext cx="2" cy="20634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3159218" y="2154513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随机延时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～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抢答器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(19.12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5" name="直接箭头连接符 24"/>
          <p:cNvCxnSpPr>
            <a:stCxn id="59" idx="2"/>
            <a:endCxn id="26" idx="0"/>
          </p:cNvCxnSpPr>
          <p:nvPr/>
        </p:nvCxnSpPr>
        <p:spPr>
          <a:xfrm>
            <a:off x="4396327" y="2430380"/>
            <a:ext cx="0" cy="206441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3159218" y="2636821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蜂鸣器响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毫秒停止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流程图: 决策 28"/>
          <p:cNvSpPr/>
          <p:nvPr/>
        </p:nvSpPr>
        <p:spPr>
          <a:xfrm>
            <a:off x="3196799" y="3134672"/>
            <a:ext cx="2399055" cy="565578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是否为真？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0" name="直接箭头连接符 29"/>
          <p:cNvCxnSpPr>
            <a:stCxn id="26" idx="2"/>
            <a:endCxn id="29" idx="0"/>
          </p:cNvCxnSpPr>
          <p:nvPr/>
        </p:nvCxnSpPr>
        <p:spPr>
          <a:xfrm>
            <a:off x="4396327" y="2912688"/>
            <a:ext cx="0" cy="22198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13"/>
          <p:cNvSpPr txBox="1"/>
          <p:nvPr/>
        </p:nvSpPr>
        <p:spPr>
          <a:xfrm>
            <a:off x="2914883" y="3106822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2" name="直接箭头连接符 14"/>
          <p:cNvCxnSpPr>
            <a:stCxn id="29" idx="1"/>
            <a:endCxn id="75" idx="0"/>
          </p:cNvCxnSpPr>
          <p:nvPr/>
        </p:nvCxnSpPr>
        <p:spPr>
          <a:xfrm rot="10800000" flipV="1">
            <a:off x="2966367" y="3417460"/>
            <a:ext cx="230433" cy="320091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3" name="TextBox 14"/>
          <p:cNvSpPr txBox="1"/>
          <p:nvPr/>
        </p:nvSpPr>
        <p:spPr>
          <a:xfrm>
            <a:off x="5457418" y="3106822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直接箭头连接符 14"/>
          <p:cNvCxnSpPr>
            <a:stCxn id="29" idx="3"/>
          </p:cNvCxnSpPr>
          <p:nvPr/>
        </p:nvCxnSpPr>
        <p:spPr>
          <a:xfrm flipH="1" flipV="1">
            <a:off x="4396949" y="2043816"/>
            <a:ext cx="1198905" cy="1373645"/>
          </a:xfrm>
          <a:prstGeom prst="bentConnector3">
            <a:avLst>
              <a:gd name="adj1" fmla="val -19067"/>
            </a:avLst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5" name="流程图: 决策 74"/>
          <p:cNvSpPr/>
          <p:nvPr/>
        </p:nvSpPr>
        <p:spPr>
          <a:xfrm>
            <a:off x="2105458" y="3737552"/>
            <a:ext cx="1721815" cy="467159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按键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值为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6" name="TextBox 13"/>
          <p:cNvSpPr txBox="1"/>
          <p:nvPr/>
        </p:nvSpPr>
        <p:spPr>
          <a:xfrm>
            <a:off x="1767717" y="3594954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7" name="直接箭头连接符 14"/>
          <p:cNvCxnSpPr>
            <a:stCxn id="75" idx="1"/>
            <a:endCxn id="219" idx="0"/>
          </p:cNvCxnSpPr>
          <p:nvPr/>
        </p:nvCxnSpPr>
        <p:spPr>
          <a:xfrm rot="10800000" flipV="1">
            <a:off x="1890210" y="3971132"/>
            <a:ext cx="215248" cy="229112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8" name="TextBox 14"/>
          <p:cNvSpPr txBox="1"/>
          <p:nvPr/>
        </p:nvSpPr>
        <p:spPr>
          <a:xfrm>
            <a:off x="3663801" y="3605196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9" name="直接箭头连接符 14"/>
          <p:cNvCxnSpPr>
            <a:stCxn id="75" idx="3"/>
            <a:endCxn id="144" idx="0"/>
          </p:cNvCxnSpPr>
          <p:nvPr/>
        </p:nvCxnSpPr>
        <p:spPr>
          <a:xfrm>
            <a:off x="3827273" y="3971132"/>
            <a:ext cx="1233350" cy="449942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6" name="直接箭头连接符 14"/>
          <p:cNvCxnSpPr>
            <a:stCxn id="219" idx="2"/>
          </p:cNvCxnSpPr>
          <p:nvPr/>
        </p:nvCxnSpPr>
        <p:spPr>
          <a:xfrm rot="5400000" flipH="1" flipV="1">
            <a:off x="1992546" y="3489874"/>
            <a:ext cx="883900" cy="1088572"/>
          </a:xfrm>
          <a:prstGeom prst="bentConnector4">
            <a:avLst>
              <a:gd name="adj1" fmla="val -11999"/>
              <a:gd name="adj2" fmla="val -82418"/>
            </a:avLst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43" name="矩形 142"/>
          <p:cNvSpPr/>
          <p:nvPr/>
        </p:nvSpPr>
        <p:spPr>
          <a:xfrm>
            <a:off x="3134374" y="4883766"/>
            <a:ext cx="1700186" cy="275866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灯关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灯开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4" name="流程图: 决策 143"/>
          <p:cNvSpPr/>
          <p:nvPr/>
        </p:nvSpPr>
        <p:spPr>
          <a:xfrm>
            <a:off x="4199715" y="4421074"/>
            <a:ext cx="1721815" cy="467159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按键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值为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7" name="TextBox 13"/>
          <p:cNvSpPr txBox="1"/>
          <p:nvPr/>
        </p:nvSpPr>
        <p:spPr>
          <a:xfrm>
            <a:off x="3861974" y="4278476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48" name="直接箭头连接符 14"/>
          <p:cNvCxnSpPr>
            <a:stCxn id="144" idx="1"/>
            <a:endCxn id="143" idx="0"/>
          </p:cNvCxnSpPr>
          <p:nvPr/>
        </p:nvCxnSpPr>
        <p:spPr>
          <a:xfrm rot="10800000" flipV="1">
            <a:off x="3984467" y="4654654"/>
            <a:ext cx="215248" cy="229112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49" name="TextBox 14"/>
          <p:cNvSpPr txBox="1"/>
          <p:nvPr/>
        </p:nvSpPr>
        <p:spPr>
          <a:xfrm>
            <a:off x="5758058" y="4288718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50" name="直接箭头连接符 14"/>
          <p:cNvCxnSpPr>
            <a:stCxn id="144" idx="3"/>
            <a:endCxn id="152" idx="0"/>
          </p:cNvCxnSpPr>
          <p:nvPr/>
        </p:nvCxnSpPr>
        <p:spPr>
          <a:xfrm>
            <a:off x="5921530" y="4654654"/>
            <a:ext cx="173040" cy="229113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1" name="直接箭头连接符 14"/>
          <p:cNvCxnSpPr>
            <a:stCxn id="143" idx="2"/>
          </p:cNvCxnSpPr>
          <p:nvPr/>
        </p:nvCxnSpPr>
        <p:spPr>
          <a:xfrm rot="5400000" flipH="1" flipV="1">
            <a:off x="4086803" y="4173396"/>
            <a:ext cx="883900" cy="1088572"/>
          </a:xfrm>
          <a:prstGeom prst="bentConnector4">
            <a:avLst>
              <a:gd name="adj1" fmla="val -11999"/>
              <a:gd name="adj2" fmla="val -82418"/>
            </a:avLst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2" name="矩形 151"/>
          <p:cNvSpPr/>
          <p:nvPr/>
        </p:nvSpPr>
        <p:spPr>
          <a:xfrm>
            <a:off x="5456900" y="4883767"/>
            <a:ext cx="1275340" cy="275866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灯全关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0" name="直接箭头连接符 14"/>
          <p:cNvCxnSpPr>
            <a:stCxn id="152" idx="2"/>
          </p:cNvCxnSpPr>
          <p:nvPr/>
        </p:nvCxnSpPr>
        <p:spPr>
          <a:xfrm rot="5400000" flipH="1">
            <a:off x="4168682" y="3233745"/>
            <a:ext cx="2153532" cy="1698244"/>
          </a:xfrm>
          <a:prstGeom prst="bentConnector4">
            <a:avLst>
              <a:gd name="adj1" fmla="val -10615"/>
              <a:gd name="adj2" fmla="val 307743"/>
            </a:avLst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90" grpId="0" animBg="1"/>
      <p:bldP spid="94" grpId="0" animBg="1"/>
      <p:bldP spid="219" grpId="0" animBg="1"/>
      <p:bldP spid="59" grpId="0" animBg="1"/>
      <p:bldP spid="26" grpId="0" animBg="1"/>
      <p:bldP spid="29" grpId="0" animBg="1"/>
      <p:bldP spid="31" grpId="0"/>
      <p:bldP spid="33" grpId="0"/>
      <p:bldP spid="75" grpId="0" animBg="1"/>
      <p:bldP spid="76" grpId="0"/>
      <p:bldP spid="78" grpId="0"/>
      <p:bldP spid="143" grpId="0" animBg="1"/>
      <p:bldP spid="144" grpId="0" animBg="1"/>
      <p:bldP spid="147" grpId="0"/>
      <p:bldP spid="149" grpId="0"/>
      <p:bldP spid="15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抢答器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(19.12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1640" y="764704"/>
            <a:ext cx="4999342" cy="59046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多变炫彩灯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(20.06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4604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所需器件：交通灯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个；电位器器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个，光敏电阻模块一个；连接线若干，主板一块，其他器件若干。（如果不采用模块，也可以采用相对应的分立原件，如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灯、按键、电阻、电位器、杜邦线等）。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多变炫彩灯由电位器模块、光敏电阻模块、交通灯模块组成；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当电位器模块旋钮处于一侧端部时，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灯均为熄灭状态；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通过旋转电位器模块，可以实现至少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种闪烁模式的切换；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(4)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每种闪烁模式，由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灯呈现不同的闪烁效果，如：依次闪烁等；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(5)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通过改变光敏电阻模块的光照强度，调节每种闪烁模式中，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灯闪烁的频率；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(6)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未做规定处可自行处理，无明显与事实违背即可。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" name="流程图: 终止 87"/>
          <p:cNvSpPr/>
          <p:nvPr/>
        </p:nvSpPr>
        <p:spPr>
          <a:xfrm>
            <a:off x="1934721" y="1161579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9" name="直接箭头连接符 88"/>
          <p:cNvCxnSpPr>
            <a:stCxn id="94" idx="2"/>
            <a:endCxn id="90" idx="0"/>
          </p:cNvCxnSpPr>
          <p:nvPr/>
        </p:nvCxnSpPr>
        <p:spPr>
          <a:xfrm>
            <a:off x="2416412" y="1939586"/>
            <a:ext cx="1" cy="20159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1179304" y="2141185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3" name="直接箭头连接符 92"/>
          <p:cNvCxnSpPr>
            <a:stCxn id="88" idx="2"/>
            <a:endCxn id="94" idx="0"/>
          </p:cNvCxnSpPr>
          <p:nvPr/>
        </p:nvCxnSpPr>
        <p:spPr>
          <a:xfrm>
            <a:off x="2416412" y="1449932"/>
            <a:ext cx="0" cy="18719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1179303" y="1637129"/>
            <a:ext cx="2474217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347840" y="3656163"/>
            <a:ext cx="1296144" cy="28515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灯全关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8" name="直接箭头连接符 57"/>
          <p:cNvCxnSpPr>
            <a:stCxn id="90" idx="2"/>
            <a:endCxn id="59" idx="0"/>
          </p:cNvCxnSpPr>
          <p:nvPr/>
        </p:nvCxnSpPr>
        <p:spPr>
          <a:xfrm flipH="1">
            <a:off x="2416411" y="2417052"/>
            <a:ext cx="2" cy="20634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1179302" y="2623396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读取电位器值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5" name="直接箭头连接符 24"/>
          <p:cNvCxnSpPr>
            <a:stCxn id="59" idx="2"/>
            <a:endCxn id="29" idx="0"/>
          </p:cNvCxnSpPr>
          <p:nvPr/>
        </p:nvCxnSpPr>
        <p:spPr>
          <a:xfrm>
            <a:off x="2416411" y="2899263"/>
            <a:ext cx="0" cy="234382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流程图: 决策 28"/>
          <p:cNvSpPr/>
          <p:nvPr/>
        </p:nvSpPr>
        <p:spPr>
          <a:xfrm>
            <a:off x="1216883" y="3133645"/>
            <a:ext cx="2399055" cy="565578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电位器值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=0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" name="TextBox 13"/>
          <p:cNvSpPr txBox="1"/>
          <p:nvPr/>
        </p:nvSpPr>
        <p:spPr>
          <a:xfrm>
            <a:off x="934967" y="3105795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2" name="直接箭头连接符 14"/>
          <p:cNvCxnSpPr>
            <a:stCxn id="29" idx="1"/>
            <a:endCxn id="219" idx="0"/>
          </p:cNvCxnSpPr>
          <p:nvPr/>
        </p:nvCxnSpPr>
        <p:spPr>
          <a:xfrm rot="10800000" flipV="1">
            <a:off x="995913" y="3416433"/>
            <a:ext cx="220971" cy="239729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3" name="TextBox 14"/>
          <p:cNvSpPr txBox="1"/>
          <p:nvPr/>
        </p:nvSpPr>
        <p:spPr>
          <a:xfrm>
            <a:off x="3477502" y="3105795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直接箭头连接符 14"/>
          <p:cNvCxnSpPr>
            <a:stCxn id="29" idx="3"/>
            <a:endCxn id="75" idx="0"/>
          </p:cNvCxnSpPr>
          <p:nvPr/>
        </p:nvCxnSpPr>
        <p:spPr>
          <a:xfrm>
            <a:off x="3615938" y="3416434"/>
            <a:ext cx="658586" cy="226145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5" name="流程图: 决策 74"/>
          <p:cNvSpPr/>
          <p:nvPr/>
        </p:nvSpPr>
        <p:spPr>
          <a:xfrm>
            <a:off x="3101218" y="3642579"/>
            <a:ext cx="2346612" cy="536458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电位器值≤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400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6" name="TextBox 13"/>
          <p:cNvSpPr txBox="1"/>
          <p:nvPr/>
        </p:nvSpPr>
        <p:spPr>
          <a:xfrm>
            <a:off x="2763476" y="3571989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7" name="直接箭头连接符 14"/>
          <p:cNvCxnSpPr>
            <a:stCxn id="75" idx="1"/>
            <a:endCxn id="49" idx="0"/>
          </p:cNvCxnSpPr>
          <p:nvPr/>
        </p:nvCxnSpPr>
        <p:spPr>
          <a:xfrm rot="10800000" flipV="1">
            <a:off x="2728362" y="3910807"/>
            <a:ext cx="372857" cy="237245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8" name="TextBox 14"/>
          <p:cNvSpPr txBox="1"/>
          <p:nvPr/>
        </p:nvSpPr>
        <p:spPr>
          <a:xfrm>
            <a:off x="5418224" y="3582231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9" name="直接箭头连接符 14"/>
          <p:cNvCxnSpPr>
            <a:stCxn id="75" idx="3"/>
            <a:endCxn id="144" idx="0"/>
          </p:cNvCxnSpPr>
          <p:nvPr/>
        </p:nvCxnSpPr>
        <p:spPr>
          <a:xfrm>
            <a:off x="5447830" y="3910808"/>
            <a:ext cx="827123" cy="415294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6" name="直接箭头连接符 14"/>
          <p:cNvCxnSpPr>
            <a:stCxn id="219" idx="2"/>
          </p:cNvCxnSpPr>
          <p:nvPr/>
        </p:nvCxnSpPr>
        <p:spPr>
          <a:xfrm rot="5400000" flipH="1" flipV="1">
            <a:off x="995841" y="2525565"/>
            <a:ext cx="1415826" cy="1415685"/>
          </a:xfrm>
          <a:prstGeom prst="bentConnector4">
            <a:avLst>
              <a:gd name="adj1" fmla="val -161960"/>
              <a:gd name="adj2" fmla="val 552967"/>
            </a:avLst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43" name="矩形 142"/>
          <p:cNvSpPr/>
          <p:nvPr/>
        </p:nvSpPr>
        <p:spPr>
          <a:xfrm>
            <a:off x="3868309" y="4887681"/>
            <a:ext cx="2094257" cy="1085124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绿、红灯与黄灯交替闪烁，读取光敏电阻值并设为闪烁间隔时间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4" name="流程图: 决策 143"/>
          <p:cNvSpPr/>
          <p:nvPr/>
        </p:nvSpPr>
        <p:spPr>
          <a:xfrm>
            <a:off x="5101647" y="4326102"/>
            <a:ext cx="2346611" cy="530592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电位器值≤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800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7" name="TextBox 13"/>
          <p:cNvSpPr txBox="1"/>
          <p:nvPr/>
        </p:nvSpPr>
        <p:spPr>
          <a:xfrm>
            <a:off x="4857733" y="4183503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48" name="直接箭头连接符 14"/>
          <p:cNvCxnSpPr>
            <a:stCxn id="144" idx="1"/>
            <a:endCxn id="143" idx="0"/>
          </p:cNvCxnSpPr>
          <p:nvPr/>
        </p:nvCxnSpPr>
        <p:spPr>
          <a:xfrm rot="10800000" flipV="1">
            <a:off x="4915439" y="4591397"/>
            <a:ext cx="186209" cy="296283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49" name="TextBox 14"/>
          <p:cNvSpPr txBox="1"/>
          <p:nvPr/>
        </p:nvSpPr>
        <p:spPr>
          <a:xfrm>
            <a:off x="7362440" y="4210769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50" name="直接箭头连接符 14"/>
          <p:cNvCxnSpPr>
            <a:stCxn id="144" idx="3"/>
            <a:endCxn id="152" idx="0"/>
          </p:cNvCxnSpPr>
          <p:nvPr/>
        </p:nvCxnSpPr>
        <p:spPr>
          <a:xfrm>
            <a:off x="7448258" y="4591398"/>
            <a:ext cx="220676" cy="306940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2" name="矩形 151"/>
          <p:cNvSpPr/>
          <p:nvPr/>
        </p:nvSpPr>
        <p:spPr>
          <a:xfrm>
            <a:off x="6661412" y="4898338"/>
            <a:ext cx="2015044" cy="1085124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绿灯与黄、红灯交替闪烁，读取光敏电阻值并设为闪烁间隔时间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715992" y="4148053"/>
            <a:ext cx="2024738" cy="1145022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绿、黄灯与红灯交替闪烁，读取光敏电阻值并设为闪烁间隔时间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12" name="直接箭头连接符 111"/>
          <p:cNvCxnSpPr>
            <a:stCxn id="49" idx="2"/>
          </p:cNvCxnSpPr>
          <p:nvPr/>
        </p:nvCxnSpPr>
        <p:spPr>
          <a:xfrm>
            <a:off x="2728361" y="5293075"/>
            <a:ext cx="0" cy="944237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>
            <a:stCxn id="143" idx="2"/>
          </p:cNvCxnSpPr>
          <p:nvPr/>
        </p:nvCxnSpPr>
        <p:spPr>
          <a:xfrm flipH="1">
            <a:off x="4915437" y="5972805"/>
            <a:ext cx="1" cy="264507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>
            <a:stCxn id="152" idx="2"/>
          </p:cNvCxnSpPr>
          <p:nvPr/>
        </p:nvCxnSpPr>
        <p:spPr>
          <a:xfrm>
            <a:off x="7668934" y="5983462"/>
            <a:ext cx="0" cy="253850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3" name="文本框 112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多变炫彩灯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(20.06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500"/>
                            </p:stCondLst>
                            <p:childTnLst>
                              <p:par>
                                <p:cTn id="1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90" grpId="0" animBg="1"/>
      <p:bldP spid="94" grpId="0" animBg="1"/>
      <p:bldP spid="219" grpId="0" animBg="1"/>
      <p:bldP spid="59" grpId="0" animBg="1"/>
      <p:bldP spid="29" grpId="0" animBg="1"/>
      <p:bldP spid="31" grpId="0"/>
      <p:bldP spid="33" grpId="0"/>
      <p:bldP spid="75" grpId="0" animBg="1"/>
      <p:bldP spid="76" grpId="0"/>
      <p:bldP spid="78" grpId="0"/>
      <p:bldP spid="143" grpId="0" animBg="1"/>
      <p:bldP spid="144" grpId="0" animBg="1"/>
      <p:bldP spid="147" grpId="0"/>
      <p:bldP spid="149" grpId="0"/>
      <p:bldP spid="152" grpId="0" animBg="1"/>
      <p:bldP spid="4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697" y="649158"/>
            <a:ext cx="3899260" cy="258718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-159" r="-159"/>
          <a:stretch>
            <a:fillRect/>
          </a:stretch>
        </p:blipFill>
        <p:spPr>
          <a:xfrm>
            <a:off x="1835697" y="3236345"/>
            <a:ext cx="3899260" cy="35050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多变炫彩灯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(20.06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警报器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(20.09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5515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所需器件：主控板、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个、电位器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、蜂鸣器模块、超声波模块等相关原件（以上模块也可使用分立电子元器件结合面包板搭建）。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a)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通过超声波模块检测距离，当物体进入警示距离内，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灯（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）和蜂鸣器分别做出反应，警示范围为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厘米；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b)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当物体在警示距离以外，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熄灭，蜂鸣器静音；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c)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当物体从外部进入到警示范围内时，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点亮，蜂鸣器静音；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d)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当物体继续靠近时，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逐渐点亮，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点亮，蜂鸣器静音；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e)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当物体距离超声波模块距离小于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厘米时，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达到最亮，此时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  LED_A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闪烁，蜂鸣器发出警示音；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f)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蜂鸣器模块警示音的频率在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300</a:t>
            </a:r>
            <a:r>
              <a:rPr lang="en-US" altLang="zh-CN" sz="2200" dirty="0"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1000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之间可以通过电位器调整；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g)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未做规定处可自行处理，无明显与事实违背即可；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h)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考生根据上述要求绘制流程图，考试结束后，将程序文件在“上传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附件”位置进行上传；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" name="流程图: 终止 87"/>
          <p:cNvSpPr/>
          <p:nvPr/>
        </p:nvSpPr>
        <p:spPr>
          <a:xfrm>
            <a:off x="3581257" y="764704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9" name="直接箭头连接符 88"/>
          <p:cNvCxnSpPr>
            <a:stCxn id="94" idx="2"/>
            <a:endCxn id="90" idx="0"/>
          </p:cNvCxnSpPr>
          <p:nvPr/>
        </p:nvCxnSpPr>
        <p:spPr>
          <a:xfrm>
            <a:off x="4062948" y="1542711"/>
            <a:ext cx="1" cy="20159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2825840" y="1744310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3" name="直接箭头连接符 92"/>
          <p:cNvCxnSpPr>
            <a:stCxn id="88" idx="2"/>
            <a:endCxn id="94" idx="0"/>
          </p:cNvCxnSpPr>
          <p:nvPr/>
        </p:nvCxnSpPr>
        <p:spPr>
          <a:xfrm>
            <a:off x="4062948" y="1053057"/>
            <a:ext cx="0" cy="18719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2825839" y="1240254"/>
            <a:ext cx="2474217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5872478" y="3831694"/>
            <a:ext cx="2298742" cy="841774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读取电位器值并映射从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0~1023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300~1000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，设为蜂鸣器频率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8" name="直接箭头连接符 57"/>
          <p:cNvCxnSpPr>
            <a:stCxn id="90" idx="2"/>
            <a:endCxn id="59" idx="0"/>
          </p:cNvCxnSpPr>
          <p:nvPr/>
        </p:nvCxnSpPr>
        <p:spPr>
          <a:xfrm flipH="1">
            <a:off x="4062947" y="2020177"/>
            <a:ext cx="2" cy="20634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2825838" y="2226521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读取超声波值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5" name="直接箭头连接符 24"/>
          <p:cNvCxnSpPr>
            <a:stCxn id="59" idx="2"/>
            <a:endCxn id="29" idx="0"/>
          </p:cNvCxnSpPr>
          <p:nvPr/>
        </p:nvCxnSpPr>
        <p:spPr>
          <a:xfrm>
            <a:off x="4062947" y="2502388"/>
            <a:ext cx="0" cy="234382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流程图: 决策 28"/>
          <p:cNvSpPr/>
          <p:nvPr/>
        </p:nvSpPr>
        <p:spPr>
          <a:xfrm>
            <a:off x="2863419" y="2736770"/>
            <a:ext cx="2399055" cy="565578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超声波值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&gt;10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" name="TextBox 13"/>
          <p:cNvSpPr txBox="1"/>
          <p:nvPr/>
        </p:nvSpPr>
        <p:spPr>
          <a:xfrm>
            <a:off x="2581503" y="2708920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2" name="直接箭头连接符 14"/>
          <p:cNvCxnSpPr>
            <a:stCxn id="29" idx="1"/>
            <a:endCxn id="152" idx="0"/>
          </p:cNvCxnSpPr>
          <p:nvPr/>
        </p:nvCxnSpPr>
        <p:spPr>
          <a:xfrm rot="10800000" flipV="1">
            <a:off x="1835107" y="3019559"/>
            <a:ext cx="1028313" cy="286636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3" name="TextBox 14"/>
          <p:cNvSpPr txBox="1"/>
          <p:nvPr/>
        </p:nvSpPr>
        <p:spPr>
          <a:xfrm>
            <a:off x="5124038" y="2708920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直接箭头连接符 14"/>
          <p:cNvCxnSpPr>
            <a:stCxn id="29" idx="3"/>
            <a:endCxn id="75" idx="0"/>
          </p:cNvCxnSpPr>
          <p:nvPr/>
        </p:nvCxnSpPr>
        <p:spPr>
          <a:xfrm>
            <a:off x="5262474" y="3019559"/>
            <a:ext cx="265715" cy="264007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5" name="流程图: 决策 74"/>
          <p:cNvSpPr/>
          <p:nvPr/>
        </p:nvSpPr>
        <p:spPr>
          <a:xfrm>
            <a:off x="4354883" y="3283566"/>
            <a:ext cx="2346612" cy="536458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超声波值≥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6" name="TextBox 13"/>
          <p:cNvSpPr txBox="1"/>
          <p:nvPr/>
        </p:nvSpPr>
        <p:spPr>
          <a:xfrm>
            <a:off x="4017141" y="3212976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7" name="直接箭头连接符 14"/>
          <p:cNvCxnSpPr>
            <a:stCxn id="75" idx="1"/>
            <a:endCxn id="143" idx="0"/>
          </p:cNvCxnSpPr>
          <p:nvPr/>
        </p:nvCxnSpPr>
        <p:spPr>
          <a:xfrm rot="10800000" flipV="1">
            <a:off x="4075545" y="3551795"/>
            <a:ext cx="279338" cy="282890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8" name="TextBox 14"/>
          <p:cNvSpPr txBox="1"/>
          <p:nvPr/>
        </p:nvSpPr>
        <p:spPr>
          <a:xfrm>
            <a:off x="6671889" y="3223218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9" name="直接箭头连接符 14"/>
          <p:cNvCxnSpPr>
            <a:stCxn id="75" idx="3"/>
            <a:endCxn id="219" idx="0"/>
          </p:cNvCxnSpPr>
          <p:nvPr/>
        </p:nvCxnSpPr>
        <p:spPr>
          <a:xfrm>
            <a:off x="6701495" y="3551795"/>
            <a:ext cx="320354" cy="279899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6" name="直接箭头连接符 14"/>
          <p:cNvCxnSpPr>
            <a:stCxn id="152" idx="2"/>
          </p:cNvCxnSpPr>
          <p:nvPr/>
        </p:nvCxnSpPr>
        <p:spPr>
          <a:xfrm rot="5400000" flipH="1" flipV="1">
            <a:off x="2091784" y="1876178"/>
            <a:ext cx="1709666" cy="2223023"/>
          </a:xfrm>
          <a:prstGeom prst="bentConnector4">
            <a:avLst>
              <a:gd name="adj1" fmla="val -108038"/>
              <a:gd name="adj2" fmla="val 289844"/>
            </a:avLst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43" name="矩形 142"/>
          <p:cNvSpPr/>
          <p:nvPr/>
        </p:nvSpPr>
        <p:spPr>
          <a:xfrm>
            <a:off x="3028416" y="3834685"/>
            <a:ext cx="2094257" cy="847909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读取超声波值并映射从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10~4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0~255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，设为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亮度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827584" y="3306195"/>
            <a:ext cx="2015044" cy="53632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、蜂鸣器全关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063176" y="4905028"/>
            <a:ext cx="2024738" cy="530592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设为高、蜂鸣器停止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17" name="直接箭头连接符 116"/>
          <p:cNvCxnSpPr>
            <a:endCxn id="54" idx="2"/>
          </p:cNvCxnSpPr>
          <p:nvPr/>
        </p:nvCxnSpPr>
        <p:spPr>
          <a:xfrm flipH="1" flipV="1">
            <a:off x="7021849" y="5435620"/>
            <a:ext cx="1" cy="243086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>
            <a:stCxn id="49" idx="2"/>
          </p:cNvCxnSpPr>
          <p:nvPr/>
        </p:nvCxnSpPr>
        <p:spPr>
          <a:xfrm flipH="1">
            <a:off x="4066764" y="5435620"/>
            <a:ext cx="8781" cy="261868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警报器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(20.09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6" name="直接箭头连接符 45"/>
          <p:cNvCxnSpPr>
            <a:stCxn id="143" idx="2"/>
            <a:endCxn id="49" idx="0"/>
          </p:cNvCxnSpPr>
          <p:nvPr/>
        </p:nvCxnSpPr>
        <p:spPr>
          <a:xfrm>
            <a:off x="4075545" y="4682594"/>
            <a:ext cx="0" cy="22243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6009480" y="4905028"/>
            <a:ext cx="2024738" cy="530592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赋值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255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闪烁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5" name="直接箭头连接符 54"/>
          <p:cNvCxnSpPr>
            <a:stCxn id="219" idx="2"/>
            <a:endCxn id="54" idx="0"/>
          </p:cNvCxnSpPr>
          <p:nvPr/>
        </p:nvCxnSpPr>
        <p:spPr>
          <a:xfrm>
            <a:off x="7021849" y="4673468"/>
            <a:ext cx="0" cy="231560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90" grpId="0" animBg="1"/>
      <p:bldP spid="94" grpId="0" animBg="1"/>
      <p:bldP spid="219" grpId="0" animBg="1"/>
      <p:bldP spid="59" grpId="0" animBg="1"/>
      <p:bldP spid="29" grpId="0" animBg="1"/>
      <p:bldP spid="31" grpId="0"/>
      <p:bldP spid="33" grpId="0"/>
      <p:bldP spid="75" grpId="0" animBg="1"/>
      <p:bldP spid="76" grpId="0"/>
      <p:bldP spid="78" grpId="0"/>
      <p:bldP spid="143" grpId="0" animBg="1"/>
      <p:bldP spid="152" grpId="0" animBg="1"/>
      <p:bldP spid="49" grpId="0" animBg="1"/>
      <p:bldP spid="5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警报器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(20.09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3802" y="1274082"/>
            <a:ext cx="8816394" cy="494035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电位器和按键控制呼吸灯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(20.12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416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所需器件：主控板、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个、电位器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、按键模块、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个等相关原件（以上模块也可使用分立电子元器件结合面包板搭建）。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a)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当按下按键后（不用松开按键），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灯开始呼吸灯效果（逐渐加亮，逐渐熄灭，依次反复）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b)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使用电位器可以调节呼吸灯速度（旋动电位器加快呼吸灯速度，反向旋动电位器减缓呼吸灯速度）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c)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松开按键，呼吸灯效果立刻停止，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灯立刻熄灭（松开按键后呼吸灯延时一段时间才停止也是可以，但将扣除一定分数）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d)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未做规定处可自行处理，无明显与事实违背即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可；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流程图: 终止 87"/>
          <p:cNvSpPr/>
          <p:nvPr/>
        </p:nvSpPr>
        <p:spPr>
          <a:xfrm>
            <a:off x="4378579" y="737767"/>
            <a:ext cx="963382" cy="213086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9" name="直接箭头连接符 88"/>
          <p:cNvCxnSpPr>
            <a:stCxn id="88" idx="2"/>
            <a:endCxn id="94" idx="0"/>
          </p:cNvCxnSpPr>
          <p:nvPr/>
        </p:nvCxnSpPr>
        <p:spPr>
          <a:xfrm>
            <a:off x="4860270" y="950853"/>
            <a:ext cx="0" cy="14695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3623162" y="1470012"/>
            <a:ext cx="2474217" cy="203859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3" name="直接箭头连接符 92"/>
          <p:cNvCxnSpPr>
            <a:stCxn id="94" idx="2"/>
            <a:endCxn id="90" idx="0"/>
          </p:cNvCxnSpPr>
          <p:nvPr/>
        </p:nvCxnSpPr>
        <p:spPr>
          <a:xfrm>
            <a:off x="4860270" y="1321316"/>
            <a:ext cx="1" cy="148696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3623161" y="1097807"/>
            <a:ext cx="2474217" cy="223509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623161" y="1855273"/>
            <a:ext cx="2474217" cy="203859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读取按键值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5" name="直接箭头连接符 24"/>
          <p:cNvCxnSpPr>
            <a:stCxn id="59" idx="2"/>
            <a:endCxn id="29" idx="0"/>
          </p:cNvCxnSpPr>
          <p:nvPr/>
        </p:nvCxnSpPr>
        <p:spPr>
          <a:xfrm>
            <a:off x="4860270" y="2059132"/>
            <a:ext cx="0" cy="16237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流程图: 决策 28"/>
          <p:cNvSpPr/>
          <p:nvPr/>
        </p:nvSpPr>
        <p:spPr>
          <a:xfrm>
            <a:off x="3660742" y="2221506"/>
            <a:ext cx="2399055" cy="417949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按键是否按下？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" name="TextBox 13"/>
          <p:cNvSpPr txBox="1"/>
          <p:nvPr/>
        </p:nvSpPr>
        <p:spPr>
          <a:xfrm>
            <a:off x="3378826" y="2157856"/>
            <a:ext cx="360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sz="1400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2" name="直接箭头连接符 14"/>
          <p:cNvCxnSpPr>
            <a:stCxn id="29" idx="1"/>
            <a:endCxn id="57" idx="0"/>
          </p:cNvCxnSpPr>
          <p:nvPr/>
        </p:nvCxnSpPr>
        <p:spPr>
          <a:xfrm rot="10800000" flipV="1">
            <a:off x="3447146" y="2430480"/>
            <a:ext cx="213597" cy="152449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3" name="TextBox 14"/>
          <p:cNvSpPr txBox="1"/>
          <p:nvPr/>
        </p:nvSpPr>
        <p:spPr>
          <a:xfrm>
            <a:off x="5921361" y="2153529"/>
            <a:ext cx="352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sz="1400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6" name="直接箭头连接符 14"/>
          <p:cNvCxnSpPr>
            <a:stCxn id="118" idx="3"/>
          </p:cNvCxnSpPr>
          <p:nvPr/>
        </p:nvCxnSpPr>
        <p:spPr>
          <a:xfrm flipH="1" flipV="1">
            <a:off x="4924474" y="1762328"/>
            <a:ext cx="2586536" cy="3178727"/>
          </a:xfrm>
          <a:prstGeom prst="bentConnector3">
            <a:avLst>
              <a:gd name="adj1" fmla="val -25944"/>
            </a:avLst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0" name="直接箭头连接符 79"/>
          <p:cNvCxnSpPr>
            <a:stCxn id="90" idx="2"/>
            <a:endCxn id="59" idx="0"/>
          </p:cNvCxnSpPr>
          <p:nvPr/>
        </p:nvCxnSpPr>
        <p:spPr>
          <a:xfrm flipH="1">
            <a:off x="4860270" y="1673871"/>
            <a:ext cx="1" cy="181402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1130127" y="4137806"/>
            <a:ext cx="2054153" cy="200652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将变量</a:t>
            </a:r>
            <a:r>
              <a:rPr lang="en-US" altLang="zh-CN" sz="140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设为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灯亮度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8" name="直接箭头连接符 14"/>
          <p:cNvCxnSpPr>
            <a:endCxn id="82" idx="0"/>
          </p:cNvCxnSpPr>
          <p:nvPr/>
        </p:nvCxnSpPr>
        <p:spPr>
          <a:xfrm rot="10800000" flipV="1">
            <a:off x="2162926" y="3211634"/>
            <a:ext cx="1330106" cy="269958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0" name="流程图: 决策 49"/>
          <p:cNvSpPr/>
          <p:nvPr/>
        </p:nvSpPr>
        <p:spPr>
          <a:xfrm>
            <a:off x="2317917" y="2960957"/>
            <a:ext cx="2258456" cy="501355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en-US" altLang="zh-CN" sz="140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是否≤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255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1" name="直接箭头连接符 14"/>
          <p:cNvCxnSpPr>
            <a:stCxn id="63" idx="2"/>
          </p:cNvCxnSpPr>
          <p:nvPr/>
        </p:nvCxnSpPr>
        <p:spPr>
          <a:xfrm rot="5400000" flipH="1" flipV="1">
            <a:off x="1559789" y="3443421"/>
            <a:ext cx="2463789" cy="1265004"/>
          </a:xfrm>
          <a:prstGeom prst="bentConnector4">
            <a:avLst>
              <a:gd name="adj1" fmla="val -3292"/>
              <a:gd name="adj2" fmla="val -107634"/>
            </a:avLst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2" name="TextBox 13"/>
          <p:cNvSpPr txBox="1"/>
          <p:nvPr/>
        </p:nvSpPr>
        <p:spPr>
          <a:xfrm>
            <a:off x="2146657" y="2958630"/>
            <a:ext cx="352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sz="1400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3" name="TextBox 14"/>
          <p:cNvSpPr txBox="1"/>
          <p:nvPr/>
        </p:nvSpPr>
        <p:spPr>
          <a:xfrm>
            <a:off x="4579949" y="2958630"/>
            <a:ext cx="352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sz="1400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2" name="直接箭头连接符 61"/>
          <p:cNvCxnSpPr>
            <a:stCxn id="82" idx="2"/>
            <a:endCxn id="47" idx="0"/>
          </p:cNvCxnSpPr>
          <p:nvPr/>
        </p:nvCxnSpPr>
        <p:spPr>
          <a:xfrm flipH="1">
            <a:off x="2157204" y="3982946"/>
            <a:ext cx="5722" cy="154860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1014874" y="5103957"/>
            <a:ext cx="2288616" cy="20386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en-US" altLang="zh-CN" sz="140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赋值为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i+5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5" name="直接箭头连接符 64"/>
          <p:cNvCxnSpPr>
            <a:stCxn id="71" idx="2"/>
            <a:endCxn id="63" idx="0"/>
          </p:cNvCxnSpPr>
          <p:nvPr/>
        </p:nvCxnSpPr>
        <p:spPr>
          <a:xfrm>
            <a:off x="2155645" y="4920495"/>
            <a:ext cx="3537" cy="183462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899592" y="4506597"/>
            <a:ext cx="2512105" cy="41389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读取电位器值并映射为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10-100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，设为延时时间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单位毫秒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2" name="流程图: 决策 81"/>
          <p:cNvSpPr/>
          <p:nvPr/>
        </p:nvSpPr>
        <p:spPr>
          <a:xfrm>
            <a:off x="1081403" y="3481592"/>
            <a:ext cx="2163046" cy="501354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按键是否没按下？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5" name="TextBox 14"/>
          <p:cNvSpPr txBox="1"/>
          <p:nvPr/>
        </p:nvSpPr>
        <p:spPr>
          <a:xfrm>
            <a:off x="3072153" y="3423720"/>
            <a:ext cx="352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sz="1400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3493032" y="3639744"/>
            <a:ext cx="1284326" cy="20386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跳出循环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02" name="直接箭头连接符 14"/>
          <p:cNvCxnSpPr>
            <a:stCxn id="50" idx="3"/>
            <a:endCxn id="66" idx="0"/>
          </p:cNvCxnSpPr>
          <p:nvPr/>
        </p:nvCxnSpPr>
        <p:spPr>
          <a:xfrm>
            <a:off x="4576373" y="3211635"/>
            <a:ext cx="2168311" cy="673145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3" name="矩形 102"/>
          <p:cNvSpPr/>
          <p:nvPr/>
        </p:nvSpPr>
        <p:spPr>
          <a:xfrm>
            <a:off x="3849883" y="5328570"/>
            <a:ext cx="2013474" cy="208114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将变量</a:t>
            </a:r>
            <a:r>
              <a:rPr lang="en-US" altLang="zh-CN" sz="140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设为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灯亮度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04" name="直接箭头连接符 14"/>
          <p:cNvCxnSpPr>
            <a:stCxn id="105" idx="1"/>
            <a:endCxn id="113" idx="0"/>
          </p:cNvCxnSpPr>
          <p:nvPr/>
        </p:nvCxnSpPr>
        <p:spPr>
          <a:xfrm rot="10800000" flipV="1">
            <a:off x="4859624" y="4544062"/>
            <a:ext cx="765808" cy="146585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5" name="流程图: 决策 104"/>
          <p:cNvSpPr/>
          <p:nvPr/>
        </p:nvSpPr>
        <p:spPr>
          <a:xfrm>
            <a:off x="5625432" y="4293385"/>
            <a:ext cx="2258456" cy="501355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en-US" altLang="zh-CN" sz="140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是否≥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06" name="直接箭头连接符 14"/>
          <p:cNvCxnSpPr>
            <a:stCxn id="110" idx="2"/>
          </p:cNvCxnSpPr>
          <p:nvPr/>
        </p:nvCxnSpPr>
        <p:spPr>
          <a:xfrm rot="5400000" flipH="1" flipV="1">
            <a:off x="4593828" y="4431299"/>
            <a:ext cx="2368026" cy="1826491"/>
          </a:xfrm>
          <a:prstGeom prst="bentConnector4">
            <a:avLst>
              <a:gd name="adj1" fmla="val -5087"/>
              <a:gd name="adj2" fmla="val -73171"/>
            </a:avLst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7" name="TextBox 13"/>
          <p:cNvSpPr txBox="1"/>
          <p:nvPr/>
        </p:nvSpPr>
        <p:spPr>
          <a:xfrm>
            <a:off x="4843355" y="4291058"/>
            <a:ext cx="352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sz="1400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8" name="TextBox 14"/>
          <p:cNvSpPr txBox="1"/>
          <p:nvPr/>
        </p:nvSpPr>
        <p:spPr>
          <a:xfrm>
            <a:off x="7838001" y="4283157"/>
            <a:ext cx="352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sz="1400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09" name="直接箭头连接符 108"/>
          <p:cNvCxnSpPr>
            <a:stCxn id="103" idx="2"/>
            <a:endCxn id="112" idx="0"/>
          </p:cNvCxnSpPr>
          <p:nvPr/>
        </p:nvCxnSpPr>
        <p:spPr>
          <a:xfrm>
            <a:off x="4856620" y="5536684"/>
            <a:ext cx="8761" cy="172803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0" name="矩形 109"/>
          <p:cNvSpPr/>
          <p:nvPr/>
        </p:nvSpPr>
        <p:spPr>
          <a:xfrm>
            <a:off x="3720288" y="6324698"/>
            <a:ext cx="2288616" cy="20386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en-US" altLang="zh-CN" sz="140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赋值为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i-5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11" name="直接箭头连接符 110"/>
          <p:cNvCxnSpPr>
            <a:stCxn id="112" idx="2"/>
            <a:endCxn id="110" idx="0"/>
          </p:cNvCxnSpPr>
          <p:nvPr/>
        </p:nvCxnSpPr>
        <p:spPr>
          <a:xfrm flipH="1">
            <a:off x="4864596" y="6137544"/>
            <a:ext cx="785" cy="18715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2" name="矩形 111"/>
          <p:cNvSpPr/>
          <p:nvPr/>
        </p:nvSpPr>
        <p:spPr>
          <a:xfrm>
            <a:off x="3614845" y="5709487"/>
            <a:ext cx="2501071" cy="4280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读取电位器值并映射为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10-100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，设为延时时间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单位毫秒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3" name="流程图: 决策 112"/>
          <p:cNvSpPr/>
          <p:nvPr/>
        </p:nvSpPr>
        <p:spPr>
          <a:xfrm>
            <a:off x="3778101" y="4690648"/>
            <a:ext cx="2163046" cy="500815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按键是否没按下？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6" name="TextBox 14"/>
          <p:cNvSpPr txBox="1"/>
          <p:nvPr/>
        </p:nvSpPr>
        <p:spPr>
          <a:xfrm>
            <a:off x="5802332" y="4670903"/>
            <a:ext cx="352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sz="1400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17" name="直接箭头连接符 14"/>
          <p:cNvCxnSpPr>
            <a:stCxn id="113" idx="3"/>
            <a:endCxn id="118" idx="1"/>
          </p:cNvCxnSpPr>
          <p:nvPr/>
        </p:nvCxnSpPr>
        <p:spPr>
          <a:xfrm flipV="1">
            <a:off x="5941147" y="4941055"/>
            <a:ext cx="285537" cy="1"/>
          </a:xfrm>
          <a:prstGeom prst="bentConnector3">
            <a:avLst>
              <a:gd name="adj1" fmla="val 50000"/>
            </a:avLst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18" name="矩形 117"/>
          <p:cNvSpPr/>
          <p:nvPr/>
        </p:nvSpPr>
        <p:spPr>
          <a:xfrm>
            <a:off x="6226684" y="4839125"/>
            <a:ext cx="1284326" cy="20386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跳出循环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30" name="直接箭头连接符 129"/>
          <p:cNvCxnSpPr>
            <a:stCxn id="85" idx="2"/>
            <a:endCxn id="87" idx="1"/>
          </p:cNvCxnSpPr>
          <p:nvPr/>
        </p:nvCxnSpPr>
        <p:spPr>
          <a:xfrm>
            <a:off x="3248170" y="3731497"/>
            <a:ext cx="244862" cy="1017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>
            <a:stCxn id="87" idx="3"/>
          </p:cNvCxnSpPr>
          <p:nvPr/>
        </p:nvCxnSpPr>
        <p:spPr>
          <a:xfrm flipV="1">
            <a:off x="4777358" y="3731497"/>
            <a:ext cx="1977302" cy="10177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>
            <a:stCxn id="105" idx="3"/>
          </p:cNvCxnSpPr>
          <p:nvPr/>
        </p:nvCxnSpPr>
        <p:spPr>
          <a:xfrm>
            <a:off x="7883888" y="4544063"/>
            <a:ext cx="306146" cy="0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8" name="直接箭头连接符 147"/>
          <p:cNvCxnSpPr>
            <a:stCxn id="58" idx="3"/>
          </p:cNvCxnSpPr>
          <p:nvPr/>
        </p:nvCxnSpPr>
        <p:spPr>
          <a:xfrm>
            <a:off x="7658126" y="2430480"/>
            <a:ext cx="531908" cy="0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电位器和按键控制呼吸灯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(20.12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674321" y="2582930"/>
            <a:ext cx="1545648" cy="200652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en-US" altLang="zh-CN" sz="140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赋值为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0" name="直接箭头连接符 59"/>
          <p:cNvCxnSpPr>
            <a:stCxn id="57" idx="2"/>
            <a:endCxn id="50" idx="0"/>
          </p:cNvCxnSpPr>
          <p:nvPr/>
        </p:nvCxnSpPr>
        <p:spPr>
          <a:xfrm>
            <a:off x="3447145" y="2783582"/>
            <a:ext cx="0" cy="17737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5971860" y="3884780"/>
            <a:ext cx="1545648" cy="200652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en-US" altLang="zh-CN" sz="140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赋值为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255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7" name="直接箭头连接符 66"/>
          <p:cNvCxnSpPr>
            <a:stCxn id="66" idx="2"/>
            <a:endCxn id="105" idx="0"/>
          </p:cNvCxnSpPr>
          <p:nvPr/>
        </p:nvCxnSpPr>
        <p:spPr>
          <a:xfrm>
            <a:off x="6744684" y="4085432"/>
            <a:ext cx="9976" cy="207953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47" idx="2"/>
            <a:endCxn id="71" idx="0"/>
          </p:cNvCxnSpPr>
          <p:nvPr/>
        </p:nvCxnSpPr>
        <p:spPr>
          <a:xfrm flipH="1">
            <a:off x="2155645" y="4338458"/>
            <a:ext cx="1559" cy="16813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>
            <a:stCxn id="113" idx="2"/>
            <a:endCxn id="103" idx="0"/>
          </p:cNvCxnSpPr>
          <p:nvPr/>
        </p:nvCxnSpPr>
        <p:spPr>
          <a:xfrm flipH="1">
            <a:off x="4856620" y="5191463"/>
            <a:ext cx="3004" cy="13710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14"/>
          <p:cNvCxnSpPr>
            <a:stCxn id="29" idx="3"/>
            <a:endCxn id="58" idx="1"/>
          </p:cNvCxnSpPr>
          <p:nvPr/>
        </p:nvCxnSpPr>
        <p:spPr>
          <a:xfrm flipV="1">
            <a:off x="6059797" y="2430480"/>
            <a:ext cx="314003" cy="1"/>
          </a:xfrm>
          <a:prstGeom prst="bentConnector3">
            <a:avLst>
              <a:gd name="adj1" fmla="val 50000"/>
            </a:avLst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8" name="矩形 57"/>
          <p:cNvSpPr/>
          <p:nvPr/>
        </p:nvSpPr>
        <p:spPr>
          <a:xfrm>
            <a:off x="6373800" y="2328550"/>
            <a:ext cx="1284326" cy="20386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灯灭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000"/>
                            </p:stCondLst>
                            <p:childTnLst>
                              <p:par>
                                <p:cTn id="1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00"/>
                            </p:stCondLst>
                            <p:childTnLst>
                              <p:par>
                                <p:cTn id="20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500"/>
                            </p:stCondLst>
                            <p:childTnLst>
                              <p:par>
                                <p:cTn id="2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000"/>
                            </p:stCondLst>
                            <p:childTnLst>
                              <p:par>
                                <p:cTn id="2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500"/>
                            </p:stCondLst>
                            <p:childTnLst>
                              <p:par>
                                <p:cTn id="2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90" grpId="0" animBg="1"/>
      <p:bldP spid="94" grpId="0" animBg="1"/>
      <p:bldP spid="59" grpId="0" animBg="1"/>
      <p:bldP spid="29" grpId="0" animBg="1"/>
      <p:bldP spid="31" grpId="0"/>
      <p:bldP spid="33" grpId="0"/>
      <p:bldP spid="47" grpId="0" animBg="1"/>
      <p:bldP spid="50" grpId="0" animBg="1"/>
      <p:bldP spid="52" grpId="0"/>
      <p:bldP spid="53" grpId="0"/>
      <p:bldP spid="63" grpId="0" animBg="1"/>
      <p:bldP spid="71" grpId="0" animBg="1"/>
      <p:bldP spid="82" grpId="0" animBg="1"/>
      <p:bldP spid="85" grpId="0"/>
      <p:bldP spid="87" grpId="0" animBg="1"/>
      <p:bldP spid="103" grpId="0" animBg="1"/>
      <p:bldP spid="105" grpId="0" animBg="1"/>
      <p:bldP spid="107" grpId="0"/>
      <p:bldP spid="108" grpId="0"/>
      <p:bldP spid="110" grpId="0" animBg="1"/>
      <p:bldP spid="112" grpId="0" animBg="1"/>
      <p:bldP spid="113" grpId="0" animBg="1"/>
      <p:bldP spid="116" grpId="0"/>
      <p:bldP spid="118" grpId="0" animBg="1"/>
      <p:bldP spid="57" grpId="0" animBg="1"/>
      <p:bldP spid="66" grpId="0" animBg="1"/>
      <p:bldP spid="5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电位器和按键控制呼吸灯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(20.12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3646" y="1052736"/>
            <a:ext cx="8576708" cy="568863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超声波测距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(21.03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416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所需器件：主控板、交通灯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个、超声波传感器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个等相关原件（以上模块也可使用分立电子元器件结合面包板搭建）。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a)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当障碍物距离超声传感器大于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30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厘米时，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盏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灯均处于熄灭状态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b)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当障碍物逐渐接近超声波传感器时，随着距离的减小，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盏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灯依次点亮（触发距离值由考生自行决定）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c)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当障碍物逐渐远离超声波传感器时，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盏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灯依次熄灭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d)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将超声波传感器返回的当前距离值，显示在串口监视器上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e)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可使用任意结构件搭建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f)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未做规定处可自行处理，无明显与事实违背即可；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流程图: 终止 53"/>
          <p:cNvSpPr/>
          <p:nvPr/>
        </p:nvSpPr>
        <p:spPr>
          <a:xfrm>
            <a:off x="2915816" y="809004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5" name="直接箭头连接符 54"/>
          <p:cNvCxnSpPr>
            <a:stCxn id="64" idx="2"/>
            <a:endCxn id="56" idx="0"/>
          </p:cNvCxnSpPr>
          <p:nvPr/>
        </p:nvCxnSpPr>
        <p:spPr>
          <a:xfrm>
            <a:off x="3390493" y="1621698"/>
            <a:ext cx="7688" cy="22818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2161072" y="1849887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初始化引脚及串口参数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7" name="直接箭头连接符 56"/>
          <p:cNvCxnSpPr>
            <a:stCxn id="56" idx="2"/>
            <a:endCxn id="60" idx="0"/>
          </p:cNvCxnSpPr>
          <p:nvPr/>
        </p:nvCxnSpPr>
        <p:spPr>
          <a:xfrm flipH="1">
            <a:off x="3384978" y="2125754"/>
            <a:ext cx="13203" cy="225970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1786771" y="2351724"/>
            <a:ext cx="3196414" cy="284339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读取超声检测值并在串口打印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1" name="直接箭头连接符 60"/>
          <p:cNvCxnSpPr>
            <a:stCxn id="54" idx="2"/>
            <a:endCxn id="64" idx="0"/>
          </p:cNvCxnSpPr>
          <p:nvPr/>
        </p:nvCxnSpPr>
        <p:spPr>
          <a:xfrm flipH="1">
            <a:off x="3390493" y="1097357"/>
            <a:ext cx="7014" cy="22188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2153384" y="1319241"/>
            <a:ext cx="2474217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6" name="直接箭头连接符 65"/>
          <p:cNvCxnSpPr>
            <a:stCxn id="60" idx="2"/>
            <a:endCxn id="73" idx="0"/>
          </p:cNvCxnSpPr>
          <p:nvPr/>
        </p:nvCxnSpPr>
        <p:spPr>
          <a:xfrm>
            <a:off x="3384978" y="2636063"/>
            <a:ext cx="4498" cy="23432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肘形连接符 12295"/>
          <p:cNvCxnSpPr>
            <a:stCxn id="123" idx="2"/>
          </p:cNvCxnSpPr>
          <p:nvPr/>
        </p:nvCxnSpPr>
        <p:spPr>
          <a:xfrm rot="5400000" flipH="1" flipV="1">
            <a:off x="1725765" y="3894603"/>
            <a:ext cx="3325028" cy="6601"/>
          </a:xfrm>
          <a:prstGeom prst="bentConnector4">
            <a:avLst>
              <a:gd name="adj1" fmla="val -4214"/>
              <a:gd name="adj2" fmla="val 63516982"/>
            </a:avLst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70" idx="3"/>
          </p:cNvCxnSpPr>
          <p:nvPr/>
        </p:nvCxnSpPr>
        <p:spPr>
          <a:xfrm flipV="1">
            <a:off x="7236296" y="3153179"/>
            <a:ext cx="343037" cy="2906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932040" y="3013086"/>
            <a:ext cx="2304256" cy="28599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灯全亮</a:t>
            </a:r>
            <a:endParaRPr lang="zh-CN" altLang="en-US" dirty="0"/>
          </a:p>
        </p:txBody>
      </p:sp>
      <p:sp>
        <p:nvSpPr>
          <p:cNvPr id="72" name="文本框 71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流程图: 决策 72"/>
          <p:cNvSpPr/>
          <p:nvPr/>
        </p:nvSpPr>
        <p:spPr>
          <a:xfrm>
            <a:off x="2189948" y="2870390"/>
            <a:ext cx="2399055" cy="565578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超声波值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&lt;10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4" name="TextBox 13"/>
          <p:cNvSpPr txBox="1"/>
          <p:nvPr/>
        </p:nvSpPr>
        <p:spPr>
          <a:xfrm>
            <a:off x="4507560" y="2812067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6" name="TextBox 14"/>
          <p:cNvSpPr txBox="1"/>
          <p:nvPr/>
        </p:nvSpPr>
        <p:spPr>
          <a:xfrm>
            <a:off x="3384979" y="3337846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8" name="直接箭头连接符 77"/>
          <p:cNvCxnSpPr>
            <a:stCxn id="73" idx="3"/>
            <a:endCxn id="70" idx="1"/>
          </p:cNvCxnSpPr>
          <p:nvPr/>
        </p:nvCxnSpPr>
        <p:spPr>
          <a:xfrm>
            <a:off x="4589003" y="3153179"/>
            <a:ext cx="343037" cy="2906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73" idx="2"/>
            <a:endCxn id="92" idx="0"/>
          </p:cNvCxnSpPr>
          <p:nvPr/>
        </p:nvCxnSpPr>
        <p:spPr>
          <a:xfrm>
            <a:off x="3389476" y="3435968"/>
            <a:ext cx="0" cy="252550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1" name="矩形 90"/>
          <p:cNvSpPr/>
          <p:nvPr/>
        </p:nvSpPr>
        <p:spPr>
          <a:xfrm>
            <a:off x="4932040" y="3824576"/>
            <a:ext cx="2304256" cy="28599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红、黄灯亮，绿灯灭</a:t>
            </a:r>
            <a:endParaRPr lang="zh-CN" altLang="en-US" dirty="0"/>
          </a:p>
        </p:txBody>
      </p:sp>
      <p:sp>
        <p:nvSpPr>
          <p:cNvPr id="92" name="流程图: 决策 91"/>
          <p:cNvSpPr/>
          <p:nvPr/>
        </p:nvSpPr>
        <p:spPr>
          <a:xfrm>
            <a:off x="2189948" y="3688518"/>
            <a:ext cx="2399055" cy="565578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超声波值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&lt;20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5" name="TextBox 13"/>
          <p:cNvSpPr txBox="1"/>
          <p:nvPr/>
        </p:nvSpPr>
        <p:spPr>
          <a:xfrm>
            <a:off x="4507560" y="3601974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7" name="TextBox 14"/>
          <p:cNvSpPr txBox="1"/>
          <p:nvPr/>
        </p:nvSpPr>
        <p:spPr>
          <a:xfrm>
            <a:off x="3397507" y="4149080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8" name="直接箭头连接符 97"/>
          <p:cNvCxnSpPr>
            <a:stCxn id="92" idx="3"/>
            <a:endCxn id="91" idx="1"/>
          </p:cNvCxnSpPr>
          <p:nvPr/>
        </p:nvCxnSpPr>
        <p:spPr>
          <a:xfrm flipV="1">
            <a:off x="4589003" y="3967575"/>
            <a:ext cx="343037" cy="3732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>
            <a:stCxn id="92" idx="2"/>
            <a:endCxn id="101" idx="0"/>
          </p:cNvCxnSpPr>
          <p:nvPr/>
        </p:nvCxnSpPr>
        <p:spPr>
          <a:xfrm>
            <a:off x="3389476" y="4254096"/>
            <a:ext cx="0" cy="230650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0" name="矩形 99"/>
          <p:cNvSpPr/>
          <p:nvPr/>
        </p:nvSpPr>
        <p:spPr>
          <a:xfrm>
            <a:off x="4932040" y="4626063"/>
            <a:ext cx="2304256" cy="293412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红灯亮，黄、绿灯灭</a:t>
            </a:r>
            <a:endParaRPr lang="zh-CN" altLang="en-US" dirty="0"/>
          </a:p>
        </p:txBody>
      </p:sp>
      <p:sp>
        <p:nvSpPr>
          <p:cNvPr id="101" name="流程图: 决策 100"/>
          <p:cNvSpPr/>
          <p:nvPr/>
        </p:nvSpPr>
        <p:spPr>
          <a:xfrm>
            <a:off x="2189948" y="4484746"/>
            <a:ext cx="2399055" cy="565578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超声波值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&lt;30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9" name="TextBox 13"/>
          <p:cNvSpPr txBox="1"/>
          <p:nvPr/>
        </p:nvSpPr>
        <p:spPr>
          <a:xfrm>
            <a:off x="4507560" y="4398202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0" name="TextBox 14"/>
          <p:cNvSpPr txBox="1"/>
          <p:nvPr/>
        </p:nvSpPr>
        <p:spPr>
          <a:xfrm>
            <a:off x="3397507" y="4941168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21" name="直接箭头连接符 120"/>
          <p:cNvCxnSpPr>
            <a:stCxn id="101" idx="3"/>
            <a:endCxn id="100" idx="1"/>
          </p:cNvCxnSpPr>
          <p:nvPr/>
        </p:nvCxnSpPr>
        <p:spPr>
          <a:xfrm>
            <a:off x="4589003" y="4767535"/>
            <a:ext cx="343037" cy="523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>
            <a:stCxn id="101" idx="2"/>
            <a:endCxn id="123" idx="0"/>
          </p:cNvCxnSpPr>
          <p:nvPr/>
        </p:nvCxnSpPr>
        <p:spPr>
          <a:xfrm flipH="1">
            <a:off x="3384979" y="5050324"/>
            <a:ext cx="4497" cy="22409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2232851" y="5274421"/>
            <a:ext cx="2304256" cy="28599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灯全灭</a:t>
            </a:r>
            <a:endParaRPr lang="zh-CN" altLang="en-US" dirty="0"/>
          </a:p>
        </p:txBody>
      </p:sp>
      <p:cxnSp>
        <p:nvCxnSpPr>
          <p:cNvPr id="128" name="直接箭头连接符 127"/>
          <p:cNvCxnSpPr>
            <a:stCxn id="91" idx="3"/>
          </p:cNvCxnSpPr>
          <p:nvPr/>
        </p:nvCxnSpPr>
        <p:spPr>
          <a:xfrm>
            <a:off x="7236296" y="3967575"/>
            <a:ext cx="343037" cy="0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直接箭头连接符 128"/>
          <p:cNvCxnSpPr>
            <a:stCxn id="100" idx="3"/>
          </p:cNvCxnSpPr>
          <p:nvPr/>
        </p:nvCxnSpPr>
        <p:spPr>
          <a:xfrm flipV="1">
            <a:off x="7236296" y="4767534"/>
            <a:ext cx="343037" cy="5235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超声波测距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(21.03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000"/>
                            </p:stCondLst>
                            <p:childTnLst>
                              <p:par>
                                <p:cTn id="1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6" grpId="0" animBg="1"/>
      <p:bldP spid="60" grpId="0" animBg="1"/>
      <p:bldP spid="64" grpId="0" animBg="1"/>
      <p:bldP spid="70" grpId="0" animBg="1"/>
      <p:bldP spid="73" grpId="0" animBg="1"/>
      <p:bldP spid="74" grpId="0"/>
      <p:bldP spid="76" grpId="0"/>
      <p:bldP spid="91" grpId="0" animBg="1"/>
      <p:bldP spid="92" grpId="0" animBg="1"/>
      <p:bldP spid="95" grpId="0"/>
      <p:bldP spid="97" grpId="0"/>
      <p:bldP spid="100" grpId="0" animBg="1"/>
      <p:bldP spid="101" grpId="0" animBg="1"/>
      <p:bldP spid="119" grpId="0"/>
      <p:bldP spid="120" grpId="0"/>
      <p:bldP spid="1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3688" y="669753"/>
            <a:ext cx="5087833" cy="60716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超声波测距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(21.03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距离指示器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(21.06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所需器件：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灯模块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个（分别为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），超声波传感器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个，舵机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个。</a:t>
            </a:r>
            <a:endParaRPr lang="zh-CN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zh-CN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a)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通过超声波传感器检测距离的变化，并根据检测距离控制舵机的转动角度和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灯的亮灭；</a:t>
            </a:r>
            <a:endParaRPr lang="zh-CN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b)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将超声波传感器检测的距离值显示在串口监视器；</a:t>
            </a:r>
            <a:endParaRPr lang="zh-CN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c)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当超声波传感器检测的距离为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10cm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时，舵机处于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90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度位置，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均熄灭；</a:t>
            </a:r>
            <a:endParaRPr lang="zh-CN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d)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当超声波传感器检测距离为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5cm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时，舵机处于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度位置，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闪烁，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熄灭；</a:t>
            </a:r>
            <a:endParaRPr lang="zh-CN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e)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当超声波传感器检测的距离在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10cm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至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5cm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之间变化时，舵机的转动角度为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90~0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度所对应的角度，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从熄灭至最亮，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保持熄灭状态；</a:t>
            </a:r>
            <a:endParaRPr lang="zh-CN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f)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当超声波传感器检测距离为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15cm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时，舵机处于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180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度位置，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闪烁，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熄灭；</a:t>
            </a:r>
            <a:endParaRPr lang="zh-CN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g)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当超声波传感器检测的距离在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10cm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至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15cm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之间变化时，舵机的转动角度为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90~180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度所对应的角度，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从熄灭至最亮，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保持熄灭状态</a:t>
            </a:r>
            <a:endParaRPr lang="zh-CN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h)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未做规定处可自行处理，无明显与事实违背即可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流程图: 终止 53"/>
          <p:cNvSpPr/>
          <p:nvPr/>
        </p:nvSpPr>
        <p:spPr>
          <a:xfrm>
            <a:off x="2319879" y="1096085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5" name="直接箭头连接符 54"/>
          <p:cNvCxnSpPr>
            <a:stCxn id="64" idx="2"/>
            <a:endCxn id="56" idx="0"/>
          </p:cNvCxnSpPr>
          <p:nvPr/>
        </p:nvCxnSpPr>
        <p:spPr>
          <a:xfrm>
            <a:off x="2801569" y="1827752"/>
            <a:ext cx="0" cy="17362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1564460" y="2001381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初始化引脚及串口参数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7" name="直接箭头连接符 56"/>
          <p:cNvCxnSpPr>
            <a:stCxn id="56" idx="2"/>
            <a:endCxn id="60" idx="0"/>
          </p:cNvCxnSpPr>
          <p:nvPr/>
        </p:nvCxnSpPr>
        <p:spPr>
          <a:xfrm flipH="1">
            <a:off x="2801568" y="2277248"/>
            <a:ext cx="1" cy="166372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1056044" y="2443620"/>
            <a:ext cx="3491048" cy="27586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读取超声检测值打印并自动换行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1" name="直接箭头连接符 60"/>
          <p:cNvCxnSpPr>
            <a:stCxn id="54" idx="2"/>
            <a:endCxn id="64" idx="0"/>
          </p:cNvCxnSpPr>
          <p:nvPr/>
        </p:nvCxnSpPr>
        <p:spPr>
          <a:xfrm flipH="1">
            <a:off x="2801569" y="1384438"/>
            <a:ext cx="1" cy="14085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1564460" y="1525295"/>
            <a:ext cx="2474217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6" name="直接箭头连接符 65"/>
          <p:cNvCxnSpPr>
            <a:stCxn id="106" idx="2"/>
            <a:endCxn id="73" idx="0"/>
          </p:cNvCxnSpPr>
          <p:nvPr/>
        </p:nvCxnSpPr>
        <p:spPr>
          <a:xfrm flipH="1">
            <a:off x="2801566" y="3429209"/>
            <a:ext cx="2" cy="18998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肘形连接符 12295"/>
          <p:cNvCxnSpPr>
            <a:stCxn id="80" idx="2"/>
          </p:cNvCxnSpPr>
          <p:nvPr/>
        </p:nvCxnSpPr>
        <p:spPr>
          <a:xfrm rot="5400000" flipH="1" flipV="1">
            <a:off x="983409" y="4184200"/>
            <a:ext cx="3672481" cy="1694"/>
          </a:xfrm>
          <a:prstGeom prst="bentConnector4">
            <a:avLst>
              <a:gd name="adj1" fmla="val -2629"/>
              <a:gd name="adj2" fmla="val 299378512"/>
            </a:avLst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70" idx="3"/>
          </p:cNvCxnSpPr>
          <p:nvPr/>
        </p:nvCxnSpPr>
        <p:spPr>
          <a:xfrm>
            <a:off x="7083334" y="3821723"/>
            <a:ext cx="794209" cy="0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347032" y="3683788"/>
            <a:ext cx="2736302" cy="275869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灭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闪烁</a:t>
            </a:r>
            <a:endParaRPr lang="zh-CN" altLang="en-US" dirty="0"/>
          </a:p>
        </p:txBody>
      </p:sp>
      <p:sp>
        <p:nvSpPr>
          <p:cNvPr id="72" name="文本框 71"/>
          <p:cNvSpPr txBox="1"/>
          <p:nvPr/>
        </p:nvSpPr>
        <p:spPr>
          <a:xfrm>
            <a:off x="251520" y="620688"/>
            <a:ext cx="1387935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流程图: 决策 72"/>
          <p:cNvSpPr/>
          <p:nvPr/>
        </p:nvSpPr>
        <p:spPr>
          <a:xfrm>
            <a:off x="1602038" y="3619196"/>
            <a:ext cx="2399055" cy="405075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超声波值≤</a:t>
            </a:r>
            <a:r>
              <a:rPr lang="en-US" altLang="zh-CN" sz="140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4" name="TextBox 13"/>
          <p:cNvSpPr txBox="1"/>
          <p:nvPr/>
        </p:nvSpPr>
        <p:spPr>
          <a:xfrm>
            <a:off x="3928857" y="3463629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6" name="TextBox 14"/>
          <p:cNvSpPr txBox="1"/>
          <p:nvPr/>
        </p:nvSpPr>
        <p:spPr>
          <a:xfrm>
            <a:off x="2818803" y="3887368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8" name="直接箭头连接符 77"/>
          <p:cNvCxnSpPr>
            <a:stCxn id="73" idx="3"/>
            <a:endCxn id="70" idx="1"/>
          </p:cNvCxnSpPr>
          <p:nvPr/>
        </p:nvCxnSpPr>
        <p:spPr>
          <a:xfrm flipV="1">
            <a:off x="4001093" y="3821723"/>
            <a:ext cx="345939" cy="11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73" idx="2"/>
            <a:endCxn id="101" idx="0"/>
          </p:cNvCxnSpPr>
          <p:nvPr/>
        </p:nvCxnSpPr>
        <p:spPr>
          <a:xfrm>
            <a:off x="2801566" y="4024271"/>
            <a:ext cx="9207" cy="193728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0" name="矩形 99"/>
          <p:cNvSpPr/>
          <p:nvPr/>
        </p:nvSpPr>
        <p:spPr>
          <a:xfrm>
            <a:off x="4347032" y="4223248"/>
            <a:ext cx="3219692" cy="565579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灭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，映射超声波值从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255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设为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亮度</a:t>
            </a:r>
            <a:endParaRPr lang="zh-CN" altLang="en-US" dirty="0"/>
          </a:p>
        </p:txBody>
      </p:sp>
      <p:sp>
        <p:nvSpPr>
          <p:cNvPr id="101" name="流程图: 决策 100"/>
          <p:cNvSpPr/>
          <p:nvPr/>
        </p:nvSpPr>
        <p:spPr>
          <a:xfrm>
            <a:off x="1611245" y="4217999"/>
            <a:ext cx="2399055" cy="565578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超声波值≤</a:t>
            </a:r>
            <a:r>
              <a:rPr lang="en-US" altLang="zh-CN" sz="140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9" name="TextBox 13"/>
          <p:cNvSpPr txBox="1"/>
          <p:nvPr/>
        </p:nvSpPr>
        <p:spPr>
          <a:xfrm>
            <a:off x="3928857" y="4131455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0" name="TextBox 14"/>
          <p:cNvSpPr txBox="1"/>
          <p:nvPr/>
        </p:nvSpPr>
        <p:spPr>
          <a:xfrm>
            <a:off x="2818804" y="4657862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21" name="直接箭头连接符 120"/>
          <p:cNvCxnSpPr>
            <a:stCxn id="101" idx="3"/>
            <a:endCxn id="100" idx="1"/>
          </p:cNvCxnSpPr>
          <p:nvPr/>
        </p:nvCxnSpPr>
        <p:spPr>
          <a:xfrm>
            <a:off x="4010300" y="4500788"/>
            <a:ext cx="336732" cy="5250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>
            <a:stCxn id="101" idx="2"/>
            <a:endCxn id="124" idx="0"/>
          </p:cNvCxnSpPr>
          <p:nvPr/>
        </p:nvCxnSpPr>
        <p:spPr>
          <a:xfrm>
            <a:off x="2810773" y="4783577"/>
            <a:ext cx="0" cy="178580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4347032" y="4962157"/>
            <a:ext cx="3330972" cy="565579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灭，映射超声波值从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255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设为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的亮度</a:t>
            </a:r>
            <a:endParaRPr lang="zh-CN" altLang="en-US" dirty="0"/>
          </a:p>
        </p:txBody>
      </p:sp>
      <p:sp>
        <p:nvSpPr>
          <p:cNvPr id="124" name="流程图: 决策 123"/>
          <p:cNvSpPr/>
          <p:nvPr/>
        </p:nvSpPr>
        <p:spPr>
          <a:xfrm>
            <a:off x="1611245" y="4962157"/>
            <a:ext cx="2399055" cy="565578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超声波值</a:t>
            </a:r>
            <a:r>
              <a:rPr lang="en-US" altLang="zh-CN" sz="1400">
                <a:latin typeface="楷体" panose="02010609060101010101" pitchFamily="49" charset="-122"/>
                <a:ea typeface="楷体" panose="02010609060101010101" pitchFamily="49" charset="-122"/>
              </a:rPr>
              <a:t>&lt; 15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5" name="TextBox 13"/>
          <p:cNvSpPr txBox="1"/>
          <p:nvPr/>
        </p:nvSpPr>
        <p:spPr>
          <a:xfrm>
            <a:off x="3928857" y="4875613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6" name="TextBox 14"/>
          <p:cNvSpPr txBox="1"/>
          <p:nvPr/>
        </p:nvSpPr>
        <p:spPr>
          <a:xfrm>
            <a:off x="2818804" y="5417783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27" name="直接箭头连接符 126"/>
          <p:cNvCxnSpPr>
            <a:stCxn id="124" idx="3"/>
            <a:endCxn id="123" idx="1"/>
          </p:cNvCxnSpPr>
          <p:nvPr/>
        </p:nvCxnSpPr>
        <p:spPr>
          <a:xfrm>
            <a:off x="4010300" y="5244946"/>
            <a:ext cx="336732" cy="1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直接箭头连接符 128"/>
          <p:cNvCxnSpPr>
            <a:stCxn id="100" idx="3"/>
          </p:cNvCxnSpPr>
          <p:nvPr/>
        </p:nvCxnSpPr>
        <p:spPr>
          <a:xfrm flipV="1">
            <a:off x="7566724" y="4500787"/>
            <a:ext cx="317644" cy="5251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>
            <a:stCxn id="123" idx="3"/>
          </p:cNvCxnSpPr>
          <p:nvPr/>
        </p:nvCxnSpPr>
        <p:spPr>
          <a:xfrm>
            <a:off x="7678004" y="5244947"/>
            <a:ext cx="206364" cy="0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距离指示器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(21.06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5" name="直接箭头连接符 64"/>
          <p:cNvCxnSpPr>
            <a:stCxn id="124" idx="2"/>
            <a:endCxn id="80" idx="0"/>
          </p:cNvCxnSpPr>
          <p:nvPr/>
        </p:nvCxnSpPr>
        <p:spPr>
          <a:xfrm>
            <a:off x="2810773" y="5527735"/>
            <a:ext cx="8030" cy="217683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>
          <a:xfrm>
            <a:off x="1450652" y="5745418"/>
            <a:ext cx="2736301" cy="275869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灭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闪烁</a:t>
            </a:r>
            <a:endParaRPr lang="zh-CN" altLang="en-US" dirty="0"/>
          </a:p>
        </p:txBody>
      </p:sp>
      <p:sp>
        <p:nvSpPr>
          <p:cNvPr id="106" name="矩形 105"/>
          <p:cNvSpPr/>
          <p:nvPr/>
        </p:nvSpPr>
        <p:spPr>
          <a:xfrm>
            <a:off x="1256104" y="2874371"/>
            <a:ext cx="3090928" cy="55483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映射超声波值从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180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设为舵机角度，延时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41" name="直接箭头连接符 140"/>
          <p:cNvCxnSpPr>
            <a:stCxn id="60" idx="2"/>
            <a:endCxn id="106" idx="0"/>
          </p:cNvCxnSpPr>
          <p:nvPr/>
        </p:nvCxnSpPr>
        <p:spPr>
          <a:xfrm>
            <a:off x="2801568" y="2719488"/>
            <a:ext cx="0" cy="154883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6" grpId="0" animBg="1"/>
      <p:bldP spid="60" grpId="0" animBg="1"/>
      <p:bldP spid="64" grpId="0" animBg="1"/>
      <p:bldP spid="70" grpId="0" animBg="1"/>
      <p:bldP spid="73" grpId="0" animBg="1"/>
      <p:bldP spid="74" grpId="0"/>
      <p:bldP spid="76" grpId="0"/>
      <p:bldP spid="100" grpId="0" animBg="1"/>
      <p:bldP spid="101" grpId="0" animBg="1"/>
      <p:bldP spid="119" grpId="0"/>
      <p:bldP spid="120" grpId="0"/>
      <p:bldP spid="123" grpId="0" animBg="1"/>
      <p:bldP spid="124" grpId="0" animBg="1"/>
      <p:bldP spid="125" grpId="0"/>
      <p:bldP spid="126" grpId="0"/>
      <p:bldP spid="80" grpId="0" animBg="1"/>
      <p:bldP spid="10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距离指示器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(21.06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128" y="692696"/>
            <a:ext cx="7330266" cy="368162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4373741"/>
            <a:ext cx="7396244" cy="238184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时间可调自助红绿灯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(21.09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所需器件：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主控板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块，交通灯模块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个，电位器模块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个，按键模块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个，蜂鸣器模块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个，以上模块也可使用分立器件结合面包板搭建。</a:t>
            </a:r>
            <a:endParaRPr lang="zh-CN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当自助式红绿灯的按钮没有被按下时．主路显示为绿灯，人行道显示为红灯。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当按钮被按下后，主路的绿灯延时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秒后由绿灯经黄灯转换为红灯。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当主路为红灯时，人行道的绿灯点亮并闪烁，闪烁时间间隔为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500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毫秒。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人行道的通行时间为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秒～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秒，可以通过电位器调整，并将当前的通行时间显示在串口监视器上。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5.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当人行道的绿灯还剩余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秒时，绿灯快速闪烁，闪烁时间间隔为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250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毫秒，提醒行人快速通过。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6.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当人行道的绿灯还剩余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秒，绿灯快速闪烁的同时，声音提醒。声音提醒的方式选用蜂鸣器模块。 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7.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人行道通行时间结束，人行道红灯点亮，主路绿灯点亮。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根据上述要求，绘制流程图。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9.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未作规定处可自行处理，无明显与事实违背即可。</a:t>
            </a:r>
            <a:endParaRPr lang="zh-CN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流程图: 终止 53"/>
          <p:cNvSpPr/>
          <p:nvPr/>
        </p:nvSpPr>
        <p:spPr>
          <a:xfrm>
            <a:off x="4292916" y="689865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5" name="直接箭头连接符 54"/>
          <p:cNvCxnSpPr>
            <a:stCxn id="64" idx="2"/>
            <a:endCxn id="56" idx="0"/>
          </p:cNvCxnSpPr>
          <p:nvPr/>
        </p:nvCxnSpPr>
        <p:spPr>
          <a:xfrm>
            <a:off x="4774606" y="1421532"/>
            <a:ext cx="0" cy="17362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3537497" y="1595161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初始化引脚及串口参数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7" name="直接箭头连接符 56"/>
          <p:cNvCxnSpPr>
            <a:stCxn id="56" idx="2"/>
            <a:endCxn id="60" idx="0"/>
          </p:cNvCxnSpPr>
          <p:nvPr/>
        </p:nvCxnSpPr>
        <p:spPr>
          <a:xfrm>
            <a:off x="4774606" y="1871028"/>
            <a:ext cx="9203" cy="166371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2970082" y="2037399"/>
            <a:ext cx="3627453" cy="55328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读取电位器值映射从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0~1023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8~12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在串口监视器打印并自动换行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1" name="直接箭头连接符 60"/>
          <p:cNvCxnSpPr>
            <a:stCxn id="54" idx="2"/>
            <a:endCxn id="64" idx="0"/>
          </p:cNvCxnSpPr>
          <p:nvPr/>
        </p:nvCxnSpPr>
        <p:spPr>
          <a:xfrm flipH="1">
            <a:off x="4774606" y="978218"/>
            <a:ext cx="1" cy="14085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3537497" y="1119075"/>
            <a:ext cx="2474217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6" name="直接箭头连接符 65"/>
          <p:cNvCxnSpPr>
            <a:stCxn id="106" idx="2"/>
            <a:endCxn id="73" idx="0"/>
          </p:cNvCxnSpPr>
          <p:nvPr/>
        </p:nvCxnSpPr>
        <p:spPr>
          <a:xfrm>
            <a:off x="4783808" y="3770454"/>
            <a:ext cx="0" cy="154993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肘形连接符 12295"/>
          <p:cNvCxnSpPr/>
          <p:nvPr/>
        </p:nvCxnSpPr>
        <p:spPr>
          <a:xfrm rot="5400000" flipH="1" flipV="1">
            <a:off x="2457543" y="4199551"/>
            <a:ext cx="4605300" cy="28816"/>
          </a:xfrm>
          <a:prstGeom prst="bentConnector4">
            <a:avLst>
              <a:gd name="adj1" fmla="val -3248"/>
              <a:gd name="adj2" fmla="val 6875635"/>
            </a:avLst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1916711" y="4371622"/>
            <a:ext cx="2736302" cy="55328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2000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毫秒，主路绿灯灭、黄灯亮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1000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/>
          </a:p>
        </p:txBody>
      </p:sp>
      <p:sp>
        <p:nvSpPr>
          <p:cNvPr id="72" name="文本框 71"/>
          <p:cNvSpPr txBox="1"/>
          <p:nvPr/>
        </p:nvSpPr>
        <p:spPr>
          <a:xfrm>
            <a:off x="251520" y="620688"/>
            <a:ext cx="1387935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流程图: 决策 72"/>
          <p:cNvSpPr/>
          <p:nvPr/>
        </p:nvSpPr>
        <p:spPr>
          <a:xfrm>
            <a:off x="3584280" y="3925447"/>
            <a:ext cx="2399055" cy="405075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按键值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=0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4" name="TextBox 13"/>
          <p:cNvSpPr txBox="1"/>
          <p:nvPr/>
        </p:nvSpPr>
        <p:spPr>
          <a:xfrm>
            <a:off x="3269316" y="3743009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6" name="TextBox 14"/>
          <p:cNvSpPr txBox="1"/>
          <p:nvPr/>
        </p:nvSpPr>
        <p:spPr>
          <a:xfrm>
            <a:off x="5857264" y="3758652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1619672" y="5822446"/>
            <a:ext cx="3330379" cy="55328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蜂鸣器响，人行道绿灯以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250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毫秒频率闪烁，时长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秒</a:t>
            </a:r>
            <a:endParaRPr lang="zh-CN" altLang="en-US" dirty="0"/>
          </a:p>
        </p:txBody>
      </p:sp>
      <p:sp>
        <p:nvSpPr>
          <p:cNvPr id="123" name="矩形 122"/>
          <p:cNvSpPr/>
          <p:nvPr/>
        </p:nvSpPr>
        <p:spPr>
          <a:xfrm>
            <a:off x="1340645" y="5112109"/>
            <a:ext cx="3888432" cy="55328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主路黄灯灭、红灯亮，人行道红灯灭，绿灯以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毫秒频率闪烁到剩余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秒</a:t>
            </a:r>
            <a:endParaRPr lang="zh-CN" altLang="en-US" dirty="0"/>
          </a:p>
        </p:txBody>
      </p:sp>
      <p:sp>
        <p:nvSpPr>
          <p:cNvPr id="106" name="矩形 105"/>
          <p:cNvSpPr/>
          <p:nvPr/>
        </p:nvSpPr>
        <p:spPr>
          <a:xfrm>
            <a:off x="3696504" y="3486620"/>
            <a:ext cx="2174607" cy="283834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读取按键值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41" name="直接箭头连接符 140"/>
          <p:cNvCxnSpPr>
            <a:stCxn id="60" idx="2"/>
            <a:endCxn id="71" idx="0"/>
          </p:cNvCxnSpPr>
          <p:nvPr/>
        </p:nvCxnSpPr>
        <p:spPr>
          <a:xfrm flipH="1">
            <a:off x="4783807" y="2590686"/>
            <a:ext cx="2" cy="176948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3415655" y="2767634"/>
            <a:ext cx="2736303" cy="55483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主路绿灯亮、红黄灯灭，人行道红灯亮、绿灯灭</a:t>
            </a:r>
            <a:endParaRPr lang="zh-CN" altLang="en-US" dirty="0"/>
          </a:p>
        </p:txBody>
      </p:sp>
      <p:cxnSp>
        <p:nvCxnSpPr>
          <p:cNvPr id="75" name="直接箭头连接符 14"/>
          <p:cNvCxnSpPr>
            <a:stCxn id="73" idx="1"/>
            <a:endCxn id="70" idx="0"/>
          </p:cNvCxnSpPr>
          <p:nvPr/>
        </p:nvCxnSpPr>
        <p:spPr>
          <a:xfrm rot="10800000" flipV="1">
            <a:off x="3284862" y="4127984"/>
            <a:ext cx="299418" cy="243637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5" name="直接箭头连接符 84"/>
          <p:cNvCxnSpPr>
            <a:stCxn id="70" idx="2"/>
            <a:endCxn id="123" idx="0"/>
          </p:cNvCxnSpPr>
          <p:nvPr/>
        </p:nvCxnSpPr>
        <p:spPr>
          <a:xfrm flipH="1">
            <a:off x="3284861" y="4924909"/>
            <a:ext cx="1" cy="187200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>
            <a:stCxn id="123" idx="2"/>
            <a:endCxn id="100" idx="0"/>
          </p:cNvCxnSpPr>
          <p:nvPr/>
        </p:nvCxnSpPr>
        <p:spPr>
          <a:xfrm>
            <a:off x="3284861" y="5665396"/>
            <a:ext cx="1" cy="157050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时间可调自助红绿灯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(21.09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03" name="肘形连接符 12295"/>
          <p:cNvCxnSpPr>
            <a:stCxn id="73" idx="3"/>
            <a:endCxn id="100" idx="2"/>
          </p:cNvCxnSpPr>
          <p:nvPr/>
        </p:nvCxnSpPr>
        <p:spPr>
          <a:xfrm flipH="1">
            <a:off x="3284862" y="4127985"/>
            <a:ext cx="2698473" cy="2247748"/>
          </a:xfrm>
          <a:prstGeom prst="bentConnector4">
            <a:avLst>
              <a:gd name="adj1" fmla="val -8471"/>
              <a:gd name="adj2" fmla="val 106654"/>
            </a:avLst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>
            <a:stCxn id="71" idx="2"/>
            <a:endCxn id="106" idx="0"/>
          </p:cNvCxnSpPr>
          <p:nvPr/>
        </p:nvCxnSpPr>
        <p:spPr>
          <a:xfrm>
            <a:off x="4783807" y="3322472"/>
            <a:ext cx="1" cy="164148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6" grpId="0" animBg="1"/>
      <p:bldP spid="60" grpId="0" animBg="1"/>
      <p:bldP spid="64" grpId="0" animBg="1"/>
      <p:bldP spid="70" grpId="0" animBg="1"/>
      <p:bldP spid="73" grpId="0" animBg="1"/>
      <p:bldP spid="74" grpId="0"/>
      <p:bldP spid="76" grpId="0"/>
      <p:bldP spid="100" grpId="0" animBg="1"/>
      <p:bldP spid="123" grpId="0" animBg="1"/>
      <p:bldP spid="106" grpId="0" animBg="1"/>
      <p:bldP spid="7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时间可调自助红绿灯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(21.09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640" y="669788"/>
            <a:ext cx="5968399" cy="31798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l="138"/>
          <a:stretch>
            <a:fillRect/>
          </a:stretch>
        </p:blipFill>
        <p:spPr>
          <a:xfrm>
            <a:off x="1331640" y="3848100"/>
            <a:ext cx="5976664" cy="289326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SOS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指示灯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(21.12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3508" y="638314"/>
            <a:ext cx="8856984" cy="4492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所需器件：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主控板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块，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灯模块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个，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蜂鸣器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个，按键模块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个。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摩尔斯电码是一种早期的数字化通信形式，它依靠一系列的点和划来传递编码信息。它的代码包含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种，分别为：点（ 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·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）、划（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）、每个字符内部短的停顿（在点和划之间的停顿）、每个字符之间中等的停顿以及单词之间长的停顿所组成。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摩尔斯电码代码时间是以点为基准，具体规则如下：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点（ 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·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）：一个时间长度单位；划（ 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-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）：三个点的长度；每个字符内部短停顿（在点和划之间的停顿）：一个点的长度；每个字符之间中等停顿：三个点的长度；每个单词之间长停顿：七个点的长度。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求救信号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SOS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对应的摩尔斯电码为：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···---···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。其中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的摩尔斯电码为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···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的摩尔斯电码为：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---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3508" y="638314"/>
            <a:ext cx="885698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本主题通过控制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灯的亮灭时长来模拟发送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SOS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求救信号。具体要求如下：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当按键没有被按下时，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灯处于呼吸灯的状态（逐渐变亮，逐渐熄灭，依次反复），蜂鸣器静音。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当按键按下后，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灯发出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次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SOS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信号，同时蜂鸣器发出声音；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SOS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信号发送完毕，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灯保持初始呼吸灯状态，同时蜂鸣器静音。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摩尔斯电码中点（ 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·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）的时间长度为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300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毫秒。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5.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根据上述要求，绘制流程图。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6.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呼吸灯的呼吸频率自行确定，需要能呈现出呼吸灯效果。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7.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根据上述要求，绘制流程图。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未作规定处可自行处理，无明显与事实违背即可。</a:t>
            </a:r>
            <a:endParaRPr lang="zh-CN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SOS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指示灯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(21.12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流程图: 终止 53"/>
          <p:cNvSpPr/>
          <p:nvPr/>
        </p:nvSpPr>
        <p:spPr>
          <a:xfrm>
            <a:off x="3242962" y="689931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5" name="直接箭头连接符 54"/>
          <p:cNvCxnSpPr>
            <a:stCxn id="64" idx="2"/>
            <a:endCxn id="56" idx="0"/>
          </p:cNvCxnSpPr>
          <p:nvPr/>
        </p:nvCxnSpPr>
        <p:spPr>
          <a:xfrm>
            <a:off x="3724652" y="1421598"/>
            <a:ext cx="0" cy="17362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2487543" y="1595227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7" name="直接箭头连接符 56"/>
          <p:cNvCxnSpPr>
            <a:stCxn id="69" idx="2"/>
            <a:endCxn id="73" idx="0"/>
          </p:cNvCxnSpPr>
          <p:nvPr/>
        </p:nvCxnSpPr>
        <p:spPr>
          <a:xfrm>
            <a:off x="3724652" y="2288616"/>
            <a:ext cx="5445" cy="167378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54" idx="2"/>
            <a:endCxn id="64" idx="0"/>
          </p:cNvCxnSpPr>
          <p:nvPr/>
        </p:nvCxnSpPr>
        <p:spPr>
          <a:xfrm flipH="1">
            <a:off x="3724652" y="978284"/>
            <a:ext cx="1" cy="14085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2487543" y="1119141"/>
            <a:ext cx="2474217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7" name="肘形连接符 12295"/>
          <p:cNvCxnSpPr/>
          <p:nvPr/>
        </p:nvCxnSpPr>
        <p:spPr>
          <a:xfrm rot="5400000" flipH="1" flipV="1">
            <a:off x="3014038" y="2676686"/>
            <a:ext cx="1490304" cy="41444"/>
          </a:xfrm>
          <a:prstGeom prst="bentConnector4">
            <a:avLst>
              <a:gd name="adj1" fmla="val -6366"/>
              <a:gd name="adj2" fmla="val 6205246"/>
            </a:avLst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1507881" y="2856438"/>
            <a:ext cx="1596653" cy="500553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蜂鸣器响，执行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次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SOS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endParaRPr lang="zh-CN" altLang="en-US" dirty="0"/>
          </a:p>
        </p:txBody>
      </p:sp>
      <p:sp>
        <p:nvSpPr>
          <p:cNvPr id="72" name="文本框 71"/>
          <p:cNvSpPr txBox="1"/>
          <p:nvPr/>
        </p:nvSpPr>
        <p:spPr>
          <a:xfrm>
            <a:off x="251520" y="620688"/>
            <a:ext cx="1387935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流程图: 决策 72"/>
          <p:cNvSpPr/>
          <p:nvPr/>
        </p:nvSpPr>
        <p:spPr>
          <a:xfrm>
            <a:off x="2530569" y="2455994"/>
            <a:ext cx="2399055" cy="405075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按键值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=0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4" name="TextBox 13"/>
          <p:cNvSpPr txBox="1"/>
          <p:nvPr/>
        </p:nvSpPr>
        <p:spPr>
          <a:xfrm>
            <a:off x="2219362" y="2339588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6" name="TextBox 14"/>
          <p:cNvSpPr txBox="1"/>
          <p:nvPr/>
        </p:nvSpPr>
        <p:spPr>
          <a:xfrm>
            <a:off x="4807310" y="2348880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5" name="直接箭头连接符 14"/>
          <p:cNvCxnSpPr>
            <a:stCxn id="73" idx="1"/>
            <a:endCxn id="70" idx="0"/>
          </p:cNvCxnSpPr>
          <p:nvPr/>
        </p:nvCxnSpPr>
        <p:spPr>
          <a:xfrm rot="10800000" flipV="1">
            <a:off x="2306209" y="2658532"/>
            <a:ext cx="224361" cy="197906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7" name="文本框 2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SOS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指示灯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(21.12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流程图: 终止 28"/>
          <p:cNvSpPr/>
          <p:nvPr/>
        </p:nvSpPr>
        <p:spPr>
          <a:xfrm>
            <a:off x="7587470" y="3587972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SOS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0" name="直接箭头连接符 29"/>
          <p:cNvCxnSpPr>
            <a:stCxn id="35" idx="2"/>
            <a:endCxn id="31" idx="0"/>
          </p:cNvCxnSpPr>
          <p:nvPr/>
        </p:nvCxnSpPr>
        <p:spPr>
          <a:xfrm>
            <a:off x="8069161" y="4354219"/>
            <a:ext cx="0" cy="17682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7342807" y="4531048"/>
            <a:ext cx="1452708" cy="305659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900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2" name="直接箭头连接符 31"/>
          <p:cNvCxnSpPr>
            <a:stCxn id="31" idx="2"/>
            <a:endCxn id="33" idx="0"/>
          </p:cNvCxnSpPr>
          <p:nvPr/>
        </p:nvCxnSpPr>
        <p:spPr>
          <a:xfrm flipH="1">
            <a:off x="8069160" y="4836707"/>
            <a:ext cx="1" cy="17358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7342806" y="5010291"/>
            <a:ext cx="1452708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执行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直接箭头连接符 33"/>
          <p:cNvCxnSpPr>
            <a:stCxn id="29" idx="2"/>
            <a:endCxn id="35" idx="0"/>
          </p:cNvCxnSpPr>
          <p:nvPr/>
        </p:nvCxnSpPr>
        <p:spPr>
          <a:xfrm>
            <a:off x="8069161" y="3876325"/>
            <a:ext cx="0" cy="178638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7342806" y="4054963"/>
            <a:ext cx="1452709" cy="299256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执行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6" name="直接箭头连接符 35"/>
          <p:cNvCxnSpPr>
            <a:stCxn id="44" idx="2"/>
            <a:endCxn id="38" idx="0"/>
          </p:cNvCxnSpPr>
          <p:nvPr/>
        </p:nvCxnSpPr>
        <p:spPr>
          <a:xfrm>
            <a:off x="8069159" y="6264874"/>
            <a:ext cx="0" cy="188213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7270881" y="6453087"/>
            <a:ext cx="1596556" cy="305659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2100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7342805" y="5965619"/>
            <a:ext cx="1452708" cy="299255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执行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5" name="直接箭头连接符 44"/>
          <p:cNvCxnSpPr>
            <a:stCxn id="33" idx="2"/>
            <a:endCxn id="46" idx="0"/>
          </p:cNvCxnSpPr>
          <p:nvPr/>
        </p:nvCxnSpPr>
        <p:spPr>
          <a:xfrm flipH="1">
            <a:off x="8069159" y="5312748"/>
            <a:ext cx="1" cy="176830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7342805" y="5489578"/>
            <a:ext cx="1452708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900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/>
          </a:p>
        </p:txBody>
      </p:sp>
      <p:cxnSp>
        <p:nvCxnSpPr>
          <p:cNvPr id="51" name="直接箭头连接符 50"/>
          <p:cNvCxnSpPr>
            <a:stCxn id="46" idx="2"/>
            <a:endCxn id="44" idx="0"/>
          </p:cNvCxnSpPr>
          <p:nvPr/>
        </p:nvCxnSpPr>
        <p:spPr>
          <a:xfrm>
            <a:off x="8069159" y="5792035"/>
            <a:ext cx="0" cy="17358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4090502" y="2856438"/>
            <a:ext cx="2137682" cy="49817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蜂鸣器停，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灯慢慢变亮再慢慢变暗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9" name="直接箭头连接符 14"/>
          <p:cNvCxnSpPr>
            <a:stCxn id="73" idx="3"/>
            <a:endCxn id="58" idx="0"/>
          </p:cNvCxnSpPr>
          <p:nvPr/>
        </p:nvCxnSpPr>
        <p:spPr>
          <a:xfrm>
            <a:off x="4929624" y="2658532"/>
            <a:ext cx="229719" cy="197906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2" name="肘形连接符 12295"/>
          <p:cNvCxnSpPr>
            <a:stCxn id="58" idx="2"/>
            <a:endCxn id="70" idx="2"/>
          </p:cNvCxnSpPr>
          <p:nvPr/>
        </p:nvCxnSpPr>
        <p:spPr>
          <a:xfrm rot="5400000">
            <a:off x="3731589" y="1929236"/>
            <a:ext cx="2375" cy="2853135"/>
          </a:xfrm>
          <a:prstGeom prst="bentConnector3">
            <a:avLst>
              <a:gd name="adj1" fmla="val 4426189"/>
            </a:avLst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5" name="流程图: 终止 124"/>
          <p:cNvSpPr/>
          <p:nvPr/>
        </p:nvSpPr>
        <p:spPr>
          <a:xfrm>
            <a:off x="5822037" y="4051852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26" name="直接箭头连接符 125"/>
          <p:cNvCxnSpPr>
            <a:stCxn id="131" idx="2"/>
            <a:endCxn id="127" idx="0"/>
          </p:cNvCxnSpPr>
          <p:nvPr/>
        </p:nvCxnSpPr>
        <p:spPr>
          <a:xfrm flipH="1">
            <a:off x="6303723" y="4822693"/>
            <a:ext cx="5" cy="17362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7" name="矩形 126"/>
          <p:cNvSpPr/>
          <p:nvPr/>
        </p:nvSpPr>
        <p:spPr>
          <a:xfrm>
            <a:off x="5505400" y="4996322"/>
            <a:ext cx="1596645" cy="302413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28" name="直接箭头连接符 127"/>
          <p:cNvCxnSpPr>
            <a:stCxn id="127" idx="2"/>
            <a:endCxn id="129" idx="0"/>
          </p:cNvCxnSpPr>
          <p:nvPr/>
        </p:nvCxnSpPr>
        <p:spPr>
          <a:xfrm flipH="1">
            <a:off x="6303716" y="5298735"/>
            <a:ext cx="7" cy="176830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9" name="矩形 128"/>
          <p:cNvSpPr/>
          <p:nvPr/>
        </p:nvSpPr>
        <p:spPr>
          <a:xfrm>
            <a:off x="5505400" y="5475565"/>
            <a:ext cx="1596632" cy="302413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执行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heng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30" name="直接箭头连接符 129"/>
          <p:cNvCxnSpPr>
            <a:stCxn id="125" idx="2"/>
            <a:endCxn id="131" idx="0"/>
          </p:cNvCxnSpPr>
          <p:nvPr/>
        </p:nvCxnSpPr>
        <p:spPr>
          <a:xfrm>
            <a:off x="6303728" y="4340205"/>
            <a:ext cx="0" cy="180031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1" name="矩形 130"/>
          <p:cNvSpPr/>
          <p:nvPr/>
        </p:nvSpPr>
        <p:spPr>
          <a:xfrm>
            <a:off x="5505400" y="4520236"/>
            <a:ext cx="1596655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执行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heng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5505399" y="6430893"/>
            <a:ext cx="1596622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执行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heng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35" name="直接箭头连接符 134"/>
          <p:cNvCxnSpPr>
            <a:stCxn id="129" idx="2"/>
            <a:endCxn id="136" idx="0"/>
          </p:cNvCxnSpPr>
          <p:nvPr/>
        </p:nvCxnSpPr>
        <p:spPr>
          <a:xfrm flipH="1">
            <a:off x="6303715" y="5777978"/>
            <a:ext cx="1" cy="17687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5505399" y="5954852"/>
            <a:ext cx="1596631" cy="308544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/>
          </a:p>
        </p:txBody>
      </p:sp>
      <p:cxnSp>
        <p:nvCxnSpPr>
          <p:cNvPr id="137" name="直接箭头连接符 136"/>
          <p:cNvCxnSpPr>
            <a:stCxn id="136" idx="2"/>
            <a:endCxn id="134" idx="0"/>
          </p:cNvCxnSpPr>
          <p:nvPr/>
        </p:nvCxnSpPr>
        <p:spPr>
          <a:xfrm flipH="1">
            <a:off x="6303710" y="6263396"/>
            <a:ext cx="5" cy="16749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8" name="流程图: 终止 137"/>
          <p:cNvSpPr/>
          <p:nvPr/>
        </p:nvSpPr>
        <p:spPr>
          <a:xfrm>
            <a:off x="4081336" y="4066808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39" name="直接箭头连接符 138"/>
          <p:cNvCxnSpPr>
            <a:stCxn id="145" idx="2"/>
            <a:endCxn id="140" idx="0"/>
          </p:cNvCxnSpPr>
          <p:nvPr/>
        </p:nvCxnSpPr>
        <p:spPr>
          <a:xfrm flipH="1">
            <a:off x="4563046" y="4813511"/>
            <a:ext cx="21" cy="19362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0" name="矩形 139"/>
          <p:cNvSpPr/>
          <p:nvPr/>
        </p:nvSpPr>
        <p:spPr>
          <a:xfrm>
            <a:off x="3764751" y="5007135"/>
            <a:ext cx="1596590" cy="282464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42" name="直接箭头连接符 141"/>
          <p:cNvCxnSpPr>
            <a:stCxn id="140" idx="2"/>
            <a:endCxn id="143" idx="0"/>
          </p:cNvCxnSpPr>
          <p:nvPr/>
        </p:nvCxnSpPr>
        <p:spPr>
          <a:xfrm flipH="1">
            <a:off x="4563045" y="5289599"/>
            <a:ext cx="1" cy="196778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3" name="矩形 142"/>
          <p:cNvSpPr/>
          <p:nvPr/>
        </p:nvSpPr>
        <p:spPr>
          <a:xfrm>
            <a:off x="3764750" y="5486377"/>
            <a:ext cx="1596590" cy="282463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执行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dian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44" name="直接箭头连接符 143"/>
          <p:cNvCxnSpPr>
            <a:stCxn id="138" idx="2"/>
            <a:endCxn id="145" idx="0"/>
          </p:cNvCxnSpPr>
          <p:nvPr/>
        </p:nvCxnSpPr>
        <p:spPr>
          <a:xfrm>
            <a:off x="4563027" y="4355161"/>
            <a:ext cx="40" cy="17588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5" name="矩形 144"/>
          <p:cNvSpPr/>
          <p:nvPr/>
        </p:nvSpPr>
        <p:spPr>
          <a:xfrm>
            <a:off x="3764751" y="4531048"/>
            <a:ext cx="1596632" cy="282463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执行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dian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3764749" y="6441706"/>
            <a:ext cx="1596557" cy="28241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执行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dian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49" name="直接箭头连接符 148"/>
          <p:cNvCxnSpPr>
            <a:stCxn id="143" idx="2"/>
            <a:endCxn id="150" idx="0"/>
          </p:cNvCxnSpPr>
          <p:nvPr/>
        </p:nvCxnSpPr>
        <p:spPr>
          <a:xfrm flipH="1">
            <a:off x="4563032" y="5768840"/>
            <a:ext cx="13" cy="19682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0" name="矩形 149"/>
          <p:cNvSpPr/>
          <p:nvPr/>
        </p:nvSpPr>
        <p:spPr>
          <a:xfrm>
            <a:off x="3764749" y="5965665"/>
            <a:ext cx="1596565" cy="28241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/>
          </a:p>
        </p:txBody>
      </p:sp>
      <p:cxnSp>
        <p:nvCxnSpPr>
          <p:cNvPr id="151" name="直接箭头连接符 150"/>
          <p:cNvCxnSpPr>
            <a:stCxn id="150" idx="2"/>
            <a:endCxn id="148" idx="0"/>
          </p:cNvCxnSpPr>
          <p:nvPr/>
        </p:nvCxnSpPr>
        <p:spPr>
          <a:xfrm flipH="1">
            <a:off x="4563028" y="6248083"/>
            <a:ext cx="4" cy="193623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2" name="流程图: 终止 151"/>
          <p:cNvSpPr/>
          <p:nvPr/>
        </p:nvSpPr>
        <p:spPr>
          <a:xfrm>
            <a:off x="521413" y="4064820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dian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53" name="直接箭头连接符 152"/>
          <p:cNvCxnSpPr>
            <a:stCxn id="158" idx="2"/>
            <a:endCxn id="154" idx="0"/>
          </p:cNvCxnSpPr>
          <p:nvPr/>
        </p:nvCxnSpPr>
        <p:spPr>
          <a:xfrm flipH="1">
            <a:off x="1008593" y="4830928"/>
            <a:ext cx="1" cy="167316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4" name="矩形 153"/>
          <p:cNvSpPr/>
          <p:nvPr/>
        </p:nvSpPr>
        <p:spPr>
          <a:xfrm>
            <a:off x="210266" y="4998244"/>
            <a:ext cx="1596653" cy="30245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55" name="直接箭头连接符 154"/>
          <p:cNvCxnSpPr>
            <a:stCxn id="154" idx="2"/>
            <a:endCxn id="156" idx="0"/>
          </p:cNvCxnSpPr>
          <p:nvPr/>
        </p:nvCxnSpPr>
        <p:spPr>
          <a:xfrm flipH="1">
            <a:off x="1008589" y="5300702"/>
            <a:ext cx="4" cy="17678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6" name="矩形 155"/>
          <p:cNvSpPr/>
          <p:nvPr/>
        </p:nvSpPr>
        <p:spPr>
          <a:xfrm>
            <a:off x="210266" y="5477487"/>
            <a:ext cx="1596646" cy="30245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管脚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灯灭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57" name="直接箭头连接符 156"/>
          <p:cNvCxnSpPr>
            <a:stCxn id="152" idx="2"/>
            <a:endCxn id="158" idx="0"/>
          </p:cNvCxnSpPr>
          <p:nvPr/>
        </p:nvCxnSpPr>
        <p:spPr>
          <a:xfrm>
            <a:off x="1003104" y="4353173"/>
            <a:ext cx="5490" cy="16898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8" name="矩形 157"/>
          <p:cNvSpPr/>
          <p:nvPr/>
        </p:nvSpPr>
        <p:spPr>
          <a:xfrm>
            <a:off x="210267" y="4522158"/>
            <a:ext cx="1596654" cy="30877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管脚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灯亮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0" name="流程图: 终止 169"/>
          <p:cNvSpPr/>
          <p:nvPr/>
        </p:nvSpPr>
        <p:spPr>
          <a:xfrm>
            <a:off x="2349861" y="4063268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heng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71" name="直接箭头连接符 170"/>
          <p:cNvCxnSpPr>
            <a:stCxn id="176" idx="2"/>
            <a:endCxn id="172" idx="0"/>
          </p:cNvCxnSpPr>
          <p:nvPr/>
        </p:nvCxnSpPr>
        <p:spPr>
          <a:xfrm flipH="1">
            <a:off x="2837041" y="4829376"/>
            <a:ext cx="1" cy="167316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2" name="矩形 171"/>
          <p:cNvSpPr/>
          <p:nvPr/>
        </p:nvSpPr>
        <p:spPr>
          <a:xfrm>
            <a:off x="2038714" y="4996692"/>
            <a:ext cx="1596653" cy="30245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延时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900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毫秒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73" name="直接箭头连接符 172"/>
          <p:cNvCxnSpPr>
            <a:stCxn id="172" idx="2"/>
            <a:endCxn id="174" idx="0"/>
          </p:cNvCxnSpPr>
          <p:nvPr/>
        </p:nvCxnSpPr>
        <p:spPr>
          <a:xfrm flipH="1">
            <a:off x="2837037" y="5299150"/>
            <a:ext cx="4" cy="17678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4" name="矩形 173"/>
          <p:cNvSpPr/>
          <p:nvPr/>
        </p:nvSpPr>
        <p:spPr>
          <a:xfrm>
            <a:off x="2038714" y="5475935"/>
            <a:ext cx="1596646" cy="30245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管脚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灯灭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75" name="直接箭头连接符 174"/>
          <p:cNvCxnSpPr>
            <a:stCxn id="170" idx="2"/>
            <a:endCxn id="176" idx="0"/>
          </p:cNvCxnSpPr>
          <p:nvPr/>
        </p:nvCxnSpPr>
        <p:spPr>
          <a:xfrm>
            <a:off x="2831552" y="4351621"/>
            <a:ext cx="5490" cy="16898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6" name="矩形 175"/>
          <p:cNvSpPr/>
          <p:nvPr/>
        </p:nvSpPr>
        <p:spPr>
          <a:xfrm>
            <a:off x="2038715" y="4520606"/>
            <a:ext cx="1596654" cy="308770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管脚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灯亮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8" name="直接箭头连接符 67"/>
          <p:cNvCxnSpPr>
            <a:stCxn id="56" idx="2"/>
            <a:endCxn id="69" idx="0"/>
          </p:cNvCxnSpPr>
          <p:nvPr/>
        </p:nvCxnSpPr>
        <p:spPr>
          <a:xfrm>
            <a:off x="3724652" y="1871094"/>
            <a:ext cx="0" cy="14165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2487543" y="2012749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读取按键值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6" grpId="0" animBg="1"/>
      <p:bldP spid="64" grpId="0" animBg="1"/>
      <p:bldP spid="70" grpId="0" animBg="1"/>
      <p:bldP spid="73" grpId="0" animBg="1"/>
      <p:bldP spid="74" grpId="0"/>
      <p:bldP spid="76" grpId="0"/>
      <p:bldP spid="29" grpId="0" animBg="1"/>
      <p:bldP spid="31" grpId="0" animBg="1"/>
      <p:bldP spid="33" grpId="0" animBg="1"/>
      <p:bldP spid="35" grpId="0" animBg="1"/>
      <p:bldP spid="38" grpId="0" animBg="1"/>
      <p:bldP spid="44" grpId="0" animBg="1"/>
      <p:bldP spid="46" grpId="0" animBg="1"/>
      <p:bldP spid="58" grpId="0" animBg="1"/>
      <p:bldP spid="125" grpId="0" animBg="1"/>
      <p:bldP spid="127" grpId="0" animBg="1"/>
      <p:bldP spid="129" grpId="0" animBg="1"/>
      <p:bldP spid="131" grpId="0" animBg="1"/>
      <p:bldP spid="134" grpId="0" animBg="1"/>
      <p:bldP spid="136" grpId="0" animBg="1"/>
      <p:bldP spid="138" grpId="0" animBg="1"/>
      <p:bldP spid="140" grpId="0" animBg="1"/>
      <p:bldP spid="143" grpId="0" animBg="1"/>
      <p:bldP spid="145" grpId="0" animBg="1"/>
      <p:bldP spid="148" grpId="0" animBg="1"/>
      <p:bldP spid="150" grpId="0" animBg="1"/>
      <p:bldP spid="152" grpId="0" animBg="1"/>
      <p:bldP spid="154" grpId="0" animBg="1"/>
      <p:bldP spid="156" grpId="0" animBg="1"/>
      <p:bldP spid="158" grpId="0" animBg="1"/>
      <p:bldP spid="170" grpId="0" animBg="1"/>
      <p:bldP spid="172" grpId="0" animBg="1"/>
      <p:bldP spid="174" grpId="0" animBg="1"/>
      <p:bldP spid="176" grpId="0" animBg="1"/>
      <p:bldP spid="6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SOS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指示灯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(21.12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2734" y="1097356"/>
            <a:ext cx="8875854" cy="384381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红外遥控门锁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(22.03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所需器件：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主控板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块，</a:t>
            </a:r>
            <a:r>
              <a:rPr lang="en-US" altLang="zh-CN" sz="2200" dirty="0"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个，</a:t>
            </a:r>
            <a:r>
              <a:rPr lang="en-US" altLang="zh-CN" sz="2200" dirty="0"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灯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个，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红外接收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个，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舵机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个，以上模块也可使用分立器件结合面包板搭建。</a:t>
            </a:r>
            <a:endParaRPr lang="zh-CN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舵机处于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45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度位置时，表示门锁处于关闭状态；当舵机处于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135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度位置时，表示门锁处于打开状态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门锁处于关闭状态时，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点亮，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熄灭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门锁处于打开状态时，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熄灭，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点亮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当项目装置启动时，门锁默认处于关闭状态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5.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点击红外遥控器的“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”键时，门锁打开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6.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点击红外遥控器的“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”键时，门锁关闭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。 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7.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当点击红外遥控的其它按键时，门锁不做反应，此时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LED_A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LED_B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均点亮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根据上述要求，绘制流程图。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9.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未作规定处可自行处理，无明显与事实违背即可。</a:t>
            </a:r>
            <a:endParaRPr lang="zh-CN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 71"/>
          <p:cNvSpPr txBox="1"/>
          <p:nvPr/>
        </p:nvSpPr>
        <p:spPr>
          <a:xfrm>
            <a:off x="251520" y="620688"/>
            <a:ext cx="1387935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红外遥控门锁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(22.03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流程图: 终止 27"/>
          <p:cNvSpPr/>
          <p:nvPr/>
        </p:nvSpPr>
        <p:spPr>
          <a:xfrm>
            <a:off x="2986712" y="1196752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9" name="直接箭头连接符 28"/>
          <p:cNvCxnSpPr>
            <a:stCxn id="34" idx="2"/>
            <a:endCxn id="30" idx="0"/>
          </p:cNvCxnSpPr>
          <p:nvPr/>
        </p:nvCxnSpPr>
        <p:spPr>
          <a:xfrm flipH="1">
            <a:off x="3468403" y="2060848"/>
            <a:ext cx="2326" cy="233470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883861" y="2294318"/>
            <a:ext cx="3169083" cy="55861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初始化引脚状态、串口、红外遥控、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灯状态、舵机角度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1" name="直接箭头连接符 30"/>
          <p:cNvCxnSpPr>
            <a:stCxn id="30" idx="2"/>
            <a:endCxn id="32" idx="0"/>
          </p:cNvCxnSpPr>
          <p:nvPr/>
        </p:nvCxnSpPr>
        <p:spPr>
          <a:xfrm>
            <a:off x="3468403" y="2852936"/>
            <a:ext cx="1163" cy="29006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2232457" y="3143003"/>
            <a:ext cx="2474217" cy="28599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获取红外按键值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3" name="直接箭头连接符 32"/>
          <p:cNvCxnSpPr>
            <a:stCxn id="28" idx="2"/>
            <a:endCxn id="34" idx="0"/>
          </p:cNvCxnSpPr>
          <p:nvPr/>
        </p:nvCxnSpPr>
        <p:spPr>
          <a:xfrm>
            <a:off x="3468403" y="1485105"/>
            <a:ext cx="2326" cy="273286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1547664" y="1758391"/>
            <a:ext cx="3846129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定义引脚、变量、红外和舵机库对象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5" name="直接箭头连接符 34"/>
          <p:cNvCxnSpPr>
            <a:stCxn id="32" idx="2"/>
            <a:endCxn id="36" idx="0"/>
          </p:cNvCxnSpPr>
          <p:nvPr/>
        </p:nvCxnSpPr>
        <p:spPr>
          <a:xfrm flipH="1">
            <a:off x="3468402" y="3429000"/>
            <a:ext cx="1164" cy="278740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流程图: 决策 35"/>
          <p:cNvSpPr/>
          <p:nvPr/>
        </p:nvSpPr>
        <p:spPr>
          <a:xfrm>
            <a:off x="2469329" y="3707740"/>
            <a:ext cx="1998146" cy="369332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按键为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7" name="TextBox 13"/>
          <p:cNvSpPr txBox="1"/>
          <p:nvPr/>
        </p:nvSpPr>
        <p:spPr>
          <a:xfrm>
            <a:off x="4355043" y="3563724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8" name="TextBox 14"/>
          <p:cNvSpPr txBox="1"/>
          <p:nvPr/>
        </p:nvSpPr>
        <p:spPr>
          <a:xfrm>
            <a:off x="3436624" y="4031921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9" name="直接箭头连接符 14"/>
          <p:cNvCxnSpPr>
            <a:stCxn id="48" idx="2"/>
          </p:cNvCxnSpPr>
          <p:nvPr/>
        </p:nvCxnSpPr>
        <p:spPr>
          <a:xfrm rot="5400000" flipH="1">
            <a:off x="2301576" y="4137052"/>
            <a:ext cx="2326976" cy="1336"/>
          </a:xfrm>
          <a:prstGeom prst="bentConnector4">
            <a:avLst>
              <a:gd name="adj1" fmla="val -9824"/>
              <a:gd name="adj2" fmla="val -279852994"/>
            </a:avLst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4861435" y="3617027"/>
            <a:ext cx="2130990" cy="55861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LEDA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亮、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灭、舵机旋转至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135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度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流程图: 决策 40"/>
          <p:cNvSpPr/>
          <p:nvPr/>
        </p:nvSpPr>
        <p:spPr>
          <a:xfrm>
            <a:off x="2472936" y="4355812"/>
            <a:ext cx="1997419" cy="369332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按键为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2" name="TextBox 13"/>
          <p:cNvSpPr txBox="1"/>
          <p:nvPr/>
        </p:nvSpPr>
        <p:spPr>
          <a:xfrm>
            <a:off x="4354317" y="4211796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3" name="TextBox 14"/>
          <p:cNvSpPr txBox="1"/>
          <p:nvPr/>
        </p:nvSpPr>
        <p:spPr>
          <a:xfrm>
            <a:off x="3435898" y="4643844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856888" y="4261169"/>
            <a:ext cx="2141448" cy="55861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LEDA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灭、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亮、舵机旋转至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度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2374232" y="4998751"/>
            <a:ext cx="2183000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LEDA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亮、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LED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亮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9" name="直接连接符 48"/>
          <p:cNvCxnSpPr>
            <a:stCxn id="41" idx="2"/>
            <a:endCxn id="48" idx="0"/>
          </p:cNvCxnSpPr>
          <p:nvPr/>
        </p:nvCxnSpPr>
        <p:spPr>
          <a:xfrm flipH="1">
            <a:off x="3465732" y="4725144"/>
            <a:ext cx="5914" cy="273607"/>
          </a:xfrm>
          <a:prstGeom prst="line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41" idx="3"/>
            <a:endCxn id="44" idx="1"/>
          </p:cNvCxnSpPr>
          <p:nvPr/>
        </p:nvCxnSpPr>
        <p:spPr>
          <a:xfrm>
            <a:off x="4470355" y="4540478"/>
            <a:ext cx="386533" cy="0"/>
          </a:xfrm>
          <a:prstGeom prst="line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36" idx="3"/>
            <a:endCxn id="40" idx="1"/>
          </p:cNvCxnSpPr>
          <p:nvPr/>
        </p:nvCxnSpPr>
        <p:spPr>
          <a:xfrm>
            <a:off x="4467475" y="3892406"/>
            <a:ext cx="393960" cy="3930"/>
          </a:xfrm>
          <a:prstGeom prst="line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stCxn id="36" idx="2"/>
            <a:endCxn id="41" idx="0"/>
          </p:cNvCxnSpPr>
          <p:nvPr/>
        </p:nvCxnSpPr>
        <p:spPr>
          <a:xfrm>
            <a:off x="3468402" y="4077072"/>
            <a:ext cx="3244" cy="278740"/>
          </a:xfrm>
          <a:prstGeom prst="line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>
            <a:stCxn id="40" idx="3"/>
          </p:cNvCxnSpPr>
          <p:nvPr/>
        </p:nvCxnSpPr>
        <p:spPr>
          <a:xfrm>
            <a:off x="6992425" y="3896336"/>
            <a:ext cx="20241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44" idx="3"/>
          </p:cNvCxnSpPr>
          <p:nvPr/>
        </p:nvCxnSpPr>
        <p:spPr>
          <a:xfrm>
            <a:off x="6998336" y="4540478"/>
            <a:ext cx="196501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2" grpId="0" animBg="1"/>
      <p:bldP spid="34" grpId="0" animBg="1"/>
      <p:bldP spid="36" grpId="0" animBg="1"/>
      <p:bldP spid="37" grpId="0"/>
      <p:bldP spid="38" grpId="0"/>
      <p:bldP spid="40" grpId="0" animBg="1"/>
      <p:bldP spid="41" grpId="0" animBg="1"/>
      <p:bldP spid="42" grpId="0"/>
      <p:bldP spid="43" grpId="0"/>
      <p:bldP spid="44" grpId="0" animBg="1"/>
      <p:bldP spid="4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红外遥控门锁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(22.03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647" y="685692"/>
            <a:ext cx="3390771" cy="603426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超声波测距</a:t>
            </a:r>
            <a:r>
              <a:rPr lang="en-US" altLang="zh-CN" sz="280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(22.06</a:t>
            </a:r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520" y="620688"/>
            <a:ext cx="871296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    所需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器件：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控制板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个，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灯模块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个，超声波传感器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个，结构件若干（也可使用普通电子元器件结合面包板搭建）。</a:t>
            </a:r>
            <a:endParaRPr lang="zh-CN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本项目由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灯，超声波传感器组成；</a:t>
            </a:r>
            <a:endParaRPr lang="zh-CN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当障碍物距离超声波传感器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30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厘米以外时，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盏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灯处于熄灭状态；</a:t>
            </a:r>
            <a:endParaRPr lang="zh-CN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当障碍物与超声波传感器波距离逐渐接近时，随着距离的接近，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盏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灯被依次点亮（距离值由考生自行决定）；</a:t>
            </a:r>
            <a:endParaRPr lang="zh-CN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要求每盏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灯被点亮时有一个渐变的过程，如第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盏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灯从熄灭逐渐变为最亮之后，第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盏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灯才开始逐渐点亮，依次类推，全部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灯都被点亮；</a:t>
            </a:r>
            <a:endParaRPr lang="zh-CN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5.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当障碍物与超声波传感器距离逐渐远离时，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盏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灯被依次熄灭；</a:t>
            </a:r>
            <a:endParaRPr lang="zh-CN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6.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要求每盏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灯被熄灭时有一个渐变的过程，如第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盏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灯从最亮逐渐熄灭之后，第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盏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灯才开始被逐渐熄灭，依次类推，全部</a:t>
            </a:r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灯都被熄灭；</a:t>
            </a:r>
            <a:endParaRPr lang="zh-CN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7.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可使用任意结构件搭建；</a:t>
            </a:r>
            <a:endParaRPr lang="zh-CN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8.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根据要求绘制流程图；</a:t>
            </a:r>
            <a:endParaRPr lang="zh-CN" altLang="zh-CN" sz="22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9.</a:t>
            </a:r>
            <a:r>
              <a:rPr lang="zh-CN" altLang="zh-CN" sz="2200">
                <a:latin typeface="楷体" panose="02010609060101010101" pitchFamily="49" charset="-122"/>
                <a:ea typeface="楷体" panose="02010609060101010101" pitchFamily="49" charset="-122"/>
              </a:rPr>
              <a:t>未作规定处可自行处理，无明显与事实违背即可</a:t>
            </a:r>
            <a:r>
              <a:rPr lang="zh-CN" altLang="en-US" sz="220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 71"/>
          <p:cNvSpPr txBox="1"/>
          <p:nvPr/>
        </p:nvSpPr>
        <p:spPr>
          <a:xfrm>
            <a:off x="251520" y="620688"/>
            <a:ext cx="1387935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流程图：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超声波测距</a:t>
            </a:r>
            <a:r>
              <a:rPr lang="en-US" altLang="zh-CN" sz="280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(22.06</a:t>
            </a:r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6" name="流程图: 终止 45"/>
          <p:cNvSpPr/>
          <p:nvPr/>
        </p:nvSpPr>
        <p:spPr>
          <a:xfrm>
            <a:off x="2379453" y="889999"/>
            <a:ext cx="963382" cy="288353"/>
          </a:xfrm>
          <a:prstGeom prst="flowChartTerminator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开始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7" name="直接箭头连接符 46"/>
          <p:cNvCxnSpPr>
            <a:stCxn id="57" idx="2"/>
            <a:endCxn id="52" idx="0"/>
          </p:cNvCxnSpPr>
          <p:nvPr/>
        </p:nvCxnSpPr>
        <p:spPr>
          <a:xfrm>
            <a:off x="2861143" y="1684918"/>
            <a:ext cx="0" cy="207738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1624034" y="1892656"/>
            <a:ext cx="2474217" cy="27586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初始化引脚及串口参数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4" name="直接箭头连接符 53"/>
          <p:cNvCxnSpPr>
            <a:stCxn id="52" idx="2"/>
            <a:endCxn id="55" idx="0"/>
          </p:cNvCxnSpPr>
          <p:nvPr/>
        </p:nvCxnSpPr>
        <p:spPr>
          <a:xfrm flipH="1">
            <a:off x="2861140" y="2168523"/>
            <a:ext cx="3" cy="19828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1115616" y="2366812"/>
            <a:ext cx="3491048" cy="27586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读取超声检测值打印并自动换行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6" name="直接箭头连接符 55"/>
          <p:cNvCxnSpPr>
            <a:stCxn id="46" idx="2"/>
            <a:endCxn id="57" idx="0"/>
          </p:cNvCxnSpPr>
          <p:nvPr/>
        </p:nvCxnSpPr>
        <p:spPr>
          <a:xfrm flipH="1">
            <a:off x="2861143" y="1178352"/>
            <a:ext cx="1" cy="204109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1624034" y="1382461"/>
            <a:ext cx="2474217" cy="302457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定义引脚及变量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1" name="肘形连接符 12295"/>
          <p:cNvCxnSpPr>
            <a:stCxn id="83" idx="2"/>
          </p:cNvCxnSpPr>
          <p:nvPr/>
        </p:nvCxnSpPr>
        <p:spPr>
          <a:xfrm rot="5400000" flipH="1" flipV="1">
            <a:off x="1124031" y="3986028"/>
            <a:ext cx="3498307" cy="8031"/>
          </a:xfrm>
          <a:prstGeom prst="bentConnector4">
            <a:avLst>
              <a:gd name="adj1" fmla="val -6535"/>
              <a:gd name="adj2" fmla="val 64550479"/>
            </a:avLst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63" idx="3"/>
          </p:cNvCxnSpPr>
          <p:nvPr/>
        </p:nvCxnSpPr>
        <p:spPr>
          <a:xfrm flipV="1">
            <a:off x="7140006" y="3070334"/>
            <a:ext cx="924641" cy="1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4403704" y="2932400"/>
            <a:ext cx="2736302" cy="275869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灯全灭</a:t>
            </a:r>
            <a:endParaRPr lang="zh-CN" altLang="en-US" dirty="0"/>
          </a:p>
        </p:txBody>
      </p:sp>
      <p:sp>
        <p:nvSpPr>
          <p:cNvPr id="64" name="流程图: 决策 63"/>
          <p:cNvSpPr/>
          <p:nvPr/>
        </p:nvSpPr>
        <p:spPr>
          <a:xfrm>
            <a:off x="1661612" y="2867985"/>
            <a:ext cx="2399055" cy="405075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超声波值</a:t>
            </a:r>
            <a:r>
              <a:rPr lang="en-US" altLang="zh-CN" sz="1400">
                <a:latin typeface="楷体" panose="02010609060101010101" pitchFamily="49" charset="-122"/>
                <a:ea typeface="楷体" panose="02010609060101010101" pitchFamily="49" charset="-122"/>
              </a:rPr>
              <a:t>&gt;30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5" name="TextBox 13"/>
          <p:cNvSpPr txBox="1"/>
          <p:nvPr/>
        </p:nvSpPr>
        <p:spPr>
          <a:xfrm>
            <a:off x="3979224" y="2744692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6" name="TextBox 14"/>
          <p:cNvSpPr txBox="1"/>
          <p:nvPr/>
        </p:nvSpPr>
        <p:spPr>
          <a:xfrm>
            <a:off x="2869169" y="3209185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7" name="直接箭头连接符 66"/>
          <p:cNvCxnSpPr>
            <a:stCxn id="64" idx="3"/>
            <a:endCxn id="63" idx="1"/>
          </p:cNvCxnSpPr>
          <p:nvPr/>
        </p:nvCxnSpPr>
        <p:spPr>
          <a:xfrm flipV="1">
            <a:off x="4060667" y="3070335"/>
            <a:ext cx="343037" cy="188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64" idx="2"/>
            <a:endCxn id="70" idx="0"/>
          </p:cNvCxnSpPr>
          <p:nvPr/>
        </p:nvCxnSpPr>
        <p:spPr>
          <a:xfrm flipH="1">
            <a:off x="2861139" y="3273060"/>
            <a:ext cx="1" cy="235484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4403703" y="3508544"/>
            <a:ext cx="3435712" cy="560208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映射超声波值从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30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255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设为引脚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灯亮度，引脚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灯灭</a:t>
            </a:r>
            <a:endParaRPr lang="zh-CN" altLang="en-US" dirty="0"/>
          </a:p>
        </p:txBody>
      </p:sp>
      <p:sp>
        <p:nvSpPr>
          <p:cNvPr id="70" name="流程图: 决策 69"/>
          <p:cNvSpPr/>
          <p:nvPr/>
        </p:nvSpPr>
        <p:spPr>
          <a:xfrm>
            <a:off x="1661611" y="3508544"/>
            <a:ext cx="2399055" cy="565578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超声波值</a:t>
            </a:r>
            <a:r>
              <a:rPr lang="en-US" altLang="zh-CN" sz="1400">
                <a:latin typeface="楷体" panose="02010609060101010101" pitchFamily="49" charset="-122"/>
                <a:ea typeface="楷体" panose="02010609060101010101" pitchFamily="49" charset="-122"/>
              </a:rPr>
              <a:t>&gt;20</a:t>
            </a:r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1" name="TextBox 13"/>
          <p:cNvSpPr txBox="1"/>
          <p:nvPr/>
        </p:nvSpPr>
        <p:spPr>
          <a:xfrm>
            <a:off x="3979223" y="3422000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TextBox 14"/>
          <p:cNvSpPr txBox="1"/>
          <p:nvPr/>
        </p:nvSpPr>
        <p:spPr>
          <a:xfrm>
            <a:off x="2869170" y="4016189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4" name="直接箭头连接符 73"/>
          <p:cNvCxnSpPr>
            <a:stCxn id="70" idx="3"/>
            <a:endCxn id="69" idx="1"/>
          </p:cNvCxnSpPr>
          <p:nvPr/>
        </p:nvCxnSpPr>
        <p:spPr>
          <a:xfrm flipV="1">
            <a:off x="4060666" y="3788648"/>
            <a:ext cx="343037" cy="268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stCxn id="70" idx="2"/>
            <a:endCxn id="77" idx="0"/>
          </p:cNvCxnSpPr>
          <p:nvPr/>
        </p:nvCxnSpPr>
        <p:spPr>
          <a:xfrm>
            <a:off x="2861139" y="4074122"/>
            <a:ext cx="0" cy="241737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4400925" y="4201895"/>
            <a:ext cx="3435712" cy="764173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映射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超声波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值从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255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设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为引脚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灯亮度，引脚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灯亮度设为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255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，引脚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灯灭</a:t>
            </a:r>
            <a:endParaRPr lang="zh-CN" altLang="en-US" dirty="0"/>
          </a:p>
        </p:txBody>
      </p:sp>
      <p:sp>
        <p:nvSpPr>
          <p:cNvPr id="77" name="流程图: 决策 76"/>
          <p:cNvSpPr/>
          <p:nvPr/>
        </p:nvSpPr>
        <p:spPr>
          <a:xfrm>
            <a:off x="1661611" y="4315859"/>
            <a:ext cx="2399055" cy="565578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超声波值</a:t>
            </a:r>
            <a:r>
              <a:rPr lang="en-US" altLang="zh-CN" sz="1400">
                <a:latin typeface="楷体" panose="02010609060101010101" pitchFamily="49" charset="-122"/>
                <a:ea typeface="楷体" panose="02010609060101010101" pitchFamily="49" charset="-122"/>
              </a:rPr>
              <a:t>&gt;10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8" name="TextBox 13"/>
          <p:cNvSpPr txBox="1"/>
          <p:nvPr/>
        </p:nvSpPr>
        <p:spPr>
          <a:xfrm>
            <a:off x="3979223" y="4229315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9" name="TextBox 14"/>
          <p:cNvSpPr txBox="1"/>
          <p:nvPr/>
        </p:nvSpPr>
        <p:spPr>
          <a:xfrm>
            <a:off x="2877201" y="4869324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0" name="直接箭头连接符 79"/>
          <p:cNvCxnSpPr>
            <a:stCxn id="77" idx="3"/>
          </p:cNvCxnSpPr>
          <p:nvPr/>
        </p:nvCxnSpPr>
        <p:spPr>
          <a:xfrm>
            <a:off x="4060666" y="4598648"/>
            <a:ext cx="343036" cy="4551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stCxn id="77" idx="2"/>
            <a:endCxn id="83" idx="0"/>
          </p:cNvCxnSpPr>
          <p:nvPr/>
        </p:nvCxnSpPr>
        <p:spPr>
          <a:xfrm>
            <a:off x="2861139" y="4881437"/>
            <a:ext cx="8031" cy="292182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4408597" y="5073298"/>
            <a:ext cx="3435711" cy="764173"/>
          </a:xfrm>
          <a:prstGeom prst="rect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映射超声波值从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255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设为引脚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灯亮度，引脚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灯亮度设为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255</a:t>
            </a:r>
            <a:endParaRPr lang="zh-CN" altLang="en-US" dirty="0"/>
          </a:p>
        </p:txBody>
      </p:sp>
      <p:sp>
        <p:nvSpPr>
          <p:cNvPr id="83" name="流程图: 决策 82"/>
          <p:cNvSpPr/>
          <p:nvPr/>
        </p:nvSpPr>
        <p:spPr>
          <a:xfrm>
            <a:off x="1669642" y="5173619"/>
            <a:ext cx="2399055" cy="565578"/>
          </a:xfrm>
          <a:prstGeom prst="flowChartDecision">
            <a:avLst/>
          </a:prstGeom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超声波值</a:t>
            </a:r>
            <a:r>
              <a:rPr lang="en-US" altLang="zh-CN" sz="1400">
                <a:latin typeface="楷体" panose="02010609060101010101" pitchFamily="49" charset="-122"/>
                <a:ea typeface="楷体" panose="02010609060101010101" pitchFamily="49" charset="-122"/>
              </a:rPr>
              <a:t>&gt;3</a:t>
            </a:r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4" name="TextBox 13"/>
          <p:cNvSpPr txBox="1"/>
          <p:nvPr/>
        </p:nvSpPr>
        <p:spPr>
          <a:xfrm>
            <a:off x="3987254" y="5087075"/>
            <a:ext cx="360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6" name="直接箭头连接符 85"/>
          <p:cNvCxnSpPr>
            <a:stCxn id="83" idx="3"/>
            <a:endCxn id="82" idx="1"/>
          </p:cNvCxnSpPr>
          <p:nvPr/>
        </p:nvCxnSpPr>
        <p:spPr>
          <a:xfrm flipV="1">
            <a:off x="4068697" y="5455385"/>
            <a:ext cx="339900" cy="1023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>
            <a:stCxn id="69" idx="3"/>
          </p:cNvCxnSpPr>
          <p:nvPr/>
        </p:nvCxnSpPr>
        <p:spPr>
          <a:xfrm>
            <a:off x="7839415" y="3788648"/>
            <a:ext cx="225893" cy="0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 flipV="1">
            <a:off x="7839414" y="4598647"/>
            <a:ext cx="225233" cy="4552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stCxn id="82" idx="3"/>
          </p:cNvCxnSpPr>
          <p:nvPr/>
        </p:nvCxnSpPr>
        <p:spPr>
          <a:xfrm>
            <a:off x="7844308" y="5455385"/>
            <a:ext cx="220339" cy="3708"/>
          </a:xfrm>
          <a:prstGeom prst="straightConnector1">
            <a:avLst/>
          </a:prstGeom>
          <a:ln w="22225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TextBox 14"/>
          <p:cNvSpPr txBox="1"/>
          <p:nvPr/>
        </p:nvSpPr>
        <p:spPr>
          <a:xfrm>
            <a:off x="2877201" y="5651956"/>
            <a:ext cx="35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否</a:t>
            </a:r>
            <a:endParaRPr lang="zh-CN" altLang="en-US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8" name="直接箭头连接符 97"/>
          <p:cNvCxnSpPr>
            <a:stCxn id="55" idx="2"/>
            <a:endCxn id="64" idx="0"/>
          </p:cNvCxnSpPr>
          <p:nvPr/>
        </p:nvCxnSpPr>
        <p:spPr>
          <a:xfrm>
            <a:off x="2861140" y="2642680"/>
            <a:ext cx="0" cy="225305"/>
          </a:xfrm>
          <a:prstGeom prst="straightConnector1">
            <a:avLst/>
          </a:prstGeom>
          <a:ln w="2222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2" grpId="0" animBg="1"/>
      <p:bldP spid="55" grpId="0" animBg="1"/>
      <p:bldP spid="57" grpId="0" animBg="1"/>
      <p:bldP spid="63" grpId="0" animBg="1"/>
      <p:bldP spid="64" grpId="0" animBg="1"/>
      <p:bldP spid="65" grpId="0"/>
      <p:bldP spid="66" grpId="0"/>
      <p:bldP spid="69" grpId="0" animBg="1"/>
      <p:bldP spid="70" grpId="0" animBg="1"/>
      <p:bldP spid="71" grpId="0"/>
      <p:bldP spid="73" grpId="0"/>
      <p:bldP spid="76" grpId="0" animBg="1"/>
      <p:bldP spid="77" grpId="0" animBg="1"/>
      <p:bldP spid="78" grpId="0"/>
      <p:bldP spid="79" grpId="0"/>
      <p:bldP spid="82" grpId="0" animBg="1"/>
      <p:bldP spid="83" grpId="0" animBg="1"/>
      <p:bldP spid="84" grpId="0"/>
      <p:bldP spid="9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51520" y="620688"/>
            <a:ext cx="8712967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超声波测距</a:t>
            </a:r>
            <a:r>
              <a:rPr lang="en-US" altLang="zh-CN" sz="280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(22.06</a:t>
            </a:r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143" y="1029706"/>
            <a:ext cx="7941297" cy="571166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9512" y="116632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课后任务</a:t>
            </a:r>
            <a:endParaRPr lang="zh-CN" altLang="en-US" sz="28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0" y="620688"/>
            <a:ext cx="8712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复习本节思考题，下节课（课前复习）将提问。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练习本节课所学任务的流程图画法和程序的编写（拍照片或视频发到微信考级群）。</a:t>
            </a:r>
            <a:endParaRPr lang="zh-CN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WQ0YTlkMWQxYTgyMmM0NWI5YjBjZmIzN2UzNzU1NjMifQ=="/>
  <p:tag name="KSO_WPP_MARK_KEY" val="cedcd468-072b-4bd0-be1a-4b61305a7cc0"/>
</p:tagLst>
</file>

<file path=ppt/theme/theme1.xml><?xml version="1.0" encoding="utf-8"?>
<a:theme xmlns:a="http://schemas.openxmlformats.org/drawingml/2006/main" name="何老师设计9岁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9049</Words>
  <Application>WPS 演示</Application>
  <PresentationFormat>全屏显示(4:3)</PresentationFormat>
  <Paragraphs>949</Paragraphs>
  <Slides>55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5" baseType="lpstr">
      <vt:lpstr>Arial</vt:lpstr>
      <vt:lpstr>宋体</vt:lpstr>
      <vt:lpstr>Wingdings</vt:lpstr>
      <vt:lpstr>楷体</vt:lpstr>
      <vt:lpstr>Calibri</vt:lpstr>
      <vt:lpstr>微软雅黑</vt:lpstr>
      <vt:lpstr>Arial Unicode MS</vt:lpstr>
      <vt:lpstr>等线</vt:lpstr>
      <vt:lpstr>华文中宋</vt:lpstr>
      <vt:lpstr>何老师设计9岁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课前准备</dc:title>
  <dc:creator>何胜晖</dc:creator>
  <cp:lastModifiedBy>17511426</cp:lastModifiedBy>
  <cp:revision>471</cp:revision>
  <dcterms:created xsi:type="dcterms:W3CDTF">2022-08-28T03:18:00Z</dcterms:created>
  <dcterms:modified xsi:type="dcterms:W3CDTF">2026-02-22T11:47:41Z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1D7A0638918D4019A1782AFF24BA79B3</vt:lpwstr>
  </property>
  <property fmtid="{D5CDD505-2E9C-101B-9397-08002B2CF9AE}" pid="3" name="KSOProductBuildVer">
    <vt:lpwstr>2052-12.1.0.24657</vt:lpwstr>
  </property>
</Properties>
</file>