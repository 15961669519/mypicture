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3"/>
  </p:handoutMasterIdLst>
  <p:sldIdLst>
    <p:sldId id="333" r:id="rId3"/>
    <p:sldId id="382" r:id="rId4"/>
    <p:sldId id="383" r:id="rId5"/>
    <p:sldId id="334" r:id="rId6"/>
    <p:sldId id="272" r:id="rId7"/>
    <p:sldId id="273" r:id="rId8"/>
    <p:sldId id="284" r:id="rId9"/>
    <p:sldId id="304" r:id="rId10"/>
    <p:sldId id="305" r:id="rId11"/>
    <p:sldId id="285" r:id="rId12"/>
    <p:sldId id="384" r:id="rId13"/>
    <p:sldId id="286" r:id="rId14"/>
    <p:sldId id="313" r:id="rId15"/>
    <p:sldId id="322" r:id="rId16"/>
    <p:sldId id="376" r:id="rId17"/>
    <p:sldId id="377" r:id="rId18"/>
    <p:sldId id="308" r:id="rId19"/>
    <p:sldId id="310" r:id="rId20"/>
    <p:sldId id="311" r:id="rId21"/>
    <p:sldId id="314" r:id="rId22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66FF"/>
    <a:srgbClr val="FF0066"/>
    <a:srgbClr val="07A93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43"/>
      </p:cViewPr>
      <p:guideLst>
        <p:guide orient="horz" pos="2880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DF149-95F8-447F-BF5A-21820058FC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62820-A2EC-4B3F-8E9D-AD93C0C9C5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50135" y="0"/>
            <a:ext cx="5995453" cy="4938188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972702" y="3102880"/>
            <a:ext cx="3190667" cy="612019"/>
            <a:chOff x="1201186" y="2895503"/>
            <a:chExt cx="4253484" cy="847228"/>
          </a:xfrm>
        </p:grpSpPr>
        <p:grpSp>
          <p:nvGrpSpPr>
            <p:cNvPr id="12" name="组合 11"/>
            <p:cNvGrpSpPr/>
            <p:nvPr/>
          </p:nvGrpSpPr>
          <p:grpSpPr>
            <a:xfrm>
              <a:off x="1201186" y="2895503"/>
              <a:ext cx="3090482" cy="816851"/>
              <a:chOff x="1261460" y="3678169"/>
              <a:chExt cx="3090482" cy="816851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2401633" y="3678169"/>
                <a:ext cx="812800" cy="812800"/>
                <a:chOff x="2241487" y="3690077"/>
                <a:chExt cx="812800" cy="812800"/>
              </a:xfrm>
            </p:grpSpPr>
            <p:sp>
              <p:nvSpPr>
                <p:cNvPr id="25" name="椭圆 24"/>
                <p:cNvSpPr/>
                <p:nvPr/>
              </p:nvSpPr>
              <p:spPr>
                <a:xfrm>
                  <a:off x="2241487" y="3690077"/>
                  <a:ext cx="812800" cy="812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Freeform 208"/>
                <p:cNvSpPr>
                  <a:spLocks noEditPoints="1"/>
                </p:cNvSpPr>
                <p:nvPr/>
              </p:nvSpPr>
              <p:spPr bwMode="auto">
                <a:xfrm>
                  <a:off x="2477427" y="3890963"/>
                  <a:ext cx="338255" cy="388280"/>
                </a:xfrm>
                <a:custGeom>
                  <a:avLst/>
                  <a:gdLst>
                    <a:gd name="T0" fmla="*/ 217 w 252"/>
                    <a:gd name="T1" fmla="*/ 204 h 288"/>
                    <a:gd name="T2" fmla="*/ 217 w 252"/>
                    <a:gd name="T3" fmla="*/ 196 h 288"/>
                    <a:gd name="T4" fmla="*/ 217 w 252"/>
                    <a:gd name="T5" fmla="*/ 126 h 288"/>
                    <a:gd name="T6" fmla="*/ 156 w 252"/>
                    <a:gd name="T7" fmla="*/ 40 h 288"/>
                    <a:gd name="T8" fmla="*/ 158 w 252"/>
                    <a:gd name="T9" fmla="*/ 32 h 288"/>
                    <a:gd name="T10" fmla="*/ 126 w 252"/>
                    <a:gd name="T11" fmla="*/ 0 h 288"/>
                    <a:gd name="T12" fmla="*/ 94 w 252"/>
                    <a:gd name="T13" fmla="*/ 32 h 288"/>
                    <a:gd name="T14" fmla="*/ 96 w 252"/>
                    <a:gd name="T15" fmla="*/ 40 h 288"/>
                    <a:gd name="T16" fmla="*/ 35 w 252"/>
                    <a:gd name="T17" fmla="*/ 126 h 288"/>
                    <a:gd name="T18" fmla="*/ 35 w 252"/>
                    <a:gd name="T19" fmla="*/ 196 h 288"/>
                    <a:gd name="T20" fmla="*/ 35 w 252"/>
                    <a:gd name="T21" fmla="*/ 204 h 288"/>
                    <a:gd name="T22" fmla="*/ 0 w 252"/>
                    <a:gd name="T23" fmla="*/ 238 h 288"/>
                    <a:gd name="T24" fmla="*/ 14 w 252"/>
                    <a:gd name="T25" fmla="*/ 252 h 288"/>
                    <a:gd name="T26" fmla="*/ 95 w 252"/>
                    <a:gd name="T27" fmla="*/ 252 h 288"/>
                    <a:gd name="T28" fmla="*/ 94 w 252"/>
                    <a:gd name="T29" fmla="*/ 256 h 288"/>
                    <a:gd name="T30" fmla="*/ 126 w 252"/>
                    <a:gd name="T31" fmla="*/ 288 h 288"/>
                    <a:gd name="T32" fmla="*/ 158 w 252"/>
                    <a:gd name="T33" fmla="*/ 256 h 288"/>
                    <a:gd name="T34" fmla="*/ 157 w 252"/>
                    <a:gd name="T35" fmla="*/ 252 h 288"/>
                    <a:gd name="T36" fmla="*/ 238 w 252"/>
                    <a:gd name="T37" fmla="*/ 252 h 288"/>
                    <a:gd name="T38" fmla="*/ 252 w 252"/>
                    <a:gd name="T39" fmla="*/ 238 h 288"/>
                    <a:gd name="T40" fmla="*/ 217 w 252"/>
                    <a:gd name="T41" fmla="*/ 204 h 288"/>
                    <a:gd name="T42" fmla="*/ 108 w 252"/>
                    <a:gd name="T43" fmla="*/ 32 h 288"/>
                    <a:gd name="T44" fmla="*/ 126 w 252"/>
                    <a:gd name="T45" fmla="*/ 14 h 288"/>
                    <a:gd name="T46" fmla="*/ 144 w 252"/>
                    <a:gd name="T47" fmla="*/ 32 h 288"/>
                    <a:gd name="T48" fmla="*/ 143 w 252"/>
                    <a:gd name="T49" fmla="*/ 37 h 288"/>
                    <a:gd name="T50" fmla="*/ 126 w 252"/>
                    <a:gd name="T51" fmla="*/ 35 h 288"/>
                    <a:gd name="T52" fmla="*/ 109 w 252"/>
                    <a:gd name="T53" fmla="*/ 37 h 288"/>
                    <a:gd name="T54" fmla="*/ 108 w 252"/>
                    <a:gd name="T55" fmla="*/ 3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52" h="288">
                      <a:moveTo>
                        <a:pt x="217" y="204"/>
                      </a:moveTo>
                      <a:cubicBezTo>
                        <a:pt x="217" y="202"/>
                        <a:pt x="217" y="199"/>
                        <a:pt x="217" y="196"/>
                      </a:cubicBezTo>
                      <a:cubicBezTo>
                        <a:pt x="217" y="126"/>
                        <a:pt x="217" y="126"/>
                        <a:pt x="217" y="126"/>
                      </a:cubicBezTo>
                      <a:cubicBezTo>
                        <a:pt x="217" y="86"/>
                        <a:pt x="192" y="53"/>
                        <a:pt x="156" y="40"/>
                      </a:cubicBezTo>
                      <a:cubicBezTo>
                        <a:pt x="157" y="37"/>
                        <a:pt x="158" y="35"/>
                        <a:pt x="158" y="32"/>
                      </a:cubicBezTo>
                      <a:cubicBezTo>
                        <a:pt x="158" y="14"/>
                        <a:pt x="143" y="0"/>
                        <a:pt x="126" y="0"/>
                      </a:cubicBezTo>
                      <a:cubicBezTo>
                        <a:pt x="109" y="0"/>
                        <a:pt x="94" y="14"/>
                        <a:pt x="94" y="32"/>
                      </a:cubicBezTo>
                      <a:cubicBezTo>
                        <a:pt x="94" y="35"/>
                        <a:pt x="95" y="37"/>
                        <a:pt x="96" y="40"/>
                      </a:cubicBezTo>
                      <a:cubicBezTo>
                        <a:pt x="60" y="53"/>
                        <a:pt x="35" y="86"/>
                        <a:pt x="35" y="126"/>
                      </a:cubicBezTo>
                      <a:cubicBezTo>
                        <a:pt x="35" y="196"/>
                        <a:pt x="35" y="196"/>
                        <a:pt x="35" y="196"/>
                      </a:cubicBezTo>
                      <a:cubicBezTo>
                        <a:pt x="35" y="199"/>
                        <a:pt x="35" y="202"/>
                        <a:pt x="35" y="204"/>
                      </a:cubicBezTo>
                      <a:cubicBezTo>
                        <a:pt x="0" y="238"/>
                        <a:pt x="0" y="238"/>
                        <a:pt x="0" y="238"/>
                      </a:cubicBezTo>
                      <a:cubicBezTo>
                        <a:pt x="0" y="246"/>
                        <a:pt x="6" y="252"/>
                        <a:pt x="14" y="252"/>
                      </a:cubicBezTo>
                      <a:cubicBezTo>
                        <a:pt x="95" y="252"/>
                        <a:pt x="95" y="252"/>
                        <a:pt x="95" y="252"/>
                      </a:cubicBezTo>
                      <a:cubicBezTo>
                        <a:pt x="95" y="254"/>
                        <a:pt x="94" y="255"/>
                        <a:pt x="94" y="256"/>
                      </a:cubicBezTo>
                      <a:cubicBezTo>
                        <a:pt x="94" y="274"/>
                        <a:pt x="109" y="288"/>
                        <a:pt x="126" y="288"/>
                      </a:cubicBezTo>
                      <a:cubicBezTo>
                        <a:pt x="143" y="288"/>
                        <a:pt x="158" y="274"/>
                        <a:pt x="158" y="256"/>
                      </a:cubicBezTo>
                      <a:cubicBezTo>
                        <a:pt x="158" y="255"/>
                        <a:pt x="157" y="254"/>
                        <a:pt x="157" y="252"/>
                      </a:cubicBezTo>
                      <a:cubicBezTo>
                        <a:pt x="238" y="252"/>
                        <a:pt x="238" y="252"/>
                        <a:pt x="238" y="252"/>
                      </a:cubicBezTo>
                      <a:cubicBezTo>
                        <a:pt x="246" y="252"/>
                        <a:pt x="252" y="246"/>
                        <a:pt x="252" y="238"/>
                      </a:cubicBezTo>
                      <a:lnTo>
                        <a:pt x="217" y="204"/>
                      </a:lnTo>
                      <a:close/>
                      <a:moveTo>
                        <a:pt x="108" y="32"/>
                      </a:moveTo>
                      <a:cubicBezTo>
                        <a:pt x="108" y="22"/>
                        <a:pt x="116" y="14"/>
                        <a:pt x="126" y="14"/>
                      </a:cubicBezTo>
                      <a:cubicBezTo>
                        <a:pt x="136" y="14"/>
                        <a:pt x="144" y="22"/>
                        <a:pt x="144" y="32"/>
                      </a:cubicBezTo>
                      <a:cubicBezTo>
                        <a:pt x="144" y="33"/>
                        <a:pt x="143" y="35"/>
                        <a:pt x="143" y="37"/>
                      </a:cubicBezTo>
                      <a:cubicBezTo>
                        <a:pt x="137" y="36"/>
                        <a:pt x="132" y="35"/>
                        <a:pt x="126" y="35"/>
                      </a:cubicBezTo>
                      <a:cubicBezTo>
                        <a:pt x="120" y="35"/>
                        <a:pt x="115" y="36"/>
                        <a:pt x="109" y="37"/>
                      </a:cubicBezTo>
                      <a:cubicBezTo>
                        <a:pt x="109" y="35"/>
                        <a:pt x="108" y="33"/>
                        <a:pt x="108" y="3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1261460" y="3682220"/>
                <a:ext cx="812800" cy="812800"/>
                <a:chOff x="1101314" y="3694128"/>
                <a:chExt cx="812800" cy="812800"/>
              </a:xfrm>
            </p:grpSpPr>
            <p:sp>
              <p:nvSpPr>
                <p:cNvPr id="23" name="椭圆 22"/>
                <p:cNvSpPr/>
                <p:nvPr/>
              </p:nvSpPr>
              <p:spPr>
                <a:xfrm>
                  <a:off x="1101314" y="3694128"/>
                  <a:ext cx="812800" cy="812800"/>
                </a:xfrm>
                <a:prstGeom prst="ellipse">
                  <a:avLst/>
                </a:prstGeom>
                <a:solidFill>
                  <a:srgbClr val="7ACDE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Freeform 251"/>
                <p:cNvSpPr>
                  <a:spLocks noEditPoints="1"/>
                </p:cNvSpPr>
                <p:nvPr/>
              </p:nvSpPr>
              <p:spPr bwMode="auto">
                <a:xfrm>
                  <a:off x="1308199" y="3948434"/>
                  <a:ext cx="365962" cy="342420"/>
                </a:xfrm>
                <a:custGeom>
                  <a:avLst/>
                  <a:gdLst>
                    <a:gd name="T0" fmla="*/ 266 w 301"/>
                    <a:gd name="T1" fmla="*/ 192 h 282"/>
                    <a:gd name="T2" fmla="*/ 234 w 301"/>
                    <a:gd name="T3" fmla="*/ 69 h 282"/>
                    <a:gd name="T4" fmla="*/ 81 w 301"/>
                    <a:gd name="T5" fmla="*/ 36 h 282"/>
                    <a:gd name="T6" fmla="*/ 32 w 301"/>
                    <a:gd name="T7" fmla="*/ 3 h 282"/>
                    <a:gd name="T8" fmla="*/ 12 w 301"/>
                    <a:gd name="T9" fmla="*/ 13 h 282"/>
                    <a:gd name="T10" fmla="*/ 61 w 301"/>
                    <a:gd name="T11" fmla="*/ 57 h 282"/>
                    <a:gd name="T12" fmla="*/ 132 w 301"/>
                    <a:gd name="T13" fmla="*/ 249 h 282"/>
                    <a:gd name="T14" fmla="*/ 301 w 301"/>
                    <a:gd name="T15" fmla="*/ 260 h 282"/>
                    <a:gd name="T16" fmla="*/ 266 w 301"/>
                    <a:gd name="T17" fmla="*/ 192 h 282"/>
                    <a:gd name="T18" fmla="*/ 242 w 301"/>
                    <a:gd name="T19" fmla="*/ 232 h 282"/>
                    <a:gd name="T20" fmla="*/ 240 w 301"/>
                    <a:gd name="T21" fmla="*/ 233 h 282"/>
                    <a:gd name="T22" fmla="*/ 238 w 301"/>
                    <a:gd name="T23" fmla="*/ 232 h 282"/>
                    <a:gd name="T24" fmla="*/ 159 w 301"/>
                    <a:gd name="T25" fmla="*/ 138 h 282"/>
                    <a:gd name="T26" fmla="*/ 106 w 301"/>
                    <a:gd name="T27" fmla="*/ 75 h 282"/>
                    <a:gd name="T28" fmla="*/ 106 w 301"/>
                    <a:gd name="T29" fmla="*/ 71 h 282"/>
                    <a:gd name="T30" fmla="*/ 109 w 301"/>
                    <a:gd name="T31" fmla="*/ 71 h 282"/>
                    <a:gd name="T32" fmla="*/ 178 w 301"/>
                    <a:gd name="T33" fmla="*/ 122 h 282"/>
                    <a:gd name="T34" fmla="*/ 243 w 301"/>
                    <a:gd name="T35" fmla="*/ 229 h 282"/>
                    <a:gd name="T36" fmla="*/ 242 w 301"/>
                    <a:gd name="T37" fmla="*/ 232 h 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01" h="282">
                      <a:moveTo>
                        <a:pt x="266" y="192"/>
                      </a:moveTo>
                      <a:cubicBezTo>
                        <a:pt x="268" y="152"/>
                        <a:pt x="252" y="95"/>
                        <a:pt x="234" y="69"/>
                      </a:cubicBezTo>
                      <a:cubicBezTo>
                        <a:pt x="197" y="16"/>
                        <a:pt x="116" y="0"/>
                        <a:pt x="81" y="36"/>
                      </a:cubicBezTo>
                      <a:cubicBezTo>
                        <a:pt x="74" y="43"/>
                        <a:pt x="32" y="3"/>
                        <a:pt x="32" y="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61" y="57"/>
                        <a:pt x="61" y="57"/>
                        <a:pt x="61" y="57"/>
                      </a:cubicBezTo>
                      <a:cubicBezTo>
                        <a:pt x="61" y="57"/>
                        <a:pt x="0" y="152"/>
                        <a:pt x="132" y="249"/>
                      </a:cubicBezTo>
                      <a:cubicBezTo>
                        <a:pt x="177" y="282"/>
                        <a:pt x="241" y="269"/>
                        <a:pt x="301" y="260"/>
                      </a:cubicBezTo>
                      <a:cubicBezTo>
                        <a:pt x="301" y="260"/>
                        <a:pt x="265" y="248"/>
                        <a:pt x="266" y="192"/>
                      </a:cubicBezTo>
                      <a:close/>
                      <a:moveTo>
                        <a:pt x="242" y="232"/>
                      </a:moveTo>
                      <a:cubicBezTo>
                        <a:pt x="241" y="233"/>
                        <a:pt x="241" y="233"/>
                        <a:pt x="240" y="233"/>
                      </a:cubicBezTo>
                      <a:cubicBezTo>
                        <a:pt x="240" y="233"/>
                        <a:pt x="239" y="232"/>
                        <a:pt x="238" y="232"/>
                      </a:cubicBezTo>
                      <a:cubicBezTo>
                        <a:pt x="238" y="232"/>
                        <a:pt x="198" y="182"/>
                        <a:pt x="159" y="138"/>
                      </a:cubicBezTo>
                      <a:cubicBezTo>
                        <a:pt x="115" y="89"/>
                        <a:pt x="106" y="75"/>
                        <a:pt x="106" y="75"/>
                      </a:cubicBezTo>
                      <a:cubicBezTo>
                        <a:pt x="105" y="74"/>
                        <a:pt x="105" y="72"/>
                        <a:pt x="106" y="71"/>
                      </a:cubicBezTo>
                      <a:cubicBezTo>
                        <a:pt x="107" y="71"/>
                        <a:pt x="108" y="70"/>
                        <a:pt x="109" y="71"/>
                      </a:cubicBezTo>
                      <a:cubicBezTo>
                        <a:pt x="109" y="71"/>
                        <a:pt x="144" y="87"/>
                        <a:pt x="178" y="122"/>
                      </a:cubicBezTo>
                      <a:cubicBezTo>
                        <a:pt x="210" y="156"/>
                        <a:pt x="243" y="229"/>
                        <a:pt x="243" y="229"/>
                      </a:cubicBezTo>
                      <a:cubicBezTo>
                        <a:pt x="243" y="230"/>
                        <a:pt x="243" y="232"/>
                        <a:pt x="242" y="23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539142" y="3678169"/>
                <a:ext cx="812800" cy="812800"/>
                <a:chOff x="3378996" y="3690077"/>
                <a:chExt cx="812800" cy="812800"/>
              </a:xfrm>
            </p:grpSpPr>
            <p:sp>
              <p:nvSpPr>
                <p:cNvPr id="21" name="椭圆 20"/>
                <p:cNvSpPr/>
                <p:nvPr/>
              </p:nvSpPr>
              <p:spPr>
                <a:xfrm>
                  <a:off x="3378996" y="3690077"/>
                  <a:ext cx="812800" cy="812800"/>
                </a:xfrm>
                <a:prstGeom prst="ellipse">
                  <a:avLst/>
                </a:prstGeom>
                <a:solidFill>
                  <a:srgbClr val="F6911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Freeform 367"/>
                <p:cNvSpPr>
                  <a:spLocks noEditPoints="1"/>
                </p:cNvSpPr>
                <p:nvPr/>
              </p:nvSpPr>
              <p:spPr bwMode="auto">
                <a:xfrm>
                  <a:off x="3626404" y="3890963"/>
                  <a:ext cx="359072" cy="382541"/>
                </a:xfrm>
                <a:custGeom>
                  <a:avLst/>
                  <a:gdLst>
                    <a:gd name="T0" fmla="*/ 251 w 269"/>
                    <a:gd name="T1" fmla="*/ 192 h 288"/>
                    <a:gd name="T2" fmla="*/ 234 w 269"/>
                    <a:gd name="T3" fmla="*/ 209 h 288"/>
                    <a:gd name="T4" fmla="*/ 234 w 269"/>
                    <a:gd name="T5" fmla="*/ 211 h 288"/>
                    <a:gd name="T6" fmla="*/ 201 w 269"/>
                    <a:gd name="T7" fmla="*/ 233 h 288"/>
                    <a:gd name="T8" fmla="*/ 160 w 269"/>
                    <a:gd name="T9" fmla="*/ 240 h 288"/>
                    <a:gd name="T10" fmla="*/ 148 w 269"/>
                    <a:gd name="T11" fmla="*/ 187 h 288"/>
                    <a:gd name="T12" fmla="*/ 146 w 269"/>
                    <a:gd name="T13" fmla="*/ 121 h 288"/>
                    <a:gd name="T14" fmla="*/ 193 w 269"/>
                    <a:gd name="T15" fmla="*/ 121 h 288"/>
                    <a:gd name="T16" fmla="*/ 211 w 269"/>
                    <a:gd name="T17" fmla="*/ 117 h 288"/>
                    <a:gd name="T18" fmla="*/ 222 w 269"/>
                    <a:gd name="T19" fmla="*/ 123 h 288"/>
                    <a:gd name="T20" fmla="*/ 236 w 269"/>
                    <a:gd name="T21" fmla="*/ 109 h 288"/>
                    <a:gd name="T22" fmla="*/ 222 w 269"/>
                    <a:gd name="T23" fmla="*/ 95 h 288"/>
                    <a:gd name="T24" fmla="*/ 210 w 269"/>
                    <a:gd name="T25" fmla="*/ 101 h 288"/>
                    <a:gd name="T26" fmla="*/ 145 w 269"/>
                    <a:gd name="T27" fmla="*/ 101 h 288"/>
                    <a:gd name="T28" fmla="*/ 144 w 269"/>
                    <a:gd name="T29" fmla="*/ 68 h 288"/>
                    <a:gd name="T30" fmla="*/ 169 w 269"/>
                    <a:gd name="T31" fmla="*/ 35 h 288"/>
                    <a:gd name="T32" fmla="*/ 134 w 269"/>
                    <a:gd name="T33" fmla="*/ 0 h 288"/>
                    <a:gd name="T34" fmla="*/ 99 w 269"/>
                    <a:gd name="T35" fmla="*/ 35 h 288"/>
                    <a:gd name="T36" fmla="*/ 124 w 269"/>
                    <a:gd name="T37" fmla="*/ 68 h 288"/>
                    <a:gd name="T38" fmla="*/ 123 w 269"/>
                    <a:gd name="T39" fmla="*/ 101 h 288"/>
                    <a:gd name="T40" fmla="*/ 58 w 269"/>
                    <a:gd name="T41" fmla="*/ 101 h 288"/>
                    <a:gd name="T42" fmla="*/ 46 w 269"/>
                    <a:gd name="T43" fmla="*/ 95 h 288"/>
                    <a:gd name="T44" fmla="*/ 32 w 269"/>
                    <a:gd name="T45" fmla="*/ 109 h 288"/>
                    <a:gd name="T46" fmla="*/ 46 w 269"/>
                    <a:gd name="T47" fmla="*/ 123 h 288"/>
                    <a:gd name="T48" fmla="*/ 57 w 269"/>
                    <a:gd name="T49" fmla="*/ 117 h 288"/>
                    <a:gd name="T50" fmla="*/ 76 w 269"/>
                    <a:gd name="T51" fmla="*/ 121 h 288"/>
                    <a:gd name="T52" fmla="*/ 122 w 269"/>
                    <a:gd name="T53" fmla="*/ 121 h 288"/>
                    <a:gd name="T54" fmla="*/ 120 w 269"/>
                    <a:gd name="T55" fmla="*/ 187 h 288"/>
                    <a:gd name="T56" fmla="*/ 109 w 269"/>
                    <a:gd name="T57" fmla="*/ 239 h 288"/>
                    <a:gd name="T58" fmla="*/ 59 w 269"/>
                    <a:gd name="T59" fmla="*/ 227 h 288"/>
                    <a:gd name="T60" fmla="*/ 34 w 269"/>
                    <a:gd name="T61" fmla="*/ 212 h 288"/>
                    <a:gd name="T62" fmla="*/ 35 w 269"/>
                    <a:gd name="T63" fmla="*/ 209 h 288"/>
                    <a:gd name="T64" fmla="*/ 17 w 269"/>
                    <a:gd name="T65" fmla="*/ 192 h 288"/>
                    <a:gd name="T66" fmla="*/ 0 w 269"/>
                    <a:gd name="T67" fmla="*/ 209 h 288"/>
                    <a:gd name="T68" fmla="*/ 17 w 269"/>
                    <a:gd name="T69" fmla="*/ 227 h 288"/>
                    <a:gd name="T70" fmla="*/ 21 w 269"/>
                    <a:gd name="T71" fmla="*/ 226 h 288"/>
                    <a:gd name="T72" fmla="*/ 48 w 269"/>
                    <a:gd name="T73" fmla="*/ 247 h 288"/>
                    <a:gd name="T74" fmla="*/ 102 w 269"/>
                    <a:gd name="T75" fmla="*/ 273 h 288"/>
                    <a:gd name="T76" fmla="*/ 135 w 269"/>
                    <a:gd name="T77" fmla="*/ 288 h 288"/>
                    <a:gd name="T78" fmla="*/ 166 w 269"/>
                    <a:gd name="T79" fmla="*/ 273 h 288"/>
                    <a:gd name="T80" fmla="*/ 220 w 269"/>
                    <a:gd name="T81" fmla="*/ 247 h 288"/>
                    <a:gd name="T82" fmla="*/ 247 w 269"/>
                    <a:gd name="T83" fmla="*/ 226 h 288"/>
                    <a:gd name="T84" fmla="*/ 251 w 269"/>
                    <a:gd name="T85" fmla="*/ 227 h 288"/>
                    <a:gd name="T86" fmla="*/ 269 w 269"/>
                    <a:gd name="T87" fmla="*/ 209 h 288"/>
                    <a:gd name="T88" fmla="*/ 251 w 269"/>
                    <a:gd name="T89" fmla="*/ 192 h 288"/>
                    <a:gd name="T90" fmla="*/ 115 w 269"/>
                    <a:gd name="T91" fmla="*/ 35 h 288"/>
                    <a:gd name="T92" fmla="*/ 134 w 269"/>
                    <a:gd name="T93" fmla="*/ 16 h 288"/>
                    <a:gd name="T94" fmla="*/ 152 w 269"/>
                    <a:gd name="T95" fmla="*/ 35 h 288"/>
                    <a:gd name="T96" fmla="*/ 134 w 269"/>
                    <a:gd name="T97" fmla="*/ 53 h 288"/>
                    <a:gd name="T98" fmla="*/ 115 w 269"/>
                    <a:gd name="T99" fmla="*/ 35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69" h="288">
                      <a:moveTo>
                        <a:pt x="251" y="192"/>
                      </a:moveTo>
                      <a:cubicBezTo>
                        <a:pt x="241" y="192"/>
                        <a:pt x="234" y="200"/>
                        <a:pt x="234" y="209"/>
                      </a:cubicBezTo>
                      <a:cubicBezTo>
                        <a:pt x="234" y="210"/>
                        <a:pt x="234" y="211"/>
                        <a:pt x="234" y="211"/>
                      </a:cubicBezTo>
                      <a:cubicBezTo>
                        <a:pt x="226" y="217"/>
                        <a:pt x="215" y="224"/>
                        <a:pt x="201" y="233"/>
                      </a:cubicBezTo>
                      <a:cubicBezTo>
                        <a:pt x="189" y="240"/>
                        <a:pt x="174" y="241"/>
                        <a:pt x="160" y="240"/>
                      </a:cubicBezTo>
                      <a:cubicBezTo>
                        <a:pt x="148" y="187"/>
                        <a:pt x="148" y="187"/>
                        <a:pt x="148" y="187"/>
                      </a:cubicBezTo>
                      <a:cubicBezTo>
                        <a:pt x="148" y="187"/>
                        <a:pt x="147" y="153"/>
                        <a:pt x="146" y="121"/>
                      </a:cubicBezTo>
                      <a:cubicBezTo>
                        <a:pt x="193" y="121"/>
                        <a:pt x="193" y="121"/>
                        <a:pt x="193" y="121"/>
                      </a:cubicBezTo>
                      <a:cubicBezTo>
                        <a:pt x="211" y="117"/>
                        <a:pt x="211" y="117"/>
                        <a:pt x="211" y="117"/>
                      </a:cubicBezTo>
                      <a:cubicBezTo>
                        <a:pt x="213" y="120"/>
                        <a:pt x="217" y="123"/>
                        <a:pt x="222" y="123"/>
                      </a:cubicBezTo>
                      <a:cubicBezTo>
                        <a:pt x="230" y="123"/>
                        <a:pt x="236" y="116"/>
                        <a:pt x="236" y="109"/>
                      </a:cubicBezTo>
                      <a:cubicBezTo>
                        <a:pt x="236" y="101"/>
                        <a:pt x="230" y="95"/>
                        <a:pt x="222" y="95"/>
                      </a:cubicBezTo>
                      <a:cubicBezTo>
                        <a:pt x="217" y="95"/>
                        <a:pt x="213" y="97"/>
                        <a:pt x="210" y="101"/>
                      </a:cubicBezTo>
                      <a:cubicBezTo>
                        <a:pt x="145" y="101"/>
                        <a:pt x="145" y="101"/>
                        <a:pt x="145" y="101"/>
                      </a:cubicBezTo>
                      <a:cubicBezTo>
                        <a:pt x="145" y="87"/>
                        <a:pt x="144" y="75"/>
                        <a:pt x="144" y="68"/>
                      </a:cubicBezTo>
                      <a:cubicBezTo>
                        <a:pt x="158" y="63"/>
                        <a:pt x="169" y="50"/>
                        <a:pt x="169" y="35"/>
                      </a:cubicBezTo>
                      <a:cubicBezTo>
                        <a:pt x="169" y="16"/>
                        <a:pt x="153" y="0"/>
                        <a:pt x="134" y="0"/>
                      </a:cubicBezTo>
                      <a:cubicBezTo>
                        <a:pt x="115" y="0"/>
                        <a:pt x="99" y="16"/>
                        <a:pt x="99" y="35"/>
                      </a:cubicBezTo>
                      <a:cubicBezTo>
                        <a:pt x="99" y="50"/>
                        <a:pt x="110" y="64"/>
                        <a:pt x="124" y="68"/>
                      </a:cubicBezTo>
                      <a:cubicBezTo>
                        <a:pt x="124" y="75"/>
                        <a:pt x="124" y="87"/>
                        <a:pt x="123" y="101"/>
                      </a:cubicBezTo>
                      <a:cubicBezTo>
                        <a:pt x="58" y="101"/>
                        <a:pt x="58" y="101"/>
                        <a:pt x="58" y="101"/>
                      </a:cubicBezTo>
                      <a:cubicBezTo>
                        <a:pt x="55" y="97"/>
                        <a:pt x="51" y="95"/>
                        <a:pt x="46" y="95"/>
                      </a:cubicBezTo>
                      <a:cubicBezTo>
                        <a:pt x="38" y="95"/>
                        <a:pt x="32" y="101"/>
                        <a:pt x="32" y="109"/>
                      </a:cubicBezTo>
                      <a:cubicBezTo>
                        <a:pt x="32" y="116"/>
                        <a:pt x="38" y="123"/>
                        <a:pt x="46" y="123"/>
                      </a:cubicBezTo>
                      <a:cubicBezTo>
                        <a:pt x="51" y="123"/>
                        <a:pt x="55" y="120"/>
                        <a:pt x="57" y="117"/>
                      </a:cubicBezTo>
                      <a:cubicBezTo>
                        <a:pt x="76" y="121"/>
                        <a:pt x="76" y="121"/>
                        <a:pt x="76" y="121"/>
                      </a:cubicBezTo>
                      <a:cubicBezTo>
                        <a:pt x="122" y="121"/>
                        <a:pt x="122" y="121"/>
                        <a:pt x="122" y="121"/>
                      </a:cubicBezTo>
                      <a:cubicBezTo>
                        <a:pt x="121" y="153"/>
                        <a:pt x="120" y="187"/>
                        <a:pt x="120" y="187"/>
                      </a:cubicBezTo>
                      <a:cubicBezTo>
                        <a:pt x="109" y="239"/>
                        <a:pt x="109" y="239"/>
                        <a:pt x="109" y="239"/>
                      </a:cubicBezTo>
                      <a:cubicBezTo>
                        <a:pt x="91" y="239"/>
                        <a:pt x="73" y="237"/>
                        <a:pt x="59" y="227"/>
                      </a:cubicBezTo>
                      <a:cubicBezTo>
                        <a:pt x="49" y="221"/>
                        <a:pt x="41" y="217"/>
                        <a:pt x="34" y="212"/>
                      </a:cubicBezTo>
                      <a:cubicBezTo>
                        <a:pt x="35" y="211"/>
                        <a:pt x="35" y="210"/>
                        <a:pt x="35" y="209"/>
                      </a:cubicBezTo>
                      <a:cubicBezTo>
                        <a:pt x="35" y="200"/>
                        <a:pt x="27" y="192"/>
                        <a:pt x="17" y="192"/>
                      </a:cubicBezTo>
                      <a:cubicBezTo>
                        <a:pt x="8" y="192"/>
                        <a:pt x="0" y="200"/>
                        <a:pt x="0" y="209"/>
                      </a:cubicBezTo>
                      <a:cubicBezTo>
                        <a:pt x="0" y="219"/>
                        <a:pt x="8" y="227"/>
                        <a:pt x="17" y="227"/>
                      </a:cubicBezTo>
                      <a:cubicBezTo>
                        <a:pt x="19" y="227"/>
                        <a:pt x="20" y="227"/>
                        <a:pt x="21" y="226"/>
                      </a:cubicBezTo>
                      <a:cubicBezTo>
                        <a:pt x="28" y="232"/>
                        <a:pt x="37" y="239"/>
                        <a:pt x="48" y="247"/>
                      </a:cubicBezTo>
                      <a:cubicBezTo>
                        <a:pt x="64" y="257"/>
                        <a:pt x="82" y="267"/>
                        <a:pt x="102" y="273"/>
                      </a:cubicBezTo>
                      <a:cubicBezTo>
                        <a:pt x="105" y="274"/>
                        <a:pt x="128" y="288"/>
                        <a:pt x="135" y="288"/>
                      </a:cubicBezTo>
                      <a:cubicBezTo>
                        <a:pt x="141" y="288"/>
                        <a:pt x="161" y="276"/>
                        <a:pt x="166" y="273"/>
                      </a:cubicBezTo>
                      <a:cubicBezTo>
                        <a:pt x="186" y="267"/>
                        <a:pt x="205" y="257"/>
                        <a:pt x="220" y="247"/>
                      </a:cubicBezTo>
                      <a:cubicBezTo>
                        <a:pt x="231" y="239"/>
                        <a:pt x="241" y="232"/>
                        <a:pt x="247" y="226"/>
                      </a:cubicBezTo>
                      <a:cubicBezTo>
                        <a:pt x="248" y="227"/>
                        <a:pt x="250" y="227"/>
                        <a:pt x="251" y="227"/>
                      </a:cubicBezTo>
                      <a:cubicBezTo>
                        <a:pt x="261" y="227"/>
                        <a:pt x="269" y="219"/>
                        <a:pt x="269" y="209"/>
                      </a:cubicBezTo>
                      <a:cubicBezTo>
                        <a:pt x="269" y="200"/>
                        <a:pt x="261" y="192"/>
                        <a:pt x="251" y="192"/>
                      </a:cubicBezTo>
                      <a:close/>
                      <a:moveTo>
                        <a:pt x="115" y="35"/>
                      </a:moveTo>
                      <a:cubicBezTo>
                        <a:pt x="115" y="25"/>
                        <a:pt x="124" y="16"/>
                        <a:pt x="134" y="16"/>
                      </a:cubicBezTo>
                      <a:cubicBezTo>
                        <a:pt x="144" y="16"/>
                        <a:pt x="152" y="25"/>
                        <a:pt x="152" y="35"/>
                      </a:cubicBezTo>
                      <a:cubicBezTo>
                        <a:pt x="152" y="45"/>
                        <a:pt x="144" y="53"/>
                        <a:pt x="134" y="53"/>
                      </a:cubicBezTo>
                      <a:cubicBezTo>
                        <a:pt x="124" y="53"/>
                        <a:pt x="115" y="45"/>
                        <a:pt x="115" y="3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4641870" y="2929931"/>
              <a:ext cx="812800" cy="812800"/>
              <a:chOff x="5228457" y="3140694"/>
              <a:chExt cx="812800" cy="8128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5228457" y="3140694"/>
                <a:ext cx="812800" cy="8128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Freeform 219"/>
              <p:cNvSpPr>
                <a:spLocks noEditPoints="1"/>
              </p:cNvSpPr>
              <p:nvPr/>
            </p:nvSpPr>
            <p:spPr bwMode="auto">
              <a:xfrm>
                <a:off x="5500841" y="3345553"/>
                <a:ext cx="284850" cy="399237"/>
              </a:xfrm>
              <a:custGeom>
                <a:avLst/>
                <a:gdLst>
                  <a:gd name="T0" fmla="*/ 205 w 211"/>
                  <a:gd name="T1" fmla="*/ 64 h 295"/>
                  <a:gd name="T2" fmla="*/ 61 w 211"/>
                  <a:gd name="T3" fmla="*/ 11 h 295"/>
                  <a:gd name="T4" fmla="*/ 11 w 211"/>
                  <a:gd name="T5" fmla="*/ 19 h 295"/>
                  <a:gd name="T6" fmla="*/ 0 w 211"/>
                  <a:gd name="T7" fmla="*/ 45 h 295"/>
                  <a:gd name="T8" fmla="*/ 1 w 211"/>
                  <a:gd name="T9" fmla="*/ 50 h 295"/>
                  <a:gd name="T10" fmla="*/ 1 w 211"/>
                  <a:gd name="T11" fmla="*/ 228 h 295"/>
                  <a:gd name="T12" fmla="*/ 7 w 211"/>
                  <a:gd name="T13" fmla="*/ 237 h 295"/>
                  <a:gd name="T14" fmla="*/ 153 w 211"/>
                  <a:gd name="T15" fmla="*/ 295 h 295"/>
                  <a:gd name="T16" fmla="*/ 157 w 211"/>
                  <a:gd name="T17" fmla="*/ 295 h 295"/>
                  <a:gd name="T18" fmla="*/ 162 w 211"/>
                  <a:gd name="T19" fmla="*/ 294 h 295"/>
                  <a:gd name="T20" fmla="*/ 166 w 211"/>
                  <a:gd name="T21" fmla="*/ 286 h 295"/>
                  <a:gd name="T22" fmla="*/ 166 w 211"/>
                  <a:gd name="T23" fmla="*/ 276 h 295"/>
                  <a:gd name="T24" fmla="*/ 193 w 211"/>
                  <a:gd name="T25" fmla="*/ 251 h 295"/>
                  <a:gd name="T26" fmla="*/ 201 w 211"/>
                  <a:gd name="T27" fmla="*/ 256 h 295"/>
                  <a:gd name="T28" fmla="*/ 211 w 211"/>
                  <a:gd name="T29" fmla="*/ 246 h 295"/>
                  <a:gd name="T30" fmla="*/ 211 w 211"/>
                  <a:gd name="T31" fmla="*/ 73 h 295"/>
                  <a:gd name="T32" fmla="*/ 205 w 211"/>
                  <a:gd name="T33" fmla="*/ 64 h 295"/>
                  <a:gd name="T34" fmla="*/ 21 w 211"/>
                  <a:gd name="T35" fmla="*/ 49 h 295"/>
                  <a:gd name="T36" fmla="*/ 19 w 211"/>
                  <a:gd name="T37" fmla="*/ 44 h 295"/>
                  <a:gd name="T38" fmla="*/ 24 w 211"/>
                  <a:gd name="T39" fmla="*/ 33 h 295"/>
                  <a:gd name="T40" fmla="*/ 54 w 211"/>
                  <a:gd name="T41" fmla="*/ 28 h 295"/>
                  <a:gd name="T42" fmla="*/ 55 w 211"/>
                  <a:gd name="T43" fmla="*/ 29 h 295"/>
                  <a:gd name="T44" fmla="*/ 190 w 211"/>
                  <a:gd name="T45" fmla="*/ 79 h 295"/>
                  <a:gd name="T46" fmla="*/ 161 w 211"/>
                  <a:gd name="T47" fmla="*/ 106 h 295"/>
                  <a:gd name="T48" fmla="*/ 160 w 211"/>
                  <a:gd name="T49" fmla="*/ 106 h 295"/>
                  <a:gd name="T50" fmla="*/ 21 w 211"/>
                  <a:gd name="T51" fmla="*/ 49 h 295"/>
                  <a:gd name="T52" fmla="*/ 166 w 211"/>
                  <a:gd name="T53" fmla="*/ 111 h 295"/>
                  <a:gd name="T54" fmla="*/ 192 w 211"/>
                  <a:gd name="T55" fmla="*/ 86 h 295"/>
                  <a:gd name="T56" fmla="*/ 192 w 211"/>
                  <a:gd name="T57" fmla="*/ 244 h 295"/>
                  <a:gd name="T58" fmla="*/ 166 w 211"/>
                  <a:gd name="T59" fmla="*/ 268 h 295"/>
                  <a:gd name="T60" fmla="*/ 166 w 211"/>
                  <a:gd name="T61" fmla="*/ 115 h 295"/>
                  <a:gd name="T62" fmla="*/ 166 w 211"/>
                  <a:gd name="T63" fmla="*/ 111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11" h="295">
                    <a:moveTo>
                      <a:pt x="205" y="64"/>
                    </a:moveTo>
                    <a:cubicBezTo>
                      <a:pt x="61" y="11"/>
                      <a:pt x="61" y="11"/>
                      <a:pt x="61" y="11"/>
                    </a:cubicBezTo>
                    <a:cubicBezTo>
                      <a:pt x="58" y="10"/>
                      <a:pt x="32" y="0"/>
                      <a:pt x="11" y="19"/>
                    </a:cubicBezTo>
                    <a:cubicBezTo>
                      <a:pt x="4" y="26"/>
                      <a:pt x="0" y="35"/>
                      <a:pt x="0" y="45"/>
                    </a:cubicBezTo>
                    <a:cubicBezTo>
                      <a:pt x="0" y="47"/>
                      <a:pt x="1" y="48"/>
                      <a:pt x="1" y="50"/>
                    </a:cubicBezTo>
                    <a:cubicBezTo>
                      <a:pt x="1" y="228"/>
                      <a:pt x="1" y="228"/>
                      <a:pt x="1" y="228"/>
                    </a:cubicBezTo>
                    <a:cubicBezTo>
                      <a:pt x="1" y="232"/>
                      <a:pt x="3" y="236"/>
                      <a:pt x="7" y="237"/>
                    </a:cubicBezTo>
                    <a:cubicBezTo>
                      <a:pt x="153" y="295"/>
                      <a:pt x="153" y="295"/>
                      <a:pt x="153" y="295"/>
                    </a:cubicBezTo>
                    <a:cubicBezTo>
                      <a:pt x="154" y="295"/>
                      <a:pt x="156" y="295"/>
                      <a:pt x="157" y="295"/>
                    </a:cubicBezTo>
                    <a:cubicBezTo>
                      <a:pt x="159" y="295"/>
                      <a:pt x="161" y="295"/>
                      <a:pt x="162" y="294"/>
                    </a:cubicBezTo>
                    <a:cubicBezTo>
                      <a:pt x="165" y="292"/>
                      <a:pt x="166" y="289"/>
                      <a:pt x="166" y="286"/>
                    </a:cubicBezTo>
                    <a:cubicBezTo>
                      <a:pt x="166" y="276"/>
                      <a:pt x="166" y="276"/>
                      <a:pt x="166" y="276"/>
                    </a:cubicBezTo>
                    <a:cubicBezTo>
                      <a:pt x="193" y="251"/>
                      <a:pt x="193" y="251"/>
                      <a:pt x="193" y="251"/>
                    </a:cubicBezTo>
                    <a:cubicBezTo>
                      <a:pt x="195" y="254"/>
                      <a:pt x="198" y="256"/>
                      <a:pt x="201" y="256"/>
                    </a:cubicBezTo>
                    <a:cubicBezTo>
                      <a:pt x="207" y="256"/>
                      <a:pt x="211" y="251"/>
                      <a:pt x="211" y="246"/>
                    </a:cubicBezTo>
                    <a:cubicBezTo>
                      <a:pt x="211" y="73"/>
                      <a:pt x="211" y="73"/>
                      <a:pt x="211" y="73"/>
                    </a:cubicBezTo>
                    <a:cubicBezTo>
                      <a:pt x="211" y="69"/>
                      <a:pt x="208" y="66"/>
                      <a:pt x="205" y="64"/>
                    </a:cubicBezTo>
                    <a:close/>
                    <a:moveTo>
                      <a:pt x="21" y="49"/>
                    </a:moveTo>
                    <a:cubicBezTo>
                      <a:pt x="20" y="48"/>
                      <a:pt x="19" y="46"/>
                      <a:pt x="19" y="44"/>
                    </a:cubicBezTo>
                    <a:cubicBezTo>
                      <a:pt x="19" y="40"/>
                      <a:pt x="21" y="36"/>
                      <a:pt x="24" y="33"/>
                    </a:cubicBezTo>
                    <a:cubicBezTo>
                      <a:pt x="36" y="22"/>
                      <a:pt x="54" y="28"/>
                      <a:pt x="54" y="28"/>
                    </a:cubicBezTo>
                    <a:cubicBezTo>
                      <a:pt x="54" y="28"/>
                      <a:pt x="54" y="29"/>
                      <a:pt x="55" y="29"/>
                    </a:cubicBezTo>
                    <a:cubicBezTo>
                      <a:pt x="190" y="79"/>
                      <a:pt x="190" y="79"/>
                      <a:pt x="190" y="79"/>
                    </a:cubicBezTo>
                    <a:cubicBezTo>
                      <a:pt x="161" y="106"/>
                      <a:pt x="161" y="106"/>
                      <a:pt x="161" y="106"/>
                    </a:cubicBezTo>
                    <a:cubicBezTo>
                      <a:pt x="161" y="106"/>
                      <a:pt x="161" y="106"/>
                      <a:pt x="160" y="106"/>
                    </a:cubicBezTo>
                    <a:lnTo>
                      <a:pt x="21" y="49"/>
                    </a:lnTo>
                    <a:close/>
                    <a:moveTo>
                      <a:pt x="166" y="111"/>
                    </a:moveTo>
                    <a:cubicBezTo>
                      <a:pt x="192" y="86"/>
                      <a:pt x="192" y="86"/>
                      <a:pt x="192" y="86"/>
                    </a:cubicBezTo>
                    <a:cubicBezTo>
                      <a:pt x="192" y="244"/>
                      <a:pt x="192" y="244"/>
                      <a:pt x="192" y="244"/>
                    </a:cubicBezTo>
                    <a:cubicBezTo>
                      <a:pt x="166" y="268"/>
                      <a:pt x="166" y="268"/>
                      <a:pt x="166" y="268"/>
                    </a:cubicBezTo>
                    <a:cubicBezTo>
                      <a:pt x="166" y="115"/>
                      <a:pt x="166" y="115"/>
                      <a:pt x="166" y="115"/>
                    </a:cubicBezTo>
                    <a:cubicBezTo>
                      <a:pt x="166" y="114"/>
                      <a:pt x="166" y="112"/>
                      <a:pt x="166" y="1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组合 26"/>
          <p:cNvGrpSpPr/>
          <p:nvPr userDrawn="1"/>
        </p:nvGrpSpPr>
        <p:grpSpPr>
          <a:xfrm>
            <a:off x="203226" y="85254"/>
            <a:ext cx="2748440" cy="2614613"/>
            <a:chOff x="-839788" y="177800"/>
            <a:chExt cx="3663951" cy="2614613"/>
          </a:xfrm>
          <a:solidFill>
            <a:schemeClr val="bg1">
              <a:alpha val="50000"/>
            </a:schemeClr>
          </a:solidFill>
        </p:grpSpPr>
        <p:sp>
          <p:nvSpPr>
            <p:cNvPr id="28" name="Freeform 5"/>
            <p:cNvSpPr>
              <a:spLocks noEditPoints="1"/>
            </p:cNvSpPr>
            <p:nvPr/>
          </p:nvSpPr>
          <p:spPr bwMode="auto">
            <a:xfrm>
              <a:off x="-839788" y="177800"/>
              <a:ext cx="3663950" cy="1793875"/>
            </a:xfrm>
            <a:custGeom>
              <a:avLst/>
              <a:gdLst>
                <a:gd name="T0" fmla="*/ 598 w 2308"/>
                <a:gd name="T1" fmla="*/ 1130 h 1130"/>
                <a:gd name="T2" fmla="*/ 0 w 2308"/>
                <a:gd name="T3" fmla="*/ 1003 h 1130"/>
                <a:gd name="T4" fmla="*/ 2298 w 2308"/>
                <a:gd name="T5" fmla="*/ 0 h 1130"/>
                <a:gd name="T6" fmla="*/ 2308 w 2308"/>
                <a:gd name="T7" fmla="*/ 21 h 1130"/>
                <a:gd name="T8" fmla="*/ 598 w 2308"/>
                <a:gd name="T9" fmla="*/ 1130 h 1130"/>
                <a:gd name="T10" fmla="*/ 598 w 2308"/>
                <a:gd name="T11" fmla="*/ 1130 h 1130"/>
                <a:gd name="T12" fmla="*/ 63 w 2308"/>
                <a:gd name="T13" fmla="*/ 993 h 1130"/>
                <a:gd name="T14" fmla="*/ 598 w 2308"/>
                <a:gd name="T15" fmla="*/ 1098 h 1130"/>
                <a:gd name="T16" fmla="*/ 2193 w 2308"/>
                <a:gd name="T17" fmla="*/ 74 h 1130"/>
                <a:gd name="T18" fmla="*/ 63 w 2308"/>
                <a:gd name="T19" fmla="*/ 993 h 1130"/>
                <a:gd name="T20" fmla="*/ 63 w 2308"/>
                <a:gd name="T21" fmla="*/ 993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08" h="1130">
                  <a:moveTo>
                    <a:pt x="598" y="1130"/>
                  </a:moveTo>
                  <a:lnTo>
                    <a:pt x="0" y="1003"/>
                  </a:lnTo>
                  <a:lnTo>
                    <a:pt x="2298" y="0"/>
                  </a:lnTo>
                  <a:lnTo>
                    <a:pt x="2308" y="21"/>
                  </a:lnTo>
                  <a:lnTo>
                    <a:pt x="598" y="1130"/>
                  </a:lnTo>
                  <a:lnTo>
                    <a:pt x="598" y="1130"/>
                  </a:lnTo>
                  <a:close/>
                  <a:moveTo>
                    <a:pt x="63" y="993"/>
                  </a:moveTo>
                  <a:lnTo>
                    <a:pt x="598" y="1098"/>
                  </a:lnTo>
                  <a:lnTo>
                    <a:pt x="2193" y="74"/>
                  </a:lnTo>
                  <a:lnTo>
                    <a:pt x="63" y="993"/>
                  </a:lnTo>
                  <a:lnTo>
                    <a:pt x="63" y="9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"/>
            <p:cNvSpPr>
              <a:spLocks noEditPoints="1"/>
            </p:cNvSpPr>
            <p:nvPr/>
          </p:nvSpPr>
          <p:spPr bwMode="auto">
            <a:xfrm>
              <a:off x="92075" y="177800"/>
              <a:ext cx="2732088" cy="2463800"/>
            </a:xfrm>
            <a:custGeom>
              <a:avLst/>
              <a:gdLst>
                <a:gd name="T0" fmla="*/ 263 w 1721"/>
                <a:gd name="T1" fmla="*/ 1552 h 1552"/>
                <a:gd name="T2" fmla="*/ 0 w 1721"/>
                <a:gd name="T3" fmla="*/ 1109 h 1552"/>
                <a:gd name="T4" fmla="*/ 1711 w 1721"/>
                <a:gd name="T5" fmla="*/ 0 h 1552"/>
                <a:gd name="T6" fmla="*/ 1721 w 1721"/>
                <a:gd name="T7" fmla="*/ 21 h 1552"/>
                <a:gd name="T8" fmla="*/ 284 w 1721"/>
                <a:gd name="T9" fmla="*/ 1267 h 1552"/>
                <a:gd name="T10" fmla="*/ 263 w 1721"/>
                <a:gd name="T11" fmla="*/ 1552 h 1552"/>
                <a:gd name="T12" fmla="*/ 263 w 1721"/>
                <a:gd name="T13" fmla="*/ 1552 h 1552"/>
                <a:gd name="T14" fmla="*/ 32 w 1721"/>
                <a:gd name="T15" fmla="*/ 1119 h 1552"/>
                <a:gd name="T16" fmla="*/ 242 w 1721"/>
                <a:gd name="T17" fmla="*/ 1478 h 1552"/>
                <a:gd name="T18" fmla="*/ 263 w 1721"/>
                <a:gd name="T19" fmla="*/ 1257 h 1552"/>
                <a:gd name="T20" fmla="*/ 1595 w 1721"/>
                <a:gd name="T21" fmla="*/ 106 h 1552"/>
                <a:gd name="T22" fmla="*/ 32 w 1721"/>
                <a:gd name="T23" fmla="*/ 1119 h 1552"/>
                <a:gd name="T24" fmla="*/ 32 w 1721"/>
                <a:gd name="T25" fmla="*/ 1119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1" h="1552">
                  <a:moveTo>
                    <a:pt x="263" y="1552"/>
                  </a:moveTo>
                  <a:lnTo>
                    <a:pt x="0" y="1109"/>
                  </a:lnTo>
                  <a:lnTo>
                    <a:pt x="1711" y="0"/>
                  </a:lnTo>
                  <a:lnTo>
                    <a:pt x="1721" y="21"/>
                  </a:lnTo>
                  <a:lnTo>
                    <a:pt x="284" y="1267"/>
                  </a:lnTo>
                  <a:lnTo>
                    <a:pt x="263" y="1552"/>
                  </a:lnTo>
                  <a:lnTo>
                    <a:pt x="263" y="1552"/>
                  </a:lnTo>
                  <a:close/>
                  <a:moveTo>
                    <a:pt x="32" y="1119"/>
                  </a:moveTo>
                  <a:lnTo>
                    <a:pt x="242" y="1478"/>
                  </a:lnTo>
                  <a:lnTo>
                    <a:pt x="263" y="1257"/>
                  </a:lnTo>
                  <a:lnTo>
                    <a:pt x="1595" y="106"/>
                  </a:lnTo>
                  <a:lnTo>
                    <a:pt x="32" y="1119"/>
                  </a:lnTo>
                  <a:lnTo>
                    <a:pt x="32" y="1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476250" y="177800"/>
              <a:ext cx="2347913" cy="2447925"/>
            </a:xfrm>
            <a:custGeom>
              <a:avLst/>
              <a:gdLst>
                <a:gd name="T0" fmla="*/ 0 w 1479"/>
                <a:gd name="T1" fmla="*/ 1542 h 1542"/>
                <a:gd name="T2" fmla="*/ 21 w 1479"/>
                <a:gd name="T3" fmla="*/ 1257 h 1542"/>
                <a:gd name="T4" fmla="*/ 1469 w 1479"/>
                <a:gd name="T5" fmla="*/ 0 h 1542"/>
                <a:gd name="T6" fmla="*/ 1479 w 1479"/>
                <a:gd name="T7" fmla="*/ 21 h 1542"/>
                <a:gd name="T8" fmla="*/ 0 w 1479"/>
                <a:gd name="T9" fmla="*/ 1542 h 1542"/>
                <a:gd name="T10" fmla="*/ 0 w 1479"/>
                <a:gd name="T11" fmla="*/ 1542 h 1542"/>
                <a:gd name="T12" fmla="*/ 42 w 1479"/>
                <a:gd name="T13" fmla="*/ 1267 h 1542"/>
                <a:gd name="T14" fmla="*/ 21 w 1479"/>
                <a:gd name="T15" fmla="*/ 1489 h 1542"/>
                <a:gd name="T16" fmla="*/ 1290 w 1479"/>
                <a:gd name="T17" fmla="*/ 180 h 1542"/>
                <a:gd name="T18" fmla="*/ 42 w 1479"/>
                <a:gd name="T19" fmla="*/ 1267 h 1542"/>
                <a:gd name="T20" fmla="*/ 42 w 1479"/>
                <a:gd name="T21" fmla="*/ 1267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9" h="1542">
                  <a:moveTo>
                    <a:pt x="0" y="1542"/>
                  </a:moveTo>
                  <a:lnTo>
                    <a:pt x="21" y="1257"/>
                  </a:lnTo>
                  <a:lnTo>
                    <a:pt x="1469" y="0"/>
                  </a:lnTo>
                  <a:lnTo>
                    <a:pt x="1479" y="21"/>
                  </a:lnTo>
                  <a:lnTo>
                    <a:pt x="0" y="1542"/>
                  </a:lnTo>
                  <a:lnTo>
                    <a:pt x="0" y="1542"/>
                  </a:lnTo>
                  <a:close/>
                  <a:moveTo>
                    <a:pt x="42" y="1267"/>
                  </a:moveTo>
                  <a:lnTo>
                    <a:pt x="21" y="1489"/>
                  </a:lnTo>
                  <a:lnTo>
                    <a:pt x="1290" y="180"/>
                  </a:lnTo>
                  <a:lnTo>
                    <a:pt x="42" y="1267"/>
                  </a:lnTo>
                  <a:lnTo>
                    <a:pt x="42" y="1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8"/>
            <p:cNvSpPr>
              <a:spLocks noEditPoints="1"/>
            </p:cNvSpPr>
            <p:nvPr/>
          </p:nvSpPr>
          <p:spPr bwMode="auto">
            <a:xfrm>
              <a:off x="492125" y="177800"/>
              <a:ext cx="2332038" cy="2614613"/>
            </a:xfrm>
            <a:custGeom>
              <a:avLst/>
              <a:gdLst>
                <a:gd name="T0" fmla="*/ 693 w 1469"/>
                <a:gd name="T1" fmla="*/ 1647 h 1647"/>
                <a:gd name="T2" fmla="*/ 0 w 1469"/>
                <a:gd name="T3" fmla="*/ 1267 h 1647"/>
                <a:gd name="T4" fmla="*/ 1459 w 1469"/>
                <a:gd name="T5" fmla="*/ 0 h 1647"/>
                <a:gd name="T6" fmla="*/ 1469 w 1469"/>
                <a:gd name="T7" fmla="*/ 11 h 1647"/>
                <a:gd name="T8" fmla="*/ 693 w 1469"/>
                <a:gd name="T9" fmla="*/ 1647 h 1647"/>
                <a:gd name="T10" fmla="*/ 693 w 1469"/>
                <a:gd name="T11" fmla="*/ 1647 h 1647"/>
                <a:gd name="T12" fmla="*/ 42 w 1469"/>
                <a:gd name="T13" fmla="*/ 1257 h 1647"/>
                <a:gd name="T14" fmla="*/ 682 w 1469"/>
                <a:gd name="T15" fmla="*/ 1616 h 1647"/>
                <a:gd name="T16" fmla="*/ 1438 w 1469"/>
                <a:gd name="T17" fmla="*/ 53 h 1647"/>
                <a:gd name="T18" fmla="*/ 42 w 1469"/>
                <a:gd name="T19" fmla="*/ 1257 h 1647"/>
                <a:gd name="T20" fmla="*/ 42 w 1469"/>
                <a:gd name="T21" fmla="*/ 1257 h 1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69" h="1647">
                  <a:moveTo>
                    <a:pt x="693" y="1647"/>
                  </a:moveTo>
                  <a:lnTo>
                    <a:pt x="0" y="1267"/>
                  </a:lnTo>
                  <a:lnTo>
                    <a:pt x="1459" y="0"/>
                  </a:lnTo>
                  <a:lnTo>
                    <a:pt x="1469" y="11"/>
                  </a:lnTo>
                  <a:lnTo>
                    <a:pt x="693" y="1647"/>
                  </a:lnTo>
                  <a:lnTo>
                    <a:pt x="693" y="1647"/>
                  </a:lnTo>
                  <a:close/>
                  <a:moveTo>
                    <a:pt x="42" y="1257"/>
                  </a:moveTo>
                  <a:lnTo>
                    <a:pt x="682" y="1616"/>
                  </a:lnTo>
                  <a:lnTo>
                    <a:pt x="1438" y="53"/>
                  </a:lnTo>
                  <a:lnTo>
                    <a:pt x="42" y="1257"/>
                  </a:lnTo>
                  <a:lnTo>
                    <a:pt x="42" y="12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5" name="Oval 60"/>
          <p:cNvSpPr>
            <a:spLocks noChangeArrowheads="1"/>
          </p:cNvSpPr>
          <p:nvPr userDrawn="1"/>
        </p:nvSpPr>
        <p:spPr bwMode="auto">
          <a:xfrm rot="20016816">
            <a:off x="5533600" y="4526358"/>
            <a:ext cx="68647" cy="9359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Oval 61"/>
          <p:cNvSpPr>
            <a:spLocks noChangeArrowheads="1"/>
          </p:cNvSpPr>
          <p:nvPr userDrawn="1"/>
        </p:nvSpPr>
        <p:spPr bwMode="auto">
          <a:xfrm rot="20016816">
            <a:off x="5434449" y="4257845"/>
            <a:ext cx="68647" cy="9775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Oval 56"/>
          <p:cNvSpPr>
            <a:spLocks noChangeArrowheads="1"/>
          </p:cNvSpPr>
          <p:nvPr userDrawn="1"/>
        </p:nvSpPr>
        <p:spPr bwMode="auto">
          <a:xfrm rot="20016816">
            <a:off x="6526051" y="5954903"/>
            <a:ext cx="149776" cy="195506"/>
          </a:xfrm>
          <a:prstGeom prst="ellipse">
            <a:avLst/>
          </a:prstGeom>
          <a:solidFill>
            <a:srgbClr val="F9E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Oval 58"/>
          <p:cNvSpPr>
            <a:spLocks noChangeArrowheads="1"/>
          </p:cNvSpPr>
          <p:nvPr userDrawn="1"/>
        </p:nvSpPr>
        <p:spPr bwMode="auto">
          <a:xfrm rot="20016816">
            <a:off x="5731904" y="5059225"/>
            <a:ext cx="68647" cy="9359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Oval 59"/>
          <p:cNvSpPr>
            <a:spLocks noChangeArrowheads="1"/>
          </p:cNvSpPr>
          <p:nvPr userDrawn="1"/>
        </p:nvSpPr>
        <p:spPr bwMode="auto">
          <a:xfrm rot="20016816">
            <a:off x="5632406" y="4790821"/>
            <a:ext cx="68647" cy="95673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 userDrawn="1"/>
        </p:nvSpPr>
        <p:spPr>
          <a:xfrm>
            <a:off x="107504" y="177588"/>
            <a:ext cx="1584176" cy="409010"/>
          </a:xfrm>
          <a:prstGeom prst="rect">
            <a:avLst/>
          </a:prstGeom>
        </p:spPr>
        <p:txBody>
          <a:bodyPr>
            <a:normAutofit fontScale="7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6" Type="http://schemas.openxmlformats.org/officeDocument/2006/relationships/theme" Target="../theme/theme1.xml"/><Relationship Id="rId55" Type="http://schemas.openxmlformats.org/officeDocument/2006/relationships/tags" Target="../tags/tag20.xml"/><Relationship Id="rId54" Type="http://schemas.openxmlformats.org/officeDocument/2006/relationships/image" Target="../media/image3.png"/><Relationship Id="rId53" Type="http://schemas.openxmlformats.org/officeDocument/2006/relationships/tags" Target="../tags/tag19.xml"/><Relationship Id="rId52" Type="http://schemas.openxmlformats.org/officeDocument/2006/relationships/tags" Target="../tags/tag18.xml"/><Relationship Id="rId51" Type="http://schemas.openxmlformats.org/officeDocument/2006/relationships/tags" Target="../tags/tag17.xml"/><Relationship Id="rId50" Type="http://schemas.openxmlformats.org/officeDocument/2006/relationships/tags" Target="../tags/tag16.xml"/><Relationship Id="rId5" Type="http://schemas.openxmlformats.org/officeDocument/2006/relationships/slideLayout" Target="../slideLayouts/slideLayout5.xml"/><Relationship Id="rId49" Type="http://schemas.openxmlformats.org/officeDocument/2006/relationships/tags" Target="../tags/tag15.xml"/><Relationship Id="rId48" Type="http://schemas.openxmlformats.org/officeDocument/2006/relationships/tags" Target="../tags/tag14.xml"/><Relationship Id="rId47" Type="http://schemas.openxmlformats.org/officeDocument/2006/relationships/image" Target="../media/image2.jpeg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8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9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0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1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2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图片1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6739414" y="483235"/>
            <a:ext cx="1133475" cy="530225"/>
          </a:xfrm>
          <a:prstGeom prst="rect">
            <a:avLst/>
          </a:prstGeom>
        </p:spPr>
      </p:pic>
    </p:spTree>
    <p:custDataLst>
      <p:tags r:id="rId5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2345"/>
          <p:cNvPicPr>
            <a:picLocks noChangeAspect="1"/>
          </p:cNvPicPr>
          <p:nvPr/>
        </p:nvPicPr>
        <p:blipFill>
          <a:blip r:embed="rId1"/>
          <a:srcRect l="9911" r="16378"/>
          <a:stretch>
            <a:fillRect/>
          </a:stretch>
        </p:blipFill>
        <p:spPr>
          <a:xfrm>
            <a:off x="3323273" y="1740694"/>
            <a:ext cx="2496979" cy="2259806"/>
          </a:xfrm>
          <a:prstGeom prst="rect">
            <a:avLst/>
          </a:prstGeom>
          <a:effectLst>
            <a:glow rad="50800">
              <a:schemeClr val="bg1">
                <a:alpha val="100000"/>
              </a:schemeClr>
            </a:glow>
            <a:softEdge rad="12700"/>
          </a:effectLst>
        </p:spPr>
      </p:pic>
      <p:sp>
        <p:nvSpPr>
          <p:cNvPr id="2" name="文本框 1" descr="7b0a2020202022776f7264617274223a20227b5c2269645c223a343532343831352c5c227469645c223a31333437377d220a7d0a"/>
          <p:cNvSpPr txBox="1"/>
          <p:nvPr/>
        </p:nvSpPr>
        <p:spPr>
          <a:xfrm>
            <a:off x="1063943" y="3981926"/>
            <a:ext cx="721471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汉仪综艺体简" charset="0"/>
                <a:sym typeface="+mn-ea"/>
              </a:rPr>
              <a:t>全国青少年机器人等级考试三级</a:t>
            </a:r>
            <a:endParaRPr lang="en-US" altLang="zh-CN" sz="3600" b="1" dirty="0">
              <a:ln w="2950" cap="sq">
                <a:solidFill>
                  <a:srgbClr val="F9FBFA"/>
                </a:solidFill>
                <a:miter/>
              </a:ln>
              <a:gradFill>
                <a:gsLst>
                  <a:gs pos="0">
                    <a:srgbClr val="E0E8E8"/>
                  </a:gs>
                  <a:gs pos="98039">
                    <a:srgbClr val="AAB3BC"/>
                  </a:gs>
                  <a:gs pos="64000">
                    <a:srgbClr val="B8BAC1"/>
                  </a:gs>
                  <a:gs pos="59000">
                    <a:srgbClr val="DFE5E9"/>
                  </a:gs>
                </a:gsLst>
                <a:lin ang="5340000" scaled="1"/>
              </a:gradFill>
              <a:effectLst>
                <a:outerShdw blurRad="27530" dist="25400" algn="l" rotWithShape="0">
                  <a:srgbClr val="131B0C"/>
                </a:outerShdw>
                <a:reflection blurRad="51128" stA="55000" endA="300" endPos="48000" dist="762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cs typeface="汉仪综艺体简" charset="0"/>
              <a:sym typeface="+mn-ea"/>
            </a:endParaRPr>
          </a:p>
          <a:p>
            <a:pPr algn="ctr"/>
            <a:r>
              <a:rPr lang="en-US" altLang="zh-CN" sz="36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汉仪综艺体简" charset="0"/>
                <a:sym typeface="+mn-ea"/>
              </a:rPr>
              <a:t>Arduino</a:t>
            </a:r>
            <a:r>
              <a:rPr lang="zh-CN" altLang="en-US" sz="36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汉仪综艺体简" charset="0"/>
                <a:ea typeface="微软雅黑" panose="020B0503020204020204" charset="-122"/>
                <a:cs typeface="汉仪综艺体简" charset="0"/>
                <a:sym typeface="+mn-ea"/>
              </a:rPr>
              <a:t>智能硬件课程</a:t>
            </a:r>
            <a:endParaRPr lang="zh-CN" altLang="en-US" sz="3600" b="1" dirty="0">
              <a:ln w="2950" cap="sq">
                <a:solidFill>
                  <a:srgbClr val="F9FBFA"/>
                </a:solidFill>
                <a:miter/>
              </a:ln>
              <a:gradFill>
                <a:gsLst>
                  <a:gs pos="0">
                    <a:srgbClr val="E0E8E8"/>
                  </a:gs>
                  <a:gs pos="98039">
                    <a:srgbClr val="AAB3BC"/>
                  </a:gs>
                  <a:gs pos="64000">
                    <a:srgbClr val="B8BAC1"/>
                  </a:gs>
                  <a:gs pos="59000">
                    <a:srgbClr val="DFE5E9"/>
                  </a:gs>
                </a:gsLst>
                <a:lin ang="5340000" scaled="1"/>
              </a:gradFill>
              <a:effectLst>
                <a:outerShdw blurRad="27530" dist="25400" algn="l" rotWithShape="0">
                  <a:srgbClr val="131B0C"/>
                </a:outerShdw>
                <a:reflection blurRad="51128" stA="55000" endA="300" endPos="48000" dist="76200" dir="5400000" sy="-100000" algn="bl" rotWithShape="0"/>
              </a:effectLst>
              <a:latin typeface="汉仪综艺体简" charset="0"/>
              <a:ea typeface="微软雅黑" panose="020B0503020204020204" charset="-122"/>
              <a:cs typeface="汉仪综艺体简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1520" y="620688"/>
            <a:ext cx="8712968" cy="540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1.Arduino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起源于哪里？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3000"/>
              </a:lnSpc>
            </a:pP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答：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Arduino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起源于意大利。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lnSpc>
                <a:spcPts val="3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2.Arduino UNO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型号是什么？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包含哪几大部分？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一共有多少个数字引脚？多少个模拟输入引脚？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的工作电压是多少？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3000"/>
              </a:lnSpc>
            </a:pP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答：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Arduino UNO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采用的芯片型号是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ATmega328P-PU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UNO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包含三大部分，分别是：处理器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、电源接口和扩展引脚。一共有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(D0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D13)14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个数字接口和（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A5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个模拟输入引脚（也可以当作数字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引脚），它的工作电压是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5V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拿取电子元件时的注意事项有哪些？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答：拿取电子元件时，一般抓取电子元件的非金属部分，尽量不要触碰引脚和焊点。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传感器和执行器的区别是什么？各有什么功能？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答：传感器是将外部的物理信号转化为电信号；执行器是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受到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电信号的控制，是将电信号转换成其它形式的信号，或将电能转换成其它形式能量的器件。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1.10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知识点梳理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1.10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知识点梳理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1196340"/>
            <a:ext cx="7739380" cy="4696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n-ea"/>
                <a:cs typeface="+mn-ea"/>
              </a:rPr>
              <a:t>5.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在搭设电路过程中，红色导线和黑色导线分别代表什么？</a:t>
            </a:r>
            <a:endParaRPr lang="zh-CN" altLang="zh-CN" sz="2000" b="1" dirty="0">
              <a:solidFill>
                <a:schemeClr val="bg1"/>
              </a:solidFill>
              <a:latin typeface="+mn-ea"/>
              <a:cs typeface="+mn-ea"/>
            </a:endParaRPr>
          </a:p>
          <a:p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答：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在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电路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搭设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过程中，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习惯用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红色线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与电源相连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，黑色线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与地相连，其他颜色线用作信号线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。</a:t>
            </a:r>
            <a:endParaRPr lang="zh-CN" altLang="zh-CN" sz="2000" b="1" dirty="0">
              <a:solidFill>
                <a:schemeClr val="bg1"/>
              </a:solidFill>
              <a:latin typeface="+mn-ea"/>
              <a:cs typeface="+mn-ea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n-ea"/>
                <a:cs typeface="+mn-ea"/>
              </a:rPr>
              <a:t>6.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程序上传除了需要选择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+mn-ea"/>
              </a:rPr>
              <a:t>控制器</a:t>
            </a:r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类型外，还需要选择什么？</a:t>
            </a:r>
            <a:endParaRPr lang="zh-CN" altLang="zh-CN" sz="2000" b="1" dirty="0">
              <a:solidFill>
                <a:schemeClr val="bg1"/>
              </a:solidFill>
              <a:latin typeface="+mn-ea"/>
              <a:cs typeface="+mn-ea"/>
            </a:endParaRPr>
          </a:p>
          <a:p>
            <a:r>
              <a:rPr lang="zh-CN" altLang="zh-CN" sz="2000" b="1" dirty="0">
                <a:solidFill>
                  <a:schemeClr val="bg1"/>
                </a:solidFill>
                <a:latin typeface="+mn-ea"/>
                <a:cs typeface="+mn-ea"/>
              </a:rPr>
              <a:t>答：还需要选择上传的端口号。</a:t>
            </a:r>
            <a:endParaRPr lang="zh-CN" altLang="zh-CN" sz="2000" b="1" dirty="0">
              <a:solidFill>
                <a:schemeClr val="bg1"/>
              </a:solidFill>
              <a:latin typeface="+mn-ea"/>
              <a:cs typeface="+mn-ea"/>
            </a:endParaRPr>
          </a:p>
          <a:p>
            <a:pPr lvl="0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7.Mixly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软件界面分为哪四个部分？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答：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Mixly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软件界面分为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部分：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界面左侧为模块区；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模块区的右侧是程序构建区；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模块区和程序构建区的下方是基本功能区，类似一般软件的菜单区；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界面的最下方是提示区。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+mn-ea"/>
              <a:cs typeface="+mn-ea"/>
            </a:endParaRPr>
          </a:p>
          <a:p>
            <a:pPr lvl="0"/>
            <a:endParaRPr lang="zh-CN" altLang="zh-CN" sz="2000" b="1" dirty="0">
              <a:solidFill>
                <a:schemeClr val="bg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文本框 216"/>
          <p:cNvSpPr txBox="1"/>
          <p:nvPr/>
        </p:nvSpPr>
        <p:spPr>
          <a:xfrm>
            <a:off x="2186305" y="4245610"/>
            <a:ext cx="2990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七课炫彩流水灯</a:t>
            </a:r>
            <a:endParaRPr lang="zh-CN" altLang="en-US" sz="2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704975" y="4414838"/>
            <a:ext cx="405000" cy="405000"/>
            <a:chOff x="848299" y="4208534"/>
            <a:chExt cx="262876" cy="308779"/>
          </a:xfrm>
        </p:grpSpPr>
        <p:sp>
          <p:nvSpPr>
            <p:cNvPr id="218" name="矩形: 圆角 217"/>
            <p:cNvSpPr/>
            <p:nvPr/>
          </p:nvSpPr>
          <p:spPr>
            <a:xfrm>
              <a:off x="946577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219" name="矩形: 圆角 218"/>
            <p:cNvSpPr/>
            <p:nvPr/>
          </p:nvSpPr>
          <p:spPr>
            <a:xfrm>
              <a:off x="1044855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FECE02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220" name="矩形: 圆角 219"/>
            <p:cNvSpPr/>
            <p:nvPr/>
          </p:nvSpPr>
          <p:spPr>
            <a:xfrm>
              <a:off x="848299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35E6FF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grpSp>
        <p:nvGrpSpPr>
          <p:cNvPr id="201" name="组合 200"/>
          <p:cNvGrpSpPr/>
          <p:nvPr/>
        </p:nvGrpSpPr>
        <p:grpSpPr>
          <a:xfrm rot="20190112">
            <a:off x="1061720" y="2592070"/>
            <a:ext cx="1091565" cy="1034415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196" name="矩形: 圆角 195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35E6FF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200" name="矩形: 圆角 199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sp>
        <p:nvSpPr>
          <p:cNvPr id="199" name="文本框 198"/>
          <p:cNvSpPr txBox="1"/>
          <p:nvPr/>
        </p:nvSpPr>
        <p:spPr>
          <a:xfrm rot="20190112">
            <a:off x="1034415" y="2752725"/>
            <a:ext cx="117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dirty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炫</a:t>
            </a:r>
            <a:endParaRPr lang="zh-CN" altLang="en-US" sz="54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2533724" y="2029269"/>
            <a:ext cx="1026671" cy="1026671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203" name="矩形: 圆角 202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FECE02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sp>
        <p:nvSpPr>
          <p:cNvPr id="205" name="文本框 204"/>
          <p:cNvSpPr txBox="1"/>
          <p:nvPr/>
        </p:nvSpPr>
        <p:spPr>
          <a:xfrm>
            <a:off x="2687126" y="2113105"/>
            <a:ext cx="73271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dirty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彩</a:t>
            </a:r>
            <a:endParaRPr lang="zh-CN" altLang="en-US" sz="54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3879850" y="1772285"/>
            <a:ext cx="927735" cy="1111250"/>
            <a:chOff x="2943226" y="3000328"/>
            <a:chExt cx="1368894" cy="1368894"/>
          </a:xfrm>
          <a:effectLst>
            <a:outerShdw blurRad="203200" dist="38100" dir="10800000" sx="104000" sy="104000" algn="r" rotWithShape="0">
              <a:prstClr val="black">
                <a:alpha val="40000"/>
              </a:prstClr>
            </a:outerShdw>
          </a:effectLst>
        </p:grpSpPr>
        <p:sp>
          <p:nvSpPr>
            <p:cNvPr id="2" name="矩形: 圆角 206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3" name="矩形: 圆角 207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847465" y="1844675"/>
            <a:ext cx="992505" cy="125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5400" dirty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流</a:t>
            </a:r>
            <a:endParaRPr lang="zh-CN" altLang="en-US" sz="54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14" name="组合 201"/>
          <p:cNvGrpSpPr/>
          <p:nvPr/>
        </p:nvGrpSpPr>
        <p:grpSpPr>
          <a:xfrm rot="170318">
            <a:off x="5063750" y="2185966"/>
            <a:ext cx="1026671" cy="1026671"/>
            <a:chOff x="2943226" y="3000328"/>
            <a:chExt cx="1368894" cy="1368894"/>
          </a:xfrm>
          <a:solidFill>
            <a:srgbClr val="FF0000"/>
          </a:solidFill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15" name="矩形: 圆角 202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grpFill/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16" name="矩形: 圆角 203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grp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03829" y="2249323"/>
            <a:ext cx="73271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dirty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水</a:t>
            </a:r>
            <a:endParaRPr lang="zh-CN" altLang="en-US" sz="54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6235466" y="2327687"/>
            <a:ext cx="1026671" cy="1026671"/>
            <a:chOff x="2943226" y="3000328"/>
            <a:chExt cx="1368894" cy="1368894"/>
          </a:xfrm>
          <a:effectLst>
            <a:outerShdw blurRad="203200" dist="38100" dir="10800000" sx="104000" sy="104000" algn="r" rotWithShape="0">
              <a:prstClr val="black">
                <a:alpha val="40000"/>
              </a:prstClr>
            </a:outerShdw>
          </a:effectLst>
        </p:grpSpPr>
        <p:sp>
          <p:nvSpPr>
            <p:cNvPr id="48" name="矩形: 圆角 206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chemeClr val="accent6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  <p:sp>
          <p:nvSpPr>
            <p:cNvPr id="49" name="矩形: 圆角 207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p>
              <a:pPr algn="ctr"/>
              <a:endParaRPr lang="zh-CN" altLang="en-US" sz="1350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6382444" y="2446887"/>
            <a:ext cx="73271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dirty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灯</a:t>
            </a:r>
            <a:endParaRPr lang="zh-CN" altLang="en-US" sz="54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课程目标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35580" y="4542155"/>
            <a:ext cx="43345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认识电路的相关知识；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学习搭建电路；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学习流水灯程序的编写；。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流程图的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、初步了解变量的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 descr="b7003af33a87e9506454c5e61a385343faf2b4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405" y="1104405"/>
            <a:ext cx="4770948" cy="3442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炫彩流水灯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4"/>
          <p:cNvSpPr txBox="1"/>
          <p:nvPr/>
        </p:nvSpPr>
        <p:spPr>
          <a:xfrm>
            <a:off x="215960" y="908978"/>
            <a:ext cx="8712968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你留意过晚上，写字楼、大商场和各种餐厅上面挂的广告牌吗？各种动画和文字交相辉映，一串串灯如行云流水般闪烁，你知道原理吗？这一章将教你做一个最简单的流水灯，我们一起来学习吧！</a:t>
            </a:r>
            <a:endParaRPr lang="en-US" altLang="zh-CN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在制作炫彩流水灯之前，要先了解电流、电压、电阻等一些电路的基本概念。本章由基本概念、器件介绍，以及相互关联的四个项目组成，通过搭设基本的电路，进一步加深对并联电路、串联电路以及一些元器件的认识；然后，循序渐进，完成炫彩流水灯。</a:t>
            </a:r>
            <a:endParaRPr lang="zh-CN" altLang="en-US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 descr="图片包含 地毯, 家具, 建筑, 街道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44" y="4004637"/>
            <a:ext cx="5185431" cy="27655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763688" y="2082630"/>
            <a:ext cx="1080120" cy="33745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处理框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菱形 21"/>
          <p:cNvSpPr/>
          <p:nvPr/>
        </p:nvSpPr>
        <p:spPr>
          <a:xfrm>
            <a:off x="3016424" y="1988841"/>
            <a:ext cx="1438837" cy="503734"/>
          </a:xfrm>
          <a:prstGeom prst="diamond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判断框</a:t>
            </a:r>
            <a:endParaRPr lang="zh-CN" altLang="en-US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4521695" y="2082630"/>
            <a:ext cx="1523681" cy="337456"/>
          </a:xfrm>
          <a:prstGeom prst="parallelogram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输出框</a:t>
            </a:r>
            <a:endParaRPr lang="zh-CN" altLang="en-US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351377" y="2236730"/>
            <a:ext cx="864096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9"/>
          <p:cNvSpPr txBox="1"/>
          <p:nvPr/>
        </p:nvSpPr>
        <p:spPr>
          <a:xfrm>
            <a:off x="1809299" y="2421692"/>
            <a:ext cx="1178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程序中的活动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3131840" y="2420888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判断事件做出决定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31"/>
          <p:cNvSpPr txBox="1"/>
          <p:nvPr/>
        </p:nvSpPr>
        <p:spPr>
          <a:xfrm>
            <a:off x="4550296" y="2422049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Box 32"/>
          <p:cNvSpPr txBox="1"/>
          <p:nvPr/>
        </p:nvSpPr>
        <p:spPr>
          <a:xfrm>
            <a:off x="5977038" y="2420086"/>
            <a:ext cx="1738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连接线</a:t>
            </a:r>
            <a:endParaRPr lang="en-US" altLang="zh-CN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流程发展方向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流程图: 接点 1"/>
          <p:cNvSpPr/>
          <p:nvPr/>
        </p:nvSpPr>
        <p:spPr>
          <a:xfrm>
            <a:off x="8057969" y="2060848"/>
            <a:ext cx="386733" cy="337455"/>
          </a:xfrm>
          <a:prstGeom prst="flowChartConnec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30" name="TextBox 32"/>
          <p:cNvSpPr txBox="1"/>
          <p:nvPr/>
        </p:nvSpPr>
        <p:spPr>
          <a:xfrm>
            <a:off x="7760626" y="2403324"/>
            <a:ext cx="98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连接点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流程图: 终止 44"/>
          <p:cNvSpPr/>
          <p:nvPr/>
        </p:nvSpPr>
        <p:spPr>
          <a:xfrm>
            <a:off x="5495347" y="3465428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6" name="直接箭头连接符 45"/>
          <p:cNvCxnSpPr>
            <a:stCxn id="45" idx="2"/>
            <a:endCxn id="47" idx="0"/>
          </p:cNvCxnSpPr>
          <p:nvPr/>
        </p:nvCxnSpPr>
        <p:spPr>
          <a:xfrm>
            <a:off x="5977038" y="3753781"/>
            <a:ext cx="0" cy="28867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5256958" y="4042458"/>
            <a:ext cx="1440160" cy="28835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打开电水壶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8" name="直接箭头连接符 47"/>
          <p:cNvCxnSpPr>
            <a:stCxn id="47" idx="2"/>
            <a:endCxn id="49" idx="0"/>
          </p:cNvCxnSpPr>
          <p:nvPr/>
        </p:nvCxnSpPr>
        <p:spPr>
          <a:xfrm>
            <a:off x="5977038" y="4330811"/>
            <a:ext cx="6388" cy="2864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4903306" y="4617234"/>
            <a:ext cx="2160240" cy="288675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将冷水导入电水壶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0" name="直接箭头连接符 49"/>
          <p:cNvCxnSpPr>
            <a:stCxn id="49" idx="2"/>
            <a:endCxn id="51" idx="0"/>
          </p:cNvCxnSpPr>
          <p:nvPr/>
        </p:nvCxnSpPr>
        <p:spPr>
          <a:xfrm>
            <a:off x="5983426" y="4905909"/>
            <a:ext cx="0" cy="2864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263346" y="5192332"/>
            <a:ext cx="1440160" cy="28706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盖上电水壶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2" name="直接箭头连接符 51"/>
          <p:cNvCxnSpPr>
            <a:stCxn id="51" idx="2"/>
            <a:endCxn id="53" idx="0"/>
          </p:cNvCxnSpPr>
          <p:nvPr/>
        </p:nvCxnSpPr>
        <p:spPr>
          <a:xfrm>
            <a:off x="5983426" y="5479398"/>
            <a:ext cx="0" cy="2864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263346" y="5765821"/>
            <a:ext cx="1440160" cy="28706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插上电源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4" name="直接箭头连接符 53"/>
          <p:cNvCxnSpPr>
            <a:stCxn id="53" idx="2"/>
            <a:endCxn id="55" idx="0"/>
          </p:cNvCxnSpPr>
          <p:nvPr/>
        </p:nvCxnSpPr>
        <p:spPr>
          <a:xfrm>
            <a:off x="5983426" y="6052887"/>
            <a:ext cx="0" cy="2864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流程图: 终止 54"/>
          <p:cNvSpPr/>
          <p:nvPr/>
        </p:nvSpPr>
        <p:spPr>
          <a:xfrm>
            <a:off x="5501735" y="6339310"/>
            <a:ext cx="963382" cy="287066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结束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124585"/>
            <a:ext cx="8568055" cy="56489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512" y="116632"/>
            <a:ext cx="71287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2.1 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程序与流程图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endParaRPr lang="zh-CN" altLang="en-US" sz="22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/>
      <p:bldP spid="27" grpId="0"/>
      <p:bldP spid="28" grpId="0"/>
      <p:bldP spid="29" grpId="0"/>
      <p:bldP spid="2" grpId="0" animBg="1"/>
      <p:bldP spid="30" grpId="0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肘形连接符 12295"/>
          <p:cNvCxnSpPr>
            <a:stCxn id="44" idx="2"/>
          </p:cNvCxnSpPr>
          <p:nvPr/>
        </p:nvCxnSpPr>
        <p:spPr>
          <a:xfrm rot="5400000" flipH="1">
            <a:off x="792660" y="4362075"/>
            <a:ext cx="2157869" cy="6598"/>
          </a:xfrm>
          <a:prstGeom prst="bentConnector4">
            <a:avLst>
              <a:gd name="adj1" fmla="val -10594"/>
              <a:gd name="adj2" fmla="val -17155108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15960" y="980733"/>
            <a:ext cx="8712968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让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灯以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毫秒的频率一直闪烁。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先画流程图，再编写程序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流程图: 终止 19"/>
          <p:cNvSpPr/>
          <p:nvPr/>
        </p:nvSpPr>
        <p:spPr>
          <a:xfrm>
            <a:off x="1393203" y="1700808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1" name="直接箭头连接符 20"/>
          <p:cNvCxnSpPr>
            <a:stCxn id="63" idx="2"/>
            <a:endCxn id="22" idx="0"/>
          </p:cNvCxnSpPr>
          <p:nvPr/>
        </p:nvCxnSpPr>
        <p:spPr>
          <a:xfrm>
            <a:off x="1874894" y="2567485"/>
            <a:ext cx="13" cy="29355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971613" y="2861035"/>
            <a:ext cx="1806588" cy="28771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3" name="直接箭头连接符 22"/>
          <p:cNvCxnSpPr>
            <a:stCxn id="22" idx="2"/>
            <a:endCxn id="24" idx="0"/>
          </p:cNvCxnSpPr>
          <p:nvPr/>
        </p:nvCxnSpPr>
        <p:spPr>
          <a:xfrm flipH="1">
            <a:off x="1874899" y="3148745"/>
            <a:ext cx="8" cy="28706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971605" y="3435810"/>
            <a:ext cx="1806588" cy="2870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/>
          <p:cNvCxnSpPr>
            <a:stCxn id="24" idx="2"/>
            <a:endCxn id="26" idx="0"/>
          </p:cNvCxnSpPr>
          <p:nvPr/>
        </p:nvCxnSpPr>
        <p:spPr>
          <a:xfrm>
            <a:off x="1874899" y="3722877"/>
            <a:ext cx="0" cy="28803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71605" y="4010908"/>
            <a:ext cx="1806588" cy="28642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7" name="直接箭头连接符 26"/>
          <p:cNvCxnSpPr>
            <a:stCxn id="26" idx="2"/>
            <a:endCxn id="28" idx="0"/>
          </p:cNvCxnSpPr>
          <p:nvPr/>
        </p:nvCxnSpPr>
        <p:spPr>
          <a:xfrm flipH="1">
            <a:off x="1874894" y="4297330"/>
            <a:ext cx="5" cy="28706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971600" y="4584397"/>
            <a:ext cx="1806587" cy="28642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28" idx="2"/>
            <a:endCxn id="44" idx="0"/>
          </p:cNvCxnSpPr>
          <p:nvPr/>
        </p:nvCxnSpPr>
        <p:spPr>
          <a:xfrm>
            <a:off x="1874894" y="4870819"/>
            <a:ext cx="0" cy="28706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971600" y="5157886"/>
            <a:ext cx="1806588" cy="28642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79912" y="2391427"/>
            <a:ext cx="4993839" cy="2507194"/>
          </a:xfrm>
          <a:prstGeom prst="rect">
            <a:avLst/>
          </a:prstGeom>
        </p:spPr>
      </p:pic>
      <p:cxnSp>
        <p:nvCxnSpPr>
          <p:cNvPr id="62" name="直接箭头连接符 61"/>
          <p:cNvCxnSpPr>
            <a:stCxn id="20" idx="2"/>
            <a:endCxn id="63" idx="0"/>
          </p:cNvCxnSpPr>
          <p:nvPr/>
        </p:nvCxnSpPr>
        <p:spPr>
          <a:xfrm>
            <a:off x="1874894" y="1989161"/>
            <a:ext cx="0" cy="29061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971600" y="2279775"/>
            <a:ext cx="1806588" cy="28771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" y="1608455"/>
            <a:ext cx="8274050" cy="418592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79512" y="116632"/>
            <a:ext cx="71287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2.1 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程序与流程图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endParaRPr lang="zh-CN" altLang="en-US" sz="22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6" grpId="0" animBg="1"/>
      <p:bldP spid="28" grpId="0" animBg="1"/>
      <p:bldP spid="44" grpId="0" animBg="1"/>
      <p:bldP spid="6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51460" y="620395"/>
            <a:ext cx="235839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上传程序：</a:t>
            </a:r>
            <a:endParaRPr lang="zh-CN" altLang="en-US" sz="24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143908"/>
            <a:ext cx="8680701" cy="4661356"/>
          </a:xfrm>
          <a:prstGeom prst="rect">
            <a:avLst/>
          </a:prstGeom>
        </p:spPr>
      </p:pic>
      <p:sp>
        <p:nvSpPr>
          <p:cNvPr id="33" name="椭圆 32"/>
          <p:cNvSpPr/>
          <p:nvPr/>
        </p:nvSpPr>
        <p:spPr>
          <a:xfrm>
            <a:off x="6228184" y="4437111"/>
            <a:ext cx="252028" cy="2424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5832140" y="4437112"/>
            <a:ext cx="252028" cy="2424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211778" y="5373216"/>
            <a:ext cx="436293" cy="178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"/>
          <p:cNvSpPr txBox="1"/>
          <p:nvPr/>
        </p:nvSpPr>
        <p:spPr>
          <a:xfrm>
            <a:off x="6660232" y="2881056"/>
            <a:ext cx="1584176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选择主控板型号和端口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" name="直接箭头连接符 36"/>
          <p:cNvCxnSpPr>
            <a:stCxn id="36" idx="2"/>
            <a:endCxn id="16" idx="0"/>
          </p:cNvCxnSpPr>
          <p:nvPr/>
        </p:nvCxnSpPr>
        <p:spPr>
          <a:xfrm flipH="1">
            <a:off x="7286110" y="3527387"/>
            <a:ext cx="166210" cy="9097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Box 36"/>
          <p:cNvSpPr txBox="1"/>
          <p:nvPr/>
        </p:nvSpPr>
        <p:spPr>
          <a:xfrm>
            <a:off x="2069722" y="3851756"/>
            <a:ext cx="300633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选择编译，等待编译成功。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9" name="直接箭头连接符 38"/>
          <p:cNvCxnSpPr>
            <a:stCxn id="38" idx="3"/>
            <a:endCxn id="34" idx="2"/>
          </p:cNvCxnSpPr>
          <p:nvPr/>
        </p:nvCxnSpPr>
        <p:spPr>
          <a:xfrm>
            <a:off x="5076056" y="4036422"/>
            <a:ext cx="756084" cy="5218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39"/>
          <p:cNvSpPr txBox="1"/>
          <p:nvPr/>
        </p:nvSpPr>
        <p:spPr>
          <a:xfrm>
            <a:off x="1646058" y="5041296"/>
            <a:ext cx="300633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选择上传，等待上传成功。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2" name="直接箭头连接符 41"/>
          <p:cNvCxnSpPr>
            <a:stCxn id="41" idx="1"/>
            <a:endCxn id="35" idx="6"/>
          </p:cNvCxnSpPr>
          <p:nvPr/>
        </p:nvCxnSpPr>
        <p:spPr>
          <a:xfrm flipH="1">
            <a:off x="648071" y="5225962"/>
            <a:ext cx="997987" cy="2365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41" idx="3"/>
            <a:endCxn id="33" idx="4"/>
          </p:cNvCxnSpPr>
          <p:nvPr/>
        </p:nvCxnSpPr>
        <p:spPr>
          <a:xfrm flipV="1">
            <a:off x="4652392" y="4679514"/>
            <a:ext cx="1701806" cy="5464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矩形: 圆角 15"/>
          <p:cNvSpPr/>
          <p:nvPr/>
        </p:nvSpPr>
        <p:spPr>
          <a:xfrm>
            <a:off x="6543836" y="4437111"/>
            <a:ext cx="1484548" cy="2424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512" y="116632"/>
            <a:ext cx="71287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2.1 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程序与流程图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r>
              <a:rPr lang="en-US" altLang="zh-CN" sz="2200" dirty="0">
                <a:solidFill>
                  <a:schemeClr val="bg1"/>
                </a:solidFill>
                <a:highlight>
                  <a:srgbClr val="0000FF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2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endParaRPr lang="zh-CN" altLang="en-US" sz="22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8" grpId="0" animBg="1"/>
      <p:bldP spid="4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常量、变量、函数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695" y="1124585"/>
            <a:ext cx="8583295" cy="5321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常量、变量、函数是学习编程必须要理解的基础概念。函数有助于程序的结构化，使得程序的可读性和可维护性大大提高。如果不使用变量和常量，那么修改程序时，如果需要修改例如：“</a:t>
            </a:r>
            <a:r>
              <a: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”这个值，就必须在程序中一处一处修改，非常麻烦，如果改错或漏改程序将无法预期运行。而使用变量和常量，则只需要修改常量及变量一处的数值，不用重复修改。</a:t>
            </a:r>
            <a:endParaRPr lang="en-US" altLang="zh-CN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en-US" altLang="zh-CN" sz="2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Arduino C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语言中，“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</a:rPr>
              <a:t>=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”是赋值的含义，即把等号右边的表达式的值赋予左边的常量或变量。</a:t>
            </a:r>
            <a:endParaRPr lang="en-US" altLang="zh-CN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程序运行时的数据保存在内存中，那如何从茫茫内存中找到相应的数据呢？内存类似宾馆的房间，每个内存空间以字节（</a:t>
            </a:r>
            <a:r>
              <a:rPr lang="en-US" altLang="zh-CN" sz="2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Byte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）为单位，都有一个唯一的编号，术语叫做“地址”。变量名在程序运行时，对应于存储数据的首地址。类似根据房间号，能找到对应房间一样，根据变量名，可以定位到数据存储所占用内存空间的对应地址。</a:t>
            </a:r>
            <a:endParaRPr lang="zh-CN" altLang="en-US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51460" y="1412240"/>
            <a:ext cx="435864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是用于临时存放数据的一种符号，必须先声明（定义名字）再使用</a:t>
            </a:r>
            <a:endParaRPr lang="zh-CN" altLang="en-US" sz="16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825" y="2204720"/>
            <a:ext cx="439229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变量命名规则：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变量名只能是字母(a-z A-Z)，数字(0-9)，下划线(_)的组合，并且之间不能包含空格，数字不能放在变量名首位，取名要方便记忆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变量名不能和系统的关键字重名。</a:t>
            </a:r>
            <a:endParaRPr lang="zh-CN" altLang="en-US" sz="16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endParaRPr lang="zh-CN" altLang="en-US" sz="16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5" name="图片 4" descr="红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3535" y="1969135"/>
            <a:ext cx="692150" cy="952500"/>
          </a:xfrm>
          <a:prstGeom prst="rect">
            <a:avLst/>
          </a:prstGeom>
        </p:spPr>
      </p:pic>
      <p:pic>
        <p:nvPicPr>
          <p:cNvPr id="8" name="图片 7" descr="红包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50" y="1741170"/>
            <a:ext cx="725170" cy="991235"/>
          </a:xfrm>
          <a:prstGeom prst="rect">
            <a:avLst/>
          </a:prstGeom>
        </p:spPr>
      </p:pic>
      <p:pic>
        <p:nvPicPr>
          <p:cNvPr id="9" name="图片 8" descr="红包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565" y="3422015"/>
            <a:ext cx="1137920" cy="9728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82845" y="1268730"/>
            <a:ext cx="1461770" cy="5835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比如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张叔叔的红包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76795" y="1260475"/>
            <a:ext cx="1200150" cy="3371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rIns="0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儿童节红包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0190" y="3716655"/>
            <a:ext cx="359283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变量赋值：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给变量赋值好比充值</a:t>
            </a:r>
            <a:endParaRPr lang="zh-CN" altLang="en-US" sz="16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44615" y="3616960"/>
            <a:ext cx="1641475" cy="5835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我的零钱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=18654126.54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0825" y="4725035"/>
            <a:ext cx="316992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变量类型与长度：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表达不同类型的数据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为了节省空间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需要选择不同长度和类型的变量，好比选择合适的交通工具</a:t>
            </a:r>
            <a:endParaRPr lang="zh-CN" altLang="en-US" sz="16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5" name="图片 14" descr="动车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575" y="5085080"/>
            <a:ext cx="1240790" cy="851535"/>
          </a:xfrm>
          <a:prstGeom prst="rect">
            <a:avLst/>
          </a:prstGeom>
        </p:spPr>
      </p:pic>
      <p:pic>
        <p:nvPicPr>
          <p:cNvPr id="16" name="图片 15" descr="小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765" y="5057775"/>
            <a:ext cx="1203960" cy="716280"/>
          </a:xfrm>
          <a:prstGeom prst="rect">
            <a:avLst/>
          </a:prstGeom>
        </p:spPr>
      </p:pic>
      <p:pic>
        <p:nvPicPr>
          <p:cNvPr id="17" name="图片 16" descr="猪车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215" y="4973320"/>
            <a:ext cx="1372870" cy="10280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563620" y="4600575"/>
            <a:ext cx="1717040" cy="3371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需要装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位小朋友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23535" y="4591050"/>
            <a:ext cx="1717040" cy="3371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需要装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800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位乘客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83450" y="4580890"/>
            <a:ext cx="1480185" cy="3371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需要装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99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头猪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3215" y="6236970"/>
            <a:ext cx="571055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选择变量类型和长度是根据需要决定的，先要弄清楚需求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常量、变量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11505" y="2276475"/>
          <a:ext cx="7609840" cy="295719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77365"/>
                <a:gridCol w="1224280"/>
                <a:gridCol w="935990"/>
                <a:gridCol w="3672205"/>
              </a:tblGrid>
              <a:tr h="33210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类型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描述符号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字节数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范围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329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布尔型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boolean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altLang="zh-C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false)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字符型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char</a:t>
                      </a:r>
                      <a:endParaRPr lang="en-US" sz="1800" u="none" strike="noStrike" kern="1200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zh-CN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-128</a:t>
                      </a:r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～</a:t>
                      </a:r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127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字节型</a:t>
                      </a:r>
                      <a:endParaRPr lang="zh-CN" altLang="en-US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byte</a:t>
                      </a:r>
                      <a:endParaRPr lang="en-US" sz="1800" u="none" strike="noStrike" kern="1200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C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255</a:t>
                      </a:r>
                      <a:endParaRPr lang="en-US" altLang="zh-CN" sz="1800" b="1" i="0" u="none" strike="noStrike" dirty="0">
                        <a:solidFill>
                          <a:schemeClr val="tx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整型</a:t>
                      </a:r>
                      <a:endParaRPr lang="zh-CN" altLang="en-US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int</a:t>
                      </a:r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-32768</a:t>
                      </a:r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～</a:t>
                      </a:r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32767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3422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长整型</a:t>
                      </a:r>
                      <a:endParaRPr lang="zh-CN" altLang="en-US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long</a:t>
                      </a:r>
                      <a:endParaRPr lang="en-US" sz="1800" u="none" strike="noStrike" kern="1200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-2147 483 648</a:t>
                      </a:r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～</a:t>
                      </a:r>
                      <a:r>
                        <a:rPr lang="en-US" altLang="zh-C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2147 483 647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5581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单精度浮点数型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float</a:t>
                      </a:r>
                      <a:endParaRPr lang="en-US" sz="1800" u="none" strike="noStrike" kern="1200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zh-CN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3.402 823 5E+38～-3.402 823 5</a:t>
                      </a:r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</a:t>
                      </a:r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+38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3676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无符号数</a:t>
                      </a:r>
                      <a:endParaRPr lang="zh-CN" altLang="en-US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bg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unsigned</a:t>
                      </a:r>
                      <a:endParaRPr lang="en-US" sz="1800" u="none" strike="noStrike" kern="1200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zh-CN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51520" y="5661248"/>
            <a:ext cx="8712968" cy="850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无符号数“</a:t>
            </a:r>
            <a:r>
              <a:rPr lang="en-US" altLang="zh-CN" sz="2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unsigned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”代表变量仅保存大于或等于</a:t>
            </a:r>
            <a:r>
              <a: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的数，如此能扩大正数保存的数值范围。</a:t>
            </a:r>
            <a:endParaRPr lang="zh-CN" altLang="en-US" sz="2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常量、变量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360" y="1340485"/>
            <a:ext cx="7642225" cy="6451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ARDUINO C</a:t>
            </a:r>
            <a:r>
              <a:rPr lang="zh-CN" altLang="en-US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中的数据类型、描述方法、占用电脑内存字节数、对应的数值范围</a:t>
            </a:r>
            <a:endParaRPr lang="zh-CN" altLang="en-US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肘形连接符 12295"/>
          <p:cNvCxnSpPr>
            <a:stCxn id="35" idx="2"/>
          </p:cNvCxnSpPr>
          <p:nvPr/>
        </p:nvCxnSpPr>
        <p:spPr>
          <a:xfrm rot="5400000" flipH="1">
            <a:off x="707380" y="4565749"/>
            <a:ext cx="2328646" cy="6367"/>
          </a:xfrm>
          <a:prstGeom prst="bentConnector4">
            <a:avLst>
              <a:gd name="adj1" fmla="val -7388"/>
              <a:gd name="adj2" fmla="val -21362777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流程图: 终止 19"/>
          <p:cNvSpPr/>
          <p:nvPr/>
        </p:nvSpPr>
        <p:spPr>
          <a:xfrm>
            <a:off x="1386828" y="1877017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1" name="直接箭头连接符 20"/>
          <p:cNvCxnSpPr>
            <a:stCxn id="20" idx="2"/>
            <a:endCxn id="22" idx="0"/>
          </p:cNvCxnSpPr>
          <p:nvPr/>
        </p:nvCxnSpPr>
        <p:spPr>
          <a:xfrm>
            <a:off x="1868519" y="2165370"/>
            <a:ext cx="6388" cy="28867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971613" y="2454048"/>
            <a:ext cx="1806588" cy="28771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3" name="直接箭头连接符 22"/>
          <p:cNvCxnSpPr>
            <a:stCxn id="22" idx="2"/>
            <a:endCxn id="31" idx="0"/>
          </p:cNvCxnSpPr>
          <p:nvPr/>
        </p:nvCxnSpPr>
        <p:spPr>
          <a:xfrm flipH="1">
            <a:off x="1874894" y="2741758"/>
            <a:ext cx="13" cy="2440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86769" y="3561896"/>
            <a:ext cx="2376259" cy="53144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红色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毫秒，灭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9502" y="1643645"/>
            <a:ext cx="3528337" cy="5097723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971600" y="2985812"/>
            <a:ext cx="1806588" cy="28771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31"/>
          <p:cNvCxnSpPr>
            <a:stCxn id="31" idx="2"/>
          </p:cNvCxnSpPr>
          <p:nvPr/>
        </p:nvCxnSpPr>
        <p:spPr>
          <a:xfrm flipH="1">
            <a:off x="1874886" y="3273522"/>
            <a:ext cx="8" cy="28706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686756" y="4382034"/>
            <a:ext cx="2376259" cy="53144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黄色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毫秒，灭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箭头连接符 33"/>
          <p:cNvCxnSpPr>
            <a:stCxn id="24" idx="2"/>
            <a:endCxn id="33" idx="0"/>
          </p:cNvCxnSpPr>
          <p:nvPr/>
        </p:nvCxnSpPr>
        <p:spPr>
          <a:xfrm flipH="1">
            <a:off x="1874886" y="4093339"/>
            <a:ext cx="13" cy="28869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86756" y="5201812"/>
            <a:ext cx="2376259" cy="53144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绿色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毫秒，灭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6" name="直接箭头连接符 35"/>
          <p:cNvCxnSpPr>
            <a:stCxn id="33" idx="2"/>
            <a:endCxn id="35" idx="0"/>
          </p:cNvCxnSpPr>
          <p:nvPr/>
        </p:nvCxnSpPr>
        <p:spPr>
          <a:xfrm>
            <a:off x="1874886" y="4913477"/>
            <a:ext cx="0" cy="28833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600200"/>
            <a:ext cx="8260080" cy="5184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520" y="620688"/>
            <a:ext cx="8712968" cy="792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让三个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灯以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毫秒的频率依次亮灭。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先画流程图，再编写程序</a:t>
            </a:r>
            <a:r>
              <a:rPr lang="en-US" altLang="zh-CN" sz="1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编程实现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不带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31" grpId="0" animBg="1"/>
      <p:bldP spid="33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8877" y="764332"/>
            <a:ext cx="59046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器件介绍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4"/>
          <p:cNvSpPr txBox="1"/>
          <p:nvPr/>
        </p:nvSpPr>
        <p:spPr>
          <a:xfrm>
            <a:off x="2123728" y="1412533"/>
            <a:ext cx="6840760" cy="313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红绿灯模块  红绿灯模块是仿制马路上的红绿灯而设计的，由红、黄、绿三个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灯组成。为了使用方便，模块电路已经集成了电阻。使用时，将控制红、黄、绿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灯的数字输出引脚直接和模块的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R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Red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Yellow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G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Green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引脚相连，用对应的引脚来控制对应的颜色，模块的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GND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UNO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主板的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GND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相连接。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5000" contrast="5000"/>
                    </a14:imgEffect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68894"/>
            <a:ext cx="1800200" cy="1942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编程实现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764540"/>
            <a:ext cx="4401185" cy="5915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80380" y="1628775"/>
            <a:ext cx="3067685" cy="925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试着改变变量表示的引脚顺序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0380" y="2790825"/>
            <a:ext cx="317436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初始化模块</a:t>
            </a:r>
            <a:r>
              <a:rPr lang="zh-CN" altLang="zh-CN" sz="24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中的程序语句只执行一次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主程序语句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一直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4068445" y="1196340"/>
            <a:ext cx="1583690" cy="4324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4211955" y="1556385"/>
            <a:ext cx="1512570" cy="1441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048125" y="1700530"/>
            <a:ext cx="160401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7122" y="115997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编程实现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带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620395"/>
            <a:ext cx="3947795" cy="6322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80380" y="1628775"/>
            <a:ext cx="3067685" cy="925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试着改变变量表示的时间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50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0380" y="2790825"/>
            <a:ext cx="245300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上传程序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后观察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284345" y="1700530"/>
            <a:ext cx="1440180" cy="2159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编程实现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炫彩流水灯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带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9512" y="116632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知识点梳理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620688"/>
            <a:ext cx="8712968" cy="5703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常用元器件的电源和接地都有哪些符号来表示？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答：电源符号：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5V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VCC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VDD</a:t>
            </a:r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VIN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接地符号：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GND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VEE</a:t>
            </a:r>
            <a:r>
              <a:rPr lang="zh-CN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VSS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为什么用电信号来储存和表达信息？数字信号和模拟信号的区别是什么？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答：电信号很容易传送、控制和存储，所以电信号是目前应用最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广泛的信号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之一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模拟信号在时间和数值上均具有连续性。数字信号在时间和数值上均具有离散性。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如何区分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的阴极和阳极？一般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的工作电压是多少？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答：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在引出的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两根引脚中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较长的引脚是阳极，较短的引脚是阴极。一般直径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mm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额定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工作电压在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1.7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之间。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520" y="620688"/>
            <a:ext cx="8712968" cy="319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变量名的命名规则和注意事项有哪些？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答：变量名称只能包含英文字母、数字和下画线“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_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变量名的第一个字不能是数字。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此外，变量命名还应注意如下事项：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变量名不能和系统的关键字重名。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变量名区分大小写，例如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pin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Pin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代表两个不同的变量名。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变量名应该尽可能使用有含义的名字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122" y="115997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知识点梳理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665" y="1124878"/>
            <a:ext cx="871296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变量有哪些数据类型？程序运行时不同类型的变量在内存中占用几个字节？</a:t>
            </a:r>
            <a:endParaRPr lang="zh-CN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答：</a:t>
            </a:r>
            <a:r>
              <a:rPr lang="en-US" altLang="zh-CN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Arduino c</a:t>
            </a:r>
            <a:r>
              <a:rPr lang="zh-CN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语言数据类型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2420620"/>
            <a:ext cx="3630295" cy="3818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9705" y="116840"/>
            <a:ext cx="336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知识点梳理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0000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课后任务</a:t>
            </a:r>
            <a:endParaRPr lang="zh-CN" altLang="en-US" sz="2800" dirty="0">
              <a:solidFill>
                <a:schemeClr val="bg1"/>
              </a:solidFill>
              <a:highlight>
                <a:srgbClr val="0000FF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60" y="1269023"/>
            <a:ext cx="871296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复习本节思考题，下节课（课前复习）将提问。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练习本节课两个任务的流程图画法和程序的编写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PLACING_PICTURE_USER_VIEWPORT" val="{&quot;height&quot;:835,&quot;width&quot;:2380}"/>
</p:tagLst>
</file>

<file path=ppt/tags/tag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.xml><?xml version="1.0" encoding="utf-8"?>
<p:tagLst xmlns:p="http://schemas.openxmlformats.org/presentationml/2006/main">
  <p:tag name="KSO_WM_UNIT_TABLE_BEAUTIFY" val="smartTable{74f1a096-3156-47df-b8f2-f8454a7e73da}"/>
  <p:tag name="TABLE_ENDDRAG_ORIGIN_RECT" val="599*227"/>
  <p:tag name="TABLE_ENDDRAG_RECT" val="60*234*599*227"/>
</p:tagLst>
</file>

<file path=ppt/tags/tag24.xml><?xml version="1.0" encoding="utf-8"?>
<p:tagLst xmlns:p="http://schemas.openxmlformats.org/presentationml/2006/main">
  <p:tag name="KSO_WPP_MARK_KEY" val="2c3b2ff3-ee33-4e25-b25e-67dfc54869f5"/>
  <p:tag name="COMMONDATA" val="eyJoZGlkIjoiNWQ0YTlkMWQxYTgyMmM0NWI5YjBjZmIzN2UzNzU1Nj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3070</Words>
  <Application>WPS 演示</Application>
  <PresentationFormat>全屏显示(4:3)</PresentationFormat>
  <Paragraphs>279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Wingdings</vt:lpstr>
      <vt:lpstr>微软雅黑</vt:lpstr>
      <vt:lpstr>汉仪综艺体简</vt:lpstr>
      <vt:lpstr>SWAstro</vt:lpstr>
      <vt:lpstr>方正黑体简体</vt:lpstr>
      <vt:lpstr>Arial Unicode MS</vt:lpstr>
      <vt:lpstr>楷体</vt:lpstr>
      <vt:lpstr>华文中宋</vt:lpstr>
      <vt:lpstr>新宋体</vt:lpstr>
      <vt:lpstr>Calibri</vt:lpstr>
      <vt:lpstr>方正综艺简体</vt:lpstr>
      <vt:lpstr>方正稚艺_GBK</vt:lpstr>
      <vt:lpstr>方正姚体</vt:lpstr>
      <vt:lpstr>华文隶书</vt:lpstr>
      <vt:lpstr>锐字工房光明大黑简1.0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课前准备</dc:title>
  <dc:creator>何胜晖</dc:creator>
  <cp:lastModifiedBy>17511426</cp:lastModifiedBy>
  <cp:revision>155</cp:revision>
  <dcterms:created xsi:type="dcterms:W3CDTF">2022-10-07T02:18:00Z</dcterms:created>
  <dcterms:modified xsi:type="dcterms:W3CDTF">2022-12-02T07:13:52Z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7AEE41BDF8D849AC841837A55CA5F49B</vt:lpwstr>
  </property>
  <property fmtid="{D5CDD505-2E9C-101B-9397-08002B2CF9AE}" pid="3" name="KSOProductBuildVer">
    <vt:lpwstr>2052-11.1.0.12763</vt:lpwstr>
  </property>
</Properties>
</file>