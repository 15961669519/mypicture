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2"/>
  </p:handoutMasterIdLst>
  <p:sldIdLst>
    <p:sldId id="256" r:id="rId2"/>
    <p:sldId id="257" r:id="rId3"/>
    <p:sldId id="330" r:id="rId4"/>
    <p:sldId id="416" r:id="rId5"/>
    <p:sldId id="331" r:id="rId6"/>
    <p:sldId id="272" r:id="rId7"/>
    <p:sldId id="339" r:id="rId8"/>
    <p:sldId id="364" r:id="rId9"/>
    <p:sldId id="417" r:id="rId10"/>
    <p:sldId id="402" r:id="rId11"/>
    <p:sldId id="411" r:id="rId12"/>
    <p:sldId id="385" r:id="rId13"/>
    <p:sldId id="412" r:id="rId14"/>
    <p:sldId id="413" r:id="rId15"/>
    <p:sldId id="414" r:id="rId16"/>
    <p:sldId id="405" r:id="rId17"/>
    <p:sldId id="406" r:id="rId18"/>
    <p:sldId id="418" r:id="rId19"/>
    <p:sldId id="291" r:id="rId20"/>
    <p:sldId id="419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7927966-2560-45A8-A460-B5D804296BB1}">
          <p14:sldIdLst>
            <p14:sldId id="256"/>
            <p14:sldId id="257"/>
            <p14:sldId id="330"/>
            <p14:sldId id="416"/>
            <p14:sldId id="331"/>
            <p14:sldId id="272"/>
            <p14:sldId id="339"/>
            <p14:sldId id="364"/>
            <p14:sldId id="417"/>
            <p14:sldId id="402"/>
            <p14:sldId id="411"/>
            <p14:sldId id="385"/>
            <p14:sldId id="412"/>
            <p14:sldId id="413"/>
            <p14:sldId id="414"/>
            <p14:sldId id="405"/>
            <p14:sldId id="406"/>
            <p14:sldId id="418"/>
            <p14:sldId id="291"/>
            <p14:sldId id="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7A939"/>
    <a:srgbClr val="FF0066"/>
    <a:srgbClr val="660066"/>
    <a:srgbClr val="FF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95184" autoAdjust="0"/>
  </p:normalViewPr>
  <p:slideViewPr>
    <p:cSldViewPr>
      <p:cViewPr varScale="1">
        <p:scale>
          <a:sx n="81" d="100"/>
          <a:sy n="81" d="100"/>
        </p:scale>
        <p:origin x="14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4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DF149-95F8-447F-BF5A-21820058FCBC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62820-A2EC-4B3F-8E9D-AD93C0C9C5F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6488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2D6BC68D-8E22-42C3-8257-A88ADC0327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40352" y="44624"/>
            <a:ext cx="1296144" cy="406398"/>
          </a:xfrm>
          <a:prstGeom prst="rect">
            <a:avLst/>
          </a:prstGeom>
          <a:noFill/>
        </p:spPr>
      </p:pic>
      <p:sp>
        <p:nvSpPr>
          <p:cNvPr id="7" name="标题 1"/>
          <p:cNvSpPr txBox="1">
            <a:spLocks/>
          </p:cNvSpPr>
          <p:nvPr userDrawn="1"/>
        </p:nvSpPr>
        <p:spPr>
          <a:xfrm>
            <a:off x="107504" y="177588"/>
            <a:ext cx="1584176" cy="409010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alphaModFix amt="78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C00F62A4-9EC6-4B0E-BEBB-F5A23E14FC7B}"/>
              </a:ext>
            </a:extLst>
          </p:cNvPr>
          <p:cNvGrpSpPr/>
          <p:nvPr userDrawn="1"/>
        </p:nvGrpSpPr>
        <p:grpSpPr>
          <a:xfrm>
            <a:off x="827584" y="4890752"/>
            <a:ext cx="1368152" cy="1200224"/>
            <a:chOff x="-839788" y="177800"/>
            <a:chExt cx="3663951" cy="2614613"/>
          </a:xfrm>
          <a:solidFill>
            <a:schemeClr val="bg1">
              <a:alpha val="50000"/>
            </a:schemeClr>
          </a:solidFill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5D3C8681-D5B4-432A-A0BB-D83C658FC8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39788" y="177800"/>
              <a:ext cx="3663950" cy="1793875"/>
            </a:xfrm>
            <a:custGeom>
              <a:avLst/>
              <a:gdLst>
                <a:gd name="T0" fmla="*/ 598 w 2308"/>
                <a:gd name="T1" fmla="*/ 1130 h 1130"/>
                <a:gd name="T2" fmla="*/ 0 w 2308"/>
                <a:gd name="T3" fmla="*/ 1003 h 1130"/>
                <a:gd name="T4" fmla="*/ 2298 w 2308"/>
                <a:gd name="T5" fmla="*/ 0 h 1130"/>
                <a:gd name="T6" fmla="*/ 2308 w 2308"/>
                <a:gd name="T7" fmla="*/ 21 h 1130"/>
                <a:gd name="T8" fmla="*/ 598 w 2308"/>
                <a:gd name="T9" fmla="*/ 1130 h 1130"/>
                <a:gd name="T10" fmla="*/ 598 w 2308"/>
                <a:gd name="T11" fmla="*/ 1130 h 1130"/>
                <a:gd name="T12" fmla="*/ 63 w 2308"/>
                <a:gd name="T13" fmla="*/ 993 h 1130"/>
                <a:gd name="T14" fmla="*/ 598 w 2308"/>
                <a:gd name="T15" fmla="*/ 1098 h 1130"/>
                <a:gd name="T16" fmla="*/ 2193 w 2308"/>
                <a:gd name="T17" fmla="*/ 74 h 1130"/>
                <a:gd name="T18" fmla="*/ 63 w 2308"/>
                <a:gd name="T19" fmla="*/ 993 h 1130"/>
                <a:gd name="T20" fmla="*/ 63 w 2308"/>
                <a:gd name="T21" fmla="*/ 993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08" h="1130">
                  <a:moveTo>
                    <a:pt x="598" y="1130"/>
                  </a:moveTo>
                  <a:lnTo>
                    <a:pt x="0" y="1003"/>
                  </a:lnTo>
                  <a:lnTo>
                    <a:pt x="2298" y="0"/>
                  </a:lnTo>
                  <a:lnTo>
                    <a:pt x="2308" y="21"/>
                  </a:lnTo>
                  <a:lnTo>
                    <a:pt x="598" y="1130"/>
                  </a:lnTo>
                  <a:lnTo>
                    <a:pt x="598" y="1130"/>
                  </a:lnTo>
                  <a:close/>
                  <a:moveTo>
                    <a:pt x="63" y="993"/>
                  </a:moveTo>
                  <a:lnTo>
                    <a:pt x="598" y="1098"/>
                  </a:lnTo>
                  <a:lnTo>
                    <a:pt x="2193" y="74"/>
                  </a:lnTo>
                  <a:lnTo>
                    <a:pt x="63" y="993"/>
                  </a:lnTo>
                  <a:lnTo>
                    <a:pt x="63" y="9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A497F85F-FEAE-4BAA-ABD7-A4A364CBB2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075" y="177800"/>
              <a:ext cx="2732088" cy="2463800"/>
            </a:xfrm>
            <a:custGeom>
              <a:avLst/>
              <a:gdLst>
                <a:gd name="T0" fmla="*/ 263 w 1721"/>
                <a:gd name="T1" fmla="*/ 1552 h 1552"/>
                <a:gd name="T2" fmla="*/ 0 w 1721"/>
                <a:gd name="T3" fmla="*/ 1109 h 1552"/>
                <a:gd name="T4" fmla="*/ 1711 w 1721"/>
                <a:gd name="T5" fmla="*/ 0 h 1552"/>
                <a:gd name="T6" fmla="*/ 1721 w 1721"/>
                <a:gd name="T7" fmla="*/ 21 h 1552"/>
                <a:gd name="T8" fmla="*/ 284 w 1721"/>
                <a:gd name="T9" fmla="*/ 1267 h 1552"/>
                <a:gd name="T10" fmla="*/ 263 w 1721"/>
                <a:gd name="T11" fmla="*/ 1552 h 1552"/>
                <a:gd name="T12" fmla="*/ 263 w 1721"/>
                <a:gd name="T13" fmla="*/ 1552 h 1552"/>
                <a:gd name="T14" fmla="*/ 32 w 1721"/>
                <a:gd name="T15" fmla="*/ 1119 h 1552"/>
                <a:gd name="T16" fmla="*/ 242 w 1721"/>
                <a:gd name="T17" fmla="*/ 1478 h 1552"/>
                <a:gd name="T18" fmla="*/ 263 w 1721"/>
                <a:gd name="T19" fmla="*/ 1257 h 1552"/>
                <a:gd name="T20" fmla="*/ 1595 w 1721"/>
                <a:gd name="T21" fmla="*/ 106 h 1552"/>
                <a:gd name="T22" fmla="*/ 32 w 1721"/>
                <a:gd name="T23" fmla="*/ 1119 h 1552"/>
                <a:gd name="T24" fmla="*/ 32 w 1721"/>
                <a:gd name="T25" fmla="*/ 1119 h 1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1" h="1552">
                  <a:moveTo>
                    <a:pt x="263" y="1552"/>
                  </a:moveTo>
                  <a:lnTo>
                    <a:pt x="0" y="1109"/>
                  </a:lnTo>
                  <a:lnTo>
                    <a:pt x="1711" y="0"/>
                  </a:lnTo>
                  <a:lnTo>
                    <a:pt x="1721" y="21"/>
                  </a:lnTo>
                  <a:lnTo>
                    <a:pt x="284" y="1267"/>
                  </a:lnTo>
                  <a:lnTo>
                    <a:pt x="263" y="1552"/>
                  </a:lnTo>
                  <a:lnTo>
                    <a:pt x="263" y="1552"/>
                  </a:lnTo>
                  <a:close/>
                  <a:moveTo>
                    <a:pt x="32" y="1119"/>
                  </a:moveTo>
                  <a:lnTo>
                    <a:pt x="242" y="1478"/>
                  </a:lnTo>
                  <a:lnTo>
                    <a:pt x="263" y="1257"/>
                  </a:lnTo>
                  <a:lnTo>
                    <a:pt x="1595" y="106"/>
                  </a:lnTo>
                  <a:lnTo>
                    <a:pt x="32" y="1119"/>
                  </a:lnTo>
                  <a:lnTo>
                    <a:pt x="32" y="1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6E7A0299-AC9A-4393-B517-7909260ACC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250" y="177800"/>
              <a:ext cx="2347913" cy="2447925"/>
            </a:xfrm>
            <a:custGeom>
              <a:avLst/>
              <a:gdLst>
                <a:gd name="T0" fmla="*/ 0 w 1479"/>
                <a:gd name="T1" fmla="*/ 1542 h 1542"/>
                <a:gd name="T2" fmla="*/ 21 w 1479"/>
                <a:gd name="T3" fmla="*/ 1257 h 1542"/>
                <a:gd name="T4" fmla="*/ 1469 w 1479"/>
                <a:gd name="T5" fmla="*/ 0 h 1542"/>
                <a:gd name="T6" fmla="*/ 1479 w 1479"/>
                <a:gd name="T7" fmla="*/ 21 h 1542"/>
                <a:gd name="T8" fmla="*/ 0 w 1479"/>
                <a:gd name="T9" fmla="*/ 1542 h 1542"/>
                <a:gd name="T10" fmla="*/ 0 w 1479"/>
                <a:gd name="T11" fmla="*/ 1542 h 1542"/>
                <a:gd name="T12" fmla="*/ 42 w 1479"/>
                <a:gd name="T13" fmla="*/ 1267 h 1542"/>
                <a:gd name="T14" fmla="*/ 21 w 1479"/>
                <a:gd name="T15" fmla="*/ 1489 h 1542"/>
                <a:gd name="T16" fmla="*/ 1290 w 1479"/>
                <a:gd name="T17" fmla="*/ 180 h 1542"/>
                <a:gd name="T18" fmla="*/ 42 w 1479"/>
                <a:gd name="T19" fmla="*/ 1267 h 1542"/>
                <a:gd name="T20" fmla="*/ 42 w 1479"/>
                <a:gd name="T21" fmla="*/ 1267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9" h="1542">
                  <a:moveTo>
                    <a:pt x="0" y="1542"/>
                  </a:moveTo>
                  <a:lnTo>
                    <a:pt x="21" y="1257"/>
                  </a:lnTo>
                  <a:lnTo>
                    <a:pt x="1469" y="0"/>
                  </a:lnTo>
                  <a:lnTo>
                    <a:pt x="1479" y="21"/>
                  </a:lnTo>
                  <a:lnTo>
                    <a:pt x="0" y="1542"/>
                  </a:lnTo>
                  <a:lnTo>
                    <a:pt x="0" y="1542"/>
                  </a:lnTo>
                  <a:close/>
                  <a:moveTo>
                    <a:pt x="42" y="1267"/>
                  </a:moveTo>
                  <a:lnTo>
                    <a:pt x="21" y="1489"/>
                  </a:lnTo>
                  <a:lnTo>
                    <a:pt x="1290" y="180"/>
                  </a:lnTo>
                  <a:lnTo>
                    <a:pt x="42" y="1267"/>
                  </a:lnTo>
                  <a:lnTo>
                    <a:pt x="42" y="1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F80C9BF9-6DDF-4EC8-B5AC-CC021C5E7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125" y="177800"/>
              <a:ext cx="2332038" cy="2614613"/>
            </a:xfrm>
            <a:custGeom>
              <a:avLst/>
              <a:gdLst>
                <a:gd name="T0" fmla="*/ 693 w 1469"/>
                <a:gd name="T1" fmla="*/ 1647 h 1647"/>
                <a:gd name="T2" fmla="*/ 0 w 1469"/>
                <a:gd name="T3" fmla="*/ 1267 h 1647"/>
                <a:gd name="T4" fmla="*/ 1459 w 1469"/>
                <a:gd name="T5" fmla="*/ 0 h 1647"/>
                <a:gd name="T6" fmla="*/ 1469 w 1469"/>
                <a:gd name="T7" fmla="*/ 11 h 1647"/>
                <a:gd name="T8" fmla="*/ 693 w 1469"/>
                <a:gd name="T9" fmla="*/ 1647 h 1647"/>
                <a:gd name="T10" fmla="*/ 693 w 1469"/>
                <a:gd name="T11" fmla="*/ 1647 h 1647"/>
                <a:gd name="T12" fmla="*/ 42 w 1469"/>
                <a:gd name="T13" fmla="*/ 1257 h 1647"/>
                <a:gd name="T14" fmla="*/ 682 w 1469"/>
                <a:gd name="T15" fmla="*/ 1616 h 1647"/>
                <a:gd name="T16" fmla="*/ 1438 w 1469"/>
                <a:gd name="T17" fmla="*/ 53 h 1647"/>
                <a:gd name="T18" fmla="*/ 42 w 1469"/>
                <a:gd name="T19" fmla="*/ 1257 h 1647"/>
                <a:gd name="T20" fmla="*/ 42 w 1469"/>
                <a:gd name="T21" fmla="*/ 1257 h 1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69" h="1647">
                  <a:moveTo>
                    <a:pt x="693" y="1647"/>
                  </a:moveTo>
                  <a:lnTo>
                    <a:pt x="0" y="1267"/>
                  </a:lnTo>
                  <a:lnTo>
                    <a:pt x="1459" y="0"/>
                  </a:lnTo>
                  <a:lnTo>
                    <a:pt x="1469" y="11"/>
                  </a:lnTo>
                  <a:lnTo>
                    <a:pt x="693" y="1647"/>
                  </a:lnTo>
                  <a:lnTo>
                    <a:pt x="693" y="1647"/>
                  </a:lnTo>
                  <a:close/>
                  <a:moveTo>
                    <a:pt x="42" y="1257"/>
                  </a:moveTo>
                  <a:lnTo>
                    <a:pt x="682" y="1616"/>
                  </a:lnTo>
                  <a:lnTo>
                    <a:pt x="1438" y="53"/>
                  </a:lnTo>
                  <a:lnTo>
                    <a:pt x="42" y="1257"/>
                  </a:lnTo>
                  <a:lnTo>
                    <a:pt x="42" y="12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" name="标题 1">
            <a:extLst>
              <a:ext uri="{FF2B5EF4-FFF2-40B4-BE49-F238E27FC236}">
                <a16:creationId xmlns:a16="http://schemas.microsoft.com/office/drawing/2014/main" id="{EA3C4F43-2237-4541-87F9-ED16C1C32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839" y="3577313"/>
            <a:ext cx="4962322" cy="101320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026" name="Picture 2" descr="F:\360data\重要数据\桌面\慧渔透明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76672"/>
            <a:ext cx="2448272" cy="240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:\Users\Administrator\Desktop\素材\201737-120G214051758_副本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68344" y="5490864"/>
            <a:ext cx="1080120" cy="1250504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C7FB2BE-E6B6-4E62-A53A-2CE31067F28E}"/>
              </a:ext>
            </a:extLst>
          </p:cNvPr>
          <p:cNvSpPr txBox="1"/>
          <p:nvPr userDrawn="1"/>
        </p:nvSpPr>
        <p:spPr>
          <a:xfrm>
            <a:off x="7668344" y="6237312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慧渔机器人课程组何老师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05B01-09B8-4CBB-BCA4-4A10D975150D}"/>
              </a:ext>
            </a:extLst>
          </p:cNvPr>
          <p:cNvSpPr txBox="1"/>
          <p:nvPr/>
        </p:nvSpPr>
        <p:spPr>
          <a:xfrm>
            <a:off x="179512" y="116632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课前准备</a:t>
            </a:r>
          </a:p>
        </p:txBody>
      </p:sp>
      <p:sp>
        <p:nvSpPr>
          <p:cNvPr id="3" name="文本框 4">
            <a:extLst>
              <a:ext uri="{FF2B5EF4-FFF2-40B4-BE49-F238E27FC236}">
                <a16:creationId xmlns:a16="http://schemas.microsoft.com/office/drawing/2014/main" id="{AFE6D791-A666-4534-7E99-900F3A536640}"/>
              </a:ext>
            </a:extLst>
          </p:cNvPr>
          <p:cNvSpPr txBox="1"/>
          <p:nvPr/>
        </p:nvSpPr>
        <p:spPr>
          <a:xfrm>
            <a:off x="251520" y="620688"/>
            <a:ext cx="8712968" cy="2274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 注意检查硬件连接，避免接错线损坏元器件。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 </a:t>
            </a:r>
            <a:r>
              <a:rPr lang="en-US" altLang="zh-CN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LCD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液晶屏如果只有背光没有显示内容，调节背面电位器，调整显示亮度。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 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超声波传感器长时间通电，背面芯片容易产生高温，注意防止烫伤！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"/>
                    </a14:imgEffect>
                    <a14:imgEffect>
                      <a14:colorTemperature colorTemp="4700"/>
                    </a14:imgEffect>
                    <a14:imgEffect>
                      <a14:brightnessContrast bright="10000" contrast="-20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67223" y="3501008"/>
            <a:ext cx="6009553" cy="10132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b="1">
                <a:solidFill>
                  <a:srgbClr val="FF0066"/>
                </a:solidFill>
                <a:latin typeface="楷体" pitchFamily="49" charset="-122"/>
                <a:ea typeface="楷体" pitchFamily="49" charset="-122"/>
              </a:rPr>
              <a:t>第二十五节</a:t>
            </a:r>
            <a:r>
              <a:rPr lang="zh-CN" altLang="en-US" b="1" dirty="0">
                <a:solidFill>
                  <a:srgbClr val="FF0066"/>
                </a:solidFill>
                <a:latin typeface="楷体" pitchFamily="49" charset="-122"/>
                <a:ea typeface="楷体" pitchFamily="49" charset="-122"/>
              </a:rPr>
              <a:t>课</a:t>
            </a:r>
            <a:br>
              <a:rPr lang="en-US" altLang="zh-CN"/>
            </a:br>
            <a:r>
              <a:rPr lang="zh-CN" altLang="en-US" sz="8000" b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驾驶模拟器</a:t>
            </a:r>
            <a:endParaRPr lang="zh-CN" altLang="en-US" sz="80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05B01-09B8-4CBB-BCA4-4A10D975150D}"/>
              </a:ext>
            </a:extLst>
          </p:cNvPr>
          <p:cNvSpPr txBox="1"/>
          <p:nvPr/>
        </p:nvSpPr>
        <p:spPr>
          <a:xfrm>
            <a:off x="179512" y="116632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课程回顾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AD20E2-6430-8832-DEC7-938DF50AAD52}"/>
              </a:ext>
            </a:extLst>
          </p:cNvPr>
          <p:cNvSpPr txBox="1"/>
          <p:nvPr/>
        </p:nvSpPr>
        <p:spPr>
          <a:xfrm>
            <a:off x="89756" y="548680"/>
            <a:ext cx="8964488" cy="4110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遥控调速风扇：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★</a:t>
            </a:r>
            <a:r>
              <a:rPr lang="zh-CN" altLang="en-US" sz="2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2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声明整数变量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speed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并赋初始值为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(2)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红外按键值为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zh-CN" altLang="en-US" sz="2200" b="0" kern="120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▲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键时，将转速变量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speed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增加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；如果变量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speed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大于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，将变量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speed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设为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红外按键值为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zh-CN" altLang="en-US" sz="2200" b="0" kern="120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▼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键时，将转速变量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speed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增加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-5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；如果变量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speed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小于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150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，将变量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speed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设为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150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(4)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接收红外信号后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speed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的值小于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155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，将马达模拟输出值设为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否则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，将变量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speed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设为马达模拟输出值。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★提示：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条在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红外接收模块后面编写。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6CF953-CCF1-8D4D-08FE-2F4ECDC494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88" r="55060"/>
          <a:stretch/>
        </p:blipFill>
        <p:spPr>
          <a:xfrm>
            <a:off x="1331640" y="4658972"/>
            <a:ext cx="2405810" cy="72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48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05B01-09B8-4CBB-BCA4-4A10D975150D}"/>
              </a:ext>
            </a:extLst>
          </p:cNvPr>
          <p:cNvSpPr txBox="1"/>
          <p:nvPr/>
        </p:nvSpPr>
        <p:spPr>
          <a:xfrm>
            <a:off x="179512" y="116632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课程回顾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5EBA39-5BF9-4099-A503-78F1712FA45F}"/>
              </a:ext>
            </a:extLst>
          </p:cNvPr>
          <p:cNvSpPr txBox="1"/>
          <p:nvPr/>
        </p:nvSpPr>
        <p:spPr>
          <a:xfrm>
            <a:off x="179512" y="548680"/>
            <a:ext cx="87849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20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200" dirty="0">
              <a:solidFill>
                <a:srgbClr val="FF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ED66A1-FBDB-43D6-A2B5-CF1199920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7624" y="639852"/>
            <a:ext cx="4032448" cy="61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5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05B01-09B8-4CBB-BCA4-4A10D975150D}"/>
              </a:ext>
            </a:extLst>
          </p:cNvPr>
          <p:cNvSpPr txBox="1"/>
          <p:nvPr/>
        </p:nvSpPr>
        <p:spPr>
          <a:xfrm>
            <a:off x="179512" y="116632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课程回顾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583690-2C81-448C-8E5B-172116F6DA32}"/>
              </a:ext>
            </a:extLst>
          </p:cNvPr>
          <p:cNvSpPr txBox="1"/>
          <p:nvPr/>
        </p:nvSpPr>
        <p:spPr>
          <a:xfrm>
            <a:off x="2573778" y="378242"/>
            <a:ext cx="399644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HoloLens MDL2 Assets" panose="050A0102010101010101" pitchFamily="18" charset="0"/>
              </a:rPr>
              <a:t>Mixly</a:t>
            </a:r>
            <a:endParaRPr lang="zh-CN" altLang="en-US" sz="150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HoloLens MDL2 Assets" panose="050A0102010101010101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CE658E-393A-9D3C-C36E-9D52BE1DC760}"/>
              </a:ext>
            </a:extLst>
          </p:cNvPr>
          <p:cNvSpPr txBox="1"/>
          <p:nvPr/>
        </p:nvSpPr>
        <p:spPr>
          <a:xfrm>
            <a:off x="1763688" y="3284984"/>
            <a:ext cx="63367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加强红外遥控器、红外接收模块的使用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加强红外遥控程序的编写方法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加强四位数码管、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舵机、小马达模块的使用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加强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switch…case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语句的使用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加强变量的使用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57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F7606D-EEB9-4339-BFE0-190B1F46963E}"/>
              </a:ext>
            </a:extLst>
          </p:cNvPr>
          <p:cNvSpPr txBox="1"/>
          <p:nvPr/>
        </p:nvSpPr>
        <p:spPr>
          <a:xfrm>
            <a:off x="179512" y="116632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课程目标</a:t>
            </a:r>
          </a:p>
        </p:txBody>
      </p:sp>
      <p:pic>
        <p:nvPicPr>
          <p:cNvPr id="3" name="图片 2" descr="b7003af33a87e9506454c5e61a385343faf2b4fc">
            <a:extLst>
              <a:ext uri="{FF2B5EF4-FFF2-40B4-BE49-F238E27FC236}">
                <a16:creationId xmlns:a16="http://schemas.microsoft.com/office/drawing/2014/main" id="{939C58DF-0995-4766-BBD0-6FF27A4BA8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49" t="8368" r="15286" b="10042"/>
          <a:stretch/>
        </p:blipFill>
        <p:spPr>
          <a:xfrm>
            <a:off x="2627784" y="1052735"/>
            <a:ext cx="3600400" cy="28083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7D1968-31F1-4492-83C4-574C706F0832}"/>
              </a:ext>
            </a:extLst>
          </p:cNvPr>
          <p:cNvSpPr txBox="1"/>
          <p:nvPr/>
        </p:nvSpPr>
        <p:spPr>
          <a:xfrm>
            <a:off x="2650286" y="4077072"/>
            <a:ext cx="38434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加强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LCD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液晶屏的使用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加强超声波传感器的使用</a:t>
            </a:r>
            <a:endParaRPr lang="en-US" altLang="zh-CN" sz="2400" dirty="0">
              <a:latin typeface="新宋体" pitchFamily="49" charset="-122"/>
              <a:ea typeface="新宋体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加强映射功能的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加强按键取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反程序的编写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锻炼编程思维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9700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F7606D-EEB9-4339-BFE0-190B1F46963E}"/>
              </a:ext>
            </a:extLst>
          </p:cNvPr>
          <p:cNvSpPr txBox="1"/>
          <p:nvPr/>
        </p:nvSpPr>
        <p:spPr>
          <a:xfrm>
            <a:off x="179512" y="116632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驾驶模拟器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FCEAE0C5-CCCF-427D-AA45-C92441A1A892}"/>
              </a:ext>
            </a:extLst>
          </p:cNvPr>
          <p:cNvSpPr txBox="1"/>
          <p:nvPr/>
        </p:nvSpPr>
        <p:spPr>
          <a:xfrm>
            <a:off x="251520" y="620688"/>
            <a:ext cx="8712968" cy="1257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 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驾驶模拟器是一种驾驶训练的教学设备。它利用虚拟现实仿真技术营造一个虚拟的驾驶训练环境，人们通过模拟器的操作部件与虚拟的环境进行交互，从而进行驾驶训练。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3C5AFF-0B89-E0B5-E5CE-594E07BD2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32" y="2462162"/>
            <a:ext cx="4163624" cy="365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85DE026-3101-BEC5-DC67-312C0FB1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73724"/>
            <a:ext cx="3537736" cy="4035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43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F60FAF9-15CE-D557-B237-758F5E4D02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9" t="5900" r="9838" b="6951"/>
          <a:stretch/>
        </p:blipFill>
        <p:spPr>
          <a:xfrm>
            <a:off x="1259632" y="2111027"/>
            <a:ext cx="5325551" cy="47023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685BFDF-7C6C-463C-B2F4-DD1D779B0B00}"/>
              </a:ext>
            </a:extLst>
          </p:cNvPr>
          <p:cNvSpPr txBox="1"/>
          <p:nvPr/>
        </p:nvSpPr>
        <p:spPr>
          <a:xfrm>
            <a:off x="125759" y="596022"/>
            <a:ext cx="8892480" cy="1663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所需器件：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LCD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液晶屏模块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个、按键模块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个、电位器模块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个、蜂鸣器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个、超声波传感器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个、超声波转接板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个、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线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根、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线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根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(2+1+1)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；根据搭建图搭建结构。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823BA5-9BE7-4484-B3C2-81719D41843E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模型搭建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950930-C655-71F5-798A-EAB56D274906}"/>
              </a:ext>
            </a:extLst>
          </p:cNvPr>
          <p:cNvSpPr txBox="1"/>
          <p:nvPr/>
        </p:nvSpPr>
        <p:spPr>
          <a:xfrm>
            <a:off x="6660232" y="2132856"/>
            <a:ext cx="2074114" cy="272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引脚连接</a:t>
            </a:r>
            <a:endParaRPr lang="en-US" altLang="zh-CN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LCD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液晶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屏：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I2C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按键模块：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电位器模块：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A0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蜂鸣器模块：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超声波传感器：</a:t>
            </a:r>
            <a:endParaRPr lang="en-US" altLang="zh-CN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Trig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8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Echo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2889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685BFDF-7C6C-463C-B2F4-DD1D779B0B00}"/>
              </a:ext>
            </a:extLst>
          </p:cNvPr>
          <p:cNvSpPr txBox="1"/>
          <p:nvPr/>
        </p:nvSpPr>
        <p:spPr>
          <a:xfrm>
            <a:off x="125759" y="596022"/>
            <a:ext cx="8892480" cy="29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任务：</a:t>
            </a:r>
            <a:endParaRPr lang="en-US" altLang="zh-CN" sz="22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(1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初始化液晶屏并清屏，声明布尔型变量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IO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并赋初始值为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(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按键按下再松开，将变量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IO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取反；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(3)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如果变量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IO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，液晶屏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关闭显示和背光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；否则，液晶屏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打开显示和背光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，在第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行打印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Welcome</a:t>
            </a:r>
            <a:r>
              <a:rPr lang="zh-CN" altLang="en-US" sz="2200" dirty="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行打印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HYOO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提示：</a:t>
            </a:r>
            <a:endParaRPr lang="en-US" altLang="zh-CN" sz="22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显示和背光的开关功能都在清屏块中。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823BA5-9BE7-4484-B3C2-81719D41843E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任务一：一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键启动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C2C1EC-99C5-21A7-EF08-37FE61845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573016"/>
            <a:ext cx="1944216" cy="27590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A15ED70-20B1-5C7A-4669-82E026775330}"/>
              </a:ext>
            </a:extLst>
          </p:cNvPr>
          <p:cNvSpPr txBox="1"/>
          <p:nvPr/>
        </p:nvSpPr>
        <p:spPr>
          <a:xfrm>
            <a:off x="3923928" y="4009635"/>
            <a:ext cx="2002681" cy="40011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液晶屏显示开关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E6B66D1-EB19-ECBF-74A2-27DA7EB201C5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2771800" y="4209690"/>
            <a:ext cx="1152128" cy="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18063076-A99A-D771-0F4B-B21CAA0A98AC}"/>
              </a:ext>
            </a:extLst>
          </p:cNvPr>
          <p:cNvSpPr/>
          <p:nvPr/>
        </p:nvSpPr>
        <p:spPr>
          <a:xfrm>
            <a:off x="2487908" y="3979039"/>
            <a:ext cx="283892" cy="461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BE2F3F-C27F-AC19-A840-75625D5E1F49}"/>
              </a:ext>
            </a:extLst>
          </p:cNvPr>
          <p:cNvSpPr txBox="1"/>
          <p:nvPr/>
        </p:nvSpPr>
        <p:spPr>
          <a:xfrm>
            <a:off x="4076328" y="5809835"/>
            <a:ext cx="2002681" cy="40011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液晶屏背光开关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FC5344A-E912-B271-F5DC-A91A5D9CAA27}"/>
              </a:ext>
            </a:extLst>
          </p:cNvPr>
          <p:cNvCxnSpPr>
            <a:cxnSpLocks/>
            <a:stCxn id="18" idx="1"/>
            <a:endCxn id="20" idx="3"/>
          </p:cNvCxnSpPr>
          <p:nvPr/>
        </p:nvCxnSpPr>
        <p:spPr>
          <a:xfrm flipH="1">
            <a:off x="3101419" y="6009890"/>
            <a:ext cx="974909" cy="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07B5EF6-5FB5-7B29-E639-6C6A99D0A2DB}"/>
              </a:ext>
            </a:extLst>
          </p:cNvPr>
          <p:cNvSpPr/>
          <p:nvPr/>
        </p:nvSpPr>
        <p:spPr>
          <a:xfrm>
            <a:off x="2487908" y="5779239"/>
            <a:ext cx="613511" cy="461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80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  <p:bldP spid="9" grpId="0" animBg="1"/>
      <p:bldP spid="18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685BFDF-7C6C-463C-B2F4-DD1D779B0B00}"/>
              </a:ext>
            </a:extLst>
          </p:cNvPr>
          <p:cNvSpPr txBox="1"/>
          <p:nvPr/>
        </p:nvSpPr>
        <p:spPr>
          <a:xfrm>
            <a:off x="125759" y="548680"/>
            <a:ext cx="8892480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200" dirty="0">
              <a:solidFill>
                <a:srgbClr val="FF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F835B8-0CE2-47D1-9942-97115668A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267" y="977898"/>
            <a:ext cx="6905066" cy="57634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DF98600-A68A-441E-BBE2-CF9338133134}"/>
              </a:ext>
            </a:extLst>
          </p:cNvPr>
          <p:cNvSpPr txBox="1"/>
          <p:nvPr/>
        </p:nvSpPr>
        <p:spPr>
          <a:xfrm>
            <a:off x="4966346" y="1914055"/>
            <a:ext cx="1978377" cy="40011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声明布尔型变量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52EFE31-A72D-42B3-9A7D-7F95733C4733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4006393" y="2114110"/>
            <a:ext cx="95995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7A489522-2620-411E-A2B5-69C389F6565B}"/>
              </a:ext>
            </a:extLst>
          </p:cNvPr>
          <p:cNvSpPr/>
          <p:nvPr/>
        </p:nvSpPr>
        <p:spPr>
          <a:xfrm>
            <a:off x="611561" y="1951348"/>
            <a:ext cx="3394832" cy="325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57AF66-779A-4064-ABE4-7409F1D341BE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任务一：一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键启动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45C662A-140D-4737-B671-AA82CF54C42D}"/>
              </a:ext>
            </a:extLst>
          </p:cNvPr>
          <p:cNvSpPr txBox="1"/>
          <p:nvPr/>
        </p:nvSpPr>
        <p:spPr>
          <a:xfrm>
            <a:off x="5918372" y="3056455"/>
            <a:ext cx="2304256" cy="707886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还记得按键取反程序是什么意思吗？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A3425DB-B376-4778-B58A-5C8CDA610770}"/>
              </a:ext>
            </a:extLst>
          </p:cNvPr>
          <p:cNvCxnSpPr>
            <a:cxnSpLocks/>
            <a:stCxn id="13" idx="1"/>
            <a:endCxn id="15" idx="3"/>
          </p:cNvCxnSpPr>
          <p:nvPr/>
        </p:nvCxnSpPr>
        <p:spPr>
          <a:xfrm flipH="1">
            <a:off x="5292080" y="3410398"/>
            <a:ext cx="62629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BEDEDDE-4980-48E3-BD82-2EA93BB59B86}"/>
              </a:ext>
            </a:extLst>
          </p:cNvPr>
          <p:cNvSpPr/>
          <p:nvPr/>
        </p:nvSpPr>
        <p:spPr>
          <a:xfrm>
            <a:off x="424206" y="2446758"/>
            <a:ext cx="4867874" cy="1927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CF2386-144B-7952-88A8-B356B9CF790B}"/>
              </a:ext>
            </a:extLst>
          </p:cNvPr>
          <p:cNvSpPr txBox="1"/>
          <p:nvPr/>
        </p:nvSpPr>
        <p:spPr>
          <a:xfrm>
            <a:off x="3940404" y="4839354"/>
            <a:ext cx="690990" cy="40011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关闭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C53FA38-13CB-214D-0A25-E1E9F643F870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flipH="1">
            <a:off x="3299381" y="5039409"/>
            <a:ext cx="64102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F6E45DF-E3FD-7748-2D2D-E431FD39B2F6}"/>
              </a:ext>
            </a:extLst>
          </p:cNvPr>
          <p:cNvSpPr/>
          <p:nvPr/>
        </p:nvSpPr>
        <p:spPr>
          <a:xfrm>
            <a:off x="904973" y="4743247"/>
            <a:ext cx="2394408" cy="592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95E244-13ED-6E52-4354-D3A14D08A09D}"/>
              </a:ext>
            </a:extLst>
          </p:cNvPr>
          <p:cNvSpPr txBox="1"/>
          <p:nvPr/>
        </p:nvSpPr>
        <p:spPr>
          <a:xfrm>
            <a:off x="5045360" y="5818381"/>
            <a:ext cx="690990" cy="40011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启动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16254F6-44C5-BAB3-7472-231F22A141D4}"/>
              </a:ext>
            </a:extLst>
          </p:cNvPr>
          <p:cNvCxnSpPr>
            <a:cxnSpLocks/>
            <a:stCxn id="24" idx="1"/>
            <a:endCxn id="26" idx="3"/>
          </p:cNvCxnSpPr>
          <p:nvPr/>
        </p:nvCxnSpPr>
        <p:spPr>
          <a:xfrm flipH="1">
            <a:off x="4543720" y="6018436"/>
            <a:ext cx="50164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10904AE3-9B72-00A3-F4B3-3E2758D28CA0}"/>
              </a:ext>
            </a:extLst>
          </p:cNvPr>
          <p:cNvSpPr/>
          <p:nvPr/>
        </p:nvSpPr>
        <p:spPr>
          <a:xfrm>
            <a:off x="909144" y="5439519"/>
            <a:ext cx="3634576" cy="11578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55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5" grpId="0" animBg="1"/>
      <p:bldP spid="12" grpId="0" animBg="1"/>
      <p:bldP spid="24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685BFDF-7C6C-463C-B2F4-DD1D779B0B00}"/>
              </a:ext>
            </a:extLst>
          </p:cNvPr>
          <p:cNvSpPr txBox="1"/>
          <p:nvPr/>
        </p:nvSpPr>
        <p:spPr>
          <a:xfrm>
            <a:off x="125759" y="596022"/>
            <a:ext cx="8892480" cy="6033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任务：</a:t>
            </a:r>
            <a:endParaRPr lang="en-US" altLang="zh-CN" sz="22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(1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在任务一程序基础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上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继续编写，增加整数变量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gear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并赋初始值为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(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显示欢迎语后，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(3)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将电位器返回值从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1023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映射为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-1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共七个挡位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(-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为倒挡、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为空挡、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为前进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挡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，赋值给变量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gear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(4)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液晶屏在第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列打印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文本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gear: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连接变量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gear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(5)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如果变量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gear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-1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，液晶屏第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列打印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reverse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(6)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否则如果变量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gear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，液晶屏第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列打印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stop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(7)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否则，液晶屏第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列打印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forward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(8)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判断行驶状态后，延时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毫秒，将液晶屏清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屏。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提示：</a:t>
            </a:r>
            <a:endParaRPr lang="en-US" altLang="zh-CN" sz="22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打印车辆行驶状态用如果</a:t>
            </a: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否则如果</a:t>
            </a: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否则编写，将</a:t>
            </a: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前进挡程序放到否则编写。</a:t>
            </a:r>
            <a:endParaRPr lang="en-US" altLang="zh-CN" sz="2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823BA5-9BE7-4484-B3C2-81719D41843E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任务二：无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级换挡</a:t>
            </a:r>
          </a:p>
        </p:txBody>
      </p:sp>
    </p:spTree>
    <p:extLst>
      <p:ext uri="{BB962C8B-B14F-4D97-AF65-F5344CB8AC3E}">
        <p14:creationId xmlns:p14="http://schemas.microsoft.com/office/powerpoint/2010/main" val="220550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F83ACC-0837-4A39-A7A9-C579FCB94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512" y="1009062"/>
            <a:ext cx="7884048" cy="54025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685BFDF-7C6C-463C-B2F4-DD1D779B0B00}"/>
              </a:ext>
            </a:extLst>
          </p:cNvPr>
          <p:cNvSpPr txBox="1"/>
          <p:nvPr/>
        </p:nvSpPr>
        <p:spPr>
          <a:xfrm>
            <a:off x="125759" y="548680"/>
            <a:ext cx="8892480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200" dirty="0">
              <a:solidFill>
                <a:srgbClr val="FF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6D33675-3B33-4370-9646-8846C61AA39E}"/>
              </a:ext>
            </a:extLst>
          </p:cNvPr>
          <p:cNvSpPr txBox="1"/>
          <p:nvPr/>
        </p:nvSpPr>
        <p:spPr>
          <a:xfrm>
            <a:off x="5922150" y="4437112"/>
            <a:ext cx="2272053" cy="707886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取反程序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和系统关闭程序没有变化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9DF446-50BC-45EE-B66D-3906B1022054}"/>
              </a:ext>
            </a:extLst>
          </p:cNvPr>
          <p:cNvSpPr txBox="1"/>
          <p:nvPr/>
        </p:nvSpPr>
        <p:spPr>
          <a:xfrm>
            <a:off x="5481088" y="2276135"/>
            <a:ext cx="2808312" cy="707886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增加一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个整数变量用来存储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电位器映射的挡位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77FC6CF-352B-4CD6-933F-FB31607D832A}"/>
              </a:ext>
            </a:extLst>
          </p:cNvPr>
          <p:cNvCxnSpPr>
            <a:cxnSpLocks/>
            <a:stCxn id="27" idx="1"/>
            <a:endCxn id="19" idx="3"/>
          </p:cNvCxnSpPr>
          <p:nvPr/>
        </p:nvCxnSpPr>
        <p:spPr>
          <a:xfrm flipH="1">
            <a:off x="4427983" y="2630078"/>
            <a:ext cx="105310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6E3C11E-77DF-428B-94C8-4EDDFA045CB1}"/>
              </a:ext>
            </a:extLst>
          </p:cNvPr>
          <p:cNvSpPr/>
          <p:nvPr/>
        </p:nvSpPr>
        <p:spPr>
          <a:xfrm>
            <a:off x="405352" y="2441542"/>
            <a:ext cx="4022631" cy="377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EC2D25-6FC4-46A6-A5C1-2D1AC16CC345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任务二：无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级换挡</a:t>
            </a:r>
          </a:p>
        </p:txBody>
      </p:sp>
    </p:spTree>
    <p:extLst>
      <p:ext uri="{BB962C8B-B14F-4D97-AF65-F5344CB8AC3E}">
        <p14:creationId xmlns:p14="http://schemas.microsoft.com/office/powerpoint/2010/main" val="2442370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F83ACC-0837-4A39-A7A9-C579FCB94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615" y="1002151"/>
            <a:ext cx="8086801" cy="564899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685BFDF-7C6C-463C-B2F4-DD1D779B0B00}"/>
              </a:ext>
            </a:extLst>
          </p:cNvPr>
          <p:cNvSpPr txBox="1"/>
          <p:nvPr/>
        </p:nvSpPr>
        <p:spPr>
          <a:xfrm>
            <a:off x="125759" y="548680"/>
            <a:ext cx="8892480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200" dirty="0">
              <a:solidFill>
                <a:srgbClr val="FF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6D33675-3B33-4370-9646-8846C61AA39E}"/>
              </a:ext>
            </a:extLst>
          </p:cNvPr>
          <p:cNvSpPr txBox="1"/>
          <p:nvPr/>
        </p:nvSpPr>
        <p:spPr>
          <a:xfrm>
            <a:off x="5022588" y="1983816"/>
            <a:ext cx="3771627" cy="40011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电位器映射值控制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七个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挡位切换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8FDACA8-B6FF-49B6-871C-3FF4B18ED4F9}"/>
              </a:ext>
            </a:extLst>
          </p:cNvPr>
          <p:cNvCxnSpPr>
            <a:cxnSpLocks/>
            <a:stCxn id="49" idx="1"/>
            <a:endCxn id="31" idx="0"/>
          </p:cNvCxnSpPr>
          <p:nvPr/>
        </p:nvCxnSpPr>
        <p:spPr>
          <a:xfrm flipH="1">
            <a:off x="4525854" y="2183871"/>
            <a:ext cx="496734" cy="4085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A9DF446-50BC-45EE-B66D-3906B1022054}"/>
              </a:ext>
            </a:extLst>
          </p:cNvPr>
          <p:cNvSpPr txBox="1"/>
          <p:nvPr/>
        </p:nvSpPr>
        <p:spPr>
          <a:xfrm>
            <a:off x="4935328" y="982459"/>
            <a:ext cx="3384376" cy="40011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汽车启动后先显示欢迎语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秒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77FC6CF-352B-4CD6-933F-FB31607D832A}"/>
              </a:ext>
            </a:extLst>
          </p:cNvPr>
          <p:cNvCxnSpPr>
            <a:cxnSpLocks/>
            <a:stCxn id="27" idx="1"/>
            <a:endCxn id="19" idx="3"/>
          </p:cNvCxnSpPr>
          <p:nvPr/>
        </p:nvCxnSpPr>
        <p:spPr>
          <a:xfrm flipH="1">
            <a:off x="4345757" y="1182514"/>
            <a:ext cx="589571" cy="6369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6E3C11E-77DF-428B-94C8-4EDDFA045CB1}"/>
              </a:ext>
            </a:extLst>
          </p:cNvPr>
          <p:cNvSpPr/>
          <p:nvPr/>
        </p:nvSpPr>
        <p:spPr>
          <a:xfrm>
            <a:off x="735290" y="1046476"/>
            <a:ext cx="3610467" cy="15458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EC2D25-6FC4-46A6-A5C1-2D1AC16CC345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任务二：无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级换挡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D6346F9-0EE5-4B50-AA8D-5CBFC18058AC}"/>
              </a:ext>
            </a:extLst>
          </p:cNvPr>
          <p:cNvSpPr txBox="1"/>
          <p:nvPr/>
        </p:nvSpPr>
        <p:spPr>
          <a:xfrm>
            <a:off x="3633140" y="5849587"/>
            <a:ext cx="1717342" cy="707886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显示一段时间后要刷新屏幕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C86702B-B557-4DC1-9D51-F70D48C88EF4}"/>
              </a:ext>
            </a:extLst>
          </p:cNvPr>
          <p:cNvCxnSpPr>
            <a:cxnSpLocks/>
            <a:stCxn id="25" idx="1"/>
            <a:endCxn id="33" idx="3"/>
          </p:cNvCxnSpPr>
          <p:nvPr/>
        </p:nvCxnSpPr>
        <p:spPr>
          <a:xfrm flipH="1" flipV="1">
            <a:off x="2818614" y="6158575"/>
            <a:ext cx="814526" cy="449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506CC85-C5E2-40A7-9BB8-0FE33FA5AC17}"/>
              </a:ext>
            </a:extLst>
          </p:cNvPr>
          <p:cNvSpPr txBox="1"/>
          <p:nvPr/>
        </p:nvSpPr>
        <p:spPr>
          <a:xfrm>
            <a:off x="6300191" y="4009706"/>
            <a:ext cx="648073" cy="338554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倒车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2A6D2A-2534-4ACE-AC37-06DDD8CBBA76}"/>
              </a:ext>
            </a:extLst>
          </p:cNvPr>
          <p:cNvSpPr txBox="1"/>
          <p:nvPr/>
        </p:nvSpPr>
        <p:spPr>
          <a:xfrm>
            <a:off x="6300191" y="4818638"/>
            <a:ext cx="648073" cy="338554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停止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D64F61-A20A-45E3-AE58-5CC2DE57C349}"/>
              </a:ext>
            </a:extLst>
          </p:cNvPr>
          <p:cNvSpPr txBox="1"/>
          <p:nvPr/>
        </p:nvSpPr>
        <p:spPr>
          <a:xfrm>
            <a:off x="6300191" y="5323060"/>
            <a:ext cx="648073" cy="338554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前进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C3F1DC-2F8A-0891-4C81-7876BEADC6D4}"/>
              </a:ext>
            </a:extLst>
          </p:cNvPr>
          <p:cNvSpPr txBox="1"/>
          <p:nvPr/>
        </p:nvSpPr>
        <p:spPr>
          <a:xfrm>
            <a:off x="5868144" y="5849587"/>
            <a:ext cx="2113301" cy="70788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试一试能不能正确实现任务要求？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5E5F42B-7793-FABB-07D0-F0145C95974A}"/>
              </a:ext>
            </a:extLst>
          </p:cNvPr>
          <p:cNvSpPr/>
          <p:nvPr/>
        </p:nvSpPr>
        <p:spPr>
          <a:xfrm>
            <a:off x="735291" y="2592372"/>
            <a:ext cx="7581125" cy="4828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D04CCA2-CFDE-4B74-0DA8-80A5A240C39A}"/>
              </a:ext>
            </a:extLst>
          </p:cNvPr>
          <p:cNvSpPr/>
          <p:nvPr/>
        </p:nvSpPr>
        <p:spPr>
          <a:xfrm>
            <a:off x="732002" y="5791806"/>
            <a:ext cx="2086612" cy="733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0E111C-006A-8306-4156-5F1C8A1207C4}"/>
              </a:ext>
            </a:extLst>
          </p:cNvPr>
          <p:cNvSpPr txBox="1"/>
          <p:nvPr/>
        </p:nvSpPr>
        <p:spPr>
          <a:xfrm>
            <a:off x="7092280" y="3284984"/>
            <a:ext cx="1823996" cy="1015663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挡位分成倒车、停止、前进三种状态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8C195E6-5620-0393-E498-8C60BB0C3480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6228184" y="3792816"/>
            <a:ext cx="864096" cy="682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12F51B5-935C-1EC1-0EA7-40DC358309C2}"/>
              </a:ext>
            </a:extLst>
          </p:cNvPr>
          <p:cNvSpPr/>
          <p:nvPr/>
        </p:nvSpPr>
        <p:spPr>
          <a:xfrm>
            <a:off x="735290" y="3575372"/>
            <a:ext cx="5492894" cy="22164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29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25" grpId="0" animBg="1"/>
      <p:bldP spid="13" grpId="0" animBg="1"/>
      <p:bldP spid="14" grpId="0" animBg="1"/>
      <p:bldP spid="15" grpId="0" animBg="1"/>
      <p:bldP spid="23" grpId="0" animBg="1"/>
      <p:bldP spid="31" grpId="0" animBg="1"/>
      <p:bldP spid="33" grpId="0" animBg="1"/>
      <p:bldP spid="2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685BFDF-7C6C-463C-B2F4-DD1D779B0B00}"/>
              </a:ext>
            </a:extLst>
          </p:cNvPr>
          <p:cNvSpPr txBox="1"/>
          <p:nvPr/>
        </p:nvSpPr>
        <p:spPr>
          <a:xfrm>
            <a:off x="125759" y="596022"/>
            <a:ext cx="8892480" cy="529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问题：</a:t>
            </a:r>
            <a:endParaRPr lang="en-US" altLang="zh-CN" sz="220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液晶屏先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显示“</a:t>
            </a:r>
            <a:r>
              <a:rPr lang="en-US" altLang="zh-CN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Welcome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”和“</a:t>
            </a:r>
            <a:r>
              <a:rPr lang="en-US" altLang="zh-CN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HYOO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”欢迎语，再显示挡位和状态，再显示欢迎语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一直循环显示，怎样让欢迎语只显示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一次，然后一直显示挡位信息呢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  <a:endParaRPr lang="en-US" altLang="zh-CN" sz="22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要一直显示挡位信息，也就是需要重复执行显示挡位信息的程序，还记得这种情况要用到什么程序结构吗？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2.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for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循环还是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while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循环？显示挡位信息时还需要保证系统关闭功能正常运行，这时需要加一个结束循环的条件，所以要用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while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循环；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3.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循环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的条件应该是什么呢？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想一想，关闭系统需要什么操作？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系统关闭的时候就不需要显示了，也就是按键再次按下的时候就要停止循环，所以循环条件应该是</a:t>
            </a:r>
            <a:r>
              <a:rPr lang="zh-CN" altLang="en-US" sz="2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按键没有按下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823BA5-9BE7-4484-B3C2-81719D41843E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任务二：无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级换挡</a:t>
            </a:r>
          </a:p>
        </p:txBody>
      </p:sp>
    </p:spTree>
    <p:extLst>
      <p:ext uri="{BB962C8B-B14F-4D97-AF65-F5344CB8AC3E}">
        <p14:creationId xmlns:p14="http://schemas.microsoft.com/office/powerpoint/2010/main" val="420091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2F6F39F-E948-8FBA-5FC5-2080F0E53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520" y="980728"/>
            <a:ext cx="7850512" cy="576064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3A9DF446-50BC-45EE-B66D-3906B1022054}"/>
              </a:ext>
            </a:extLst>
          </p:cNvPr>
          <p:cNvSpPr txBox="1"/>
          <p:nvPr/>
        </p:nvSpPr>
        <p:spPr>
          <a:xfrm>
            <a:off x="4283968" y="1126122"/>
            <a:ext cx="3888432" cy="1015663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用条件循环避免欢迎语循环出现，循环条件是按键没有按下，因为再次按下按键时就需要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关闭系统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77FC6CF-352B-4CD6-933F-FB31607D832A}"/>
              </a:ext>
            </a:extLst>
          </p:cNvPr>
          <p:cNvCxnSpPr>
            <a:cxnSpLocks/>
            <a:stCxn id="27" idx="2"/>
            <a:endCxn id="19" idx="3"/>
          </p:cNvCxnSpPr>
          <p:nvPr/>
        </p:nvCxnSpPr>
        <p:spPr>
          <a:xfrm flipH="1">
            <a:off x="4716015" y="2141785"/>
            <a:ext cx="1512169" cy="5255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6E3C11E-77DF-428B-94C8-4EDDFA045CB1}"/>
              </a:ext>
            </a:extLst>
          </p:cNvPr>
          <p:cNvSpPr/>
          <p:nvPr/>
        </p:nvSpPr>
        <p:spPr>
          <a:xfrm>
            <a:off x="687766" y="2437181"/>
            <a:ext cx="4028249" cy="460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EC2D25-6FC4-46A6-A5C1-2D1AC16CC345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任务二：无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级换挡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2BAEEF-7D76-E454-4583-B5032C903E7A}"/>
              </a:ext>
            </a:extLst>
          </p:cNvPr>
          <p:cNvSpPr txBox="1"/>
          <p:nvPr/>
        </p:nvSpPr>
        <p:spPr>
          <a:xfrm>
            <a:off x="125759" y="520346"/>
            <a:ext cx="8892480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200" dirty="0">
              <a:solidFill>
                <a:srgbClr val="FF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4522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D1C68DD6-AFB1-4C32-B7B3-ED0B4EE5F52B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任务三：模拟驾驶器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58FC1F-3E05-46B3-B2A0-3BFDF9E81CFE}"/>
              </a:ext>
            </a:extLst>
          </p:cNvPr>
          <p:cNvSpPr txBox="1"/>
          <p:nvPr/>
        </p:nvSpPr>
        <p:spPr>
          <a:xfrm>
            <a:off x="125759" y="548680"/>
            <a:ext cx="8892480" cy="5396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倒车雷达可以说是汽车的一个基本功能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，给模拟驾驶器也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加上这个功能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吧！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任务：</a:t>
            </a:r>
            <a:endParaRPr lang="en-US" altLang="zh-CN" sz="220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(1)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在任务二程序的基础上继续编写，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增加</a:t>
            </a:r>
            <a:r>
              <a:rPr lang="zh-CN" altLang="en-US" sz="2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小数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(2)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映射电位器值后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，读取超声波返回值赋值给变量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(3)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gear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的值为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-1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且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的值小于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25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，液晶屏第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行打印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distance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行打印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连接文本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cm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，蜂鸣器以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NOTE_G7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的频率播放声音，延时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×10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毫秒，然后蜂鸣器结束声音，延时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×10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毫秒；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(4)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否则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，液晶屏正常显示挡位和行驶状态，延时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毫秒；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(5)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判断后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，将液晶屏清屏。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提示：</a:t>
            </a:r>
            <a:endParaRPr lang="en-US" altLang="zh-CN" sz="22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可以将条件循环里面的程序单独拿出来修改，改好后再放回去。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938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DA0157D-1F1D-4F47-A45B-C0D72DFEE79E}"/>
              </a:ext>
            </a:extLst>
          </p:cNvPr>
          <p:cNvSpPr txBox="1"/>
          <p:nvPr/>
        </p:nvSpPr>
        <p:spPr>
          <a:xfrm>
            <a:off x="125759" y="548680"/>
            <a:ext cx="8892480" cy="44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200" dirty="0">
              <a:solidFill>
                <a:srgbClr val="FF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CC4BE43-6E72-4754-BE30-1E8A8CE03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544" y="981807"/>
            <a:ext cx="6039681" cy="573321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7E2E06E-085F-4C36-A089-9476F3ACA27E}"/>
              </a:ext>
            </a:extLst>
          </p:cNvPr>
          <p:cNvSpPr txBox="1"/>
          <p:nvPr/>
        </p:nvSpPr>
        <p:spPr>
          <a:xfrm>
            <a:off x="5220072" y="1965052"/>
            <a:ext cx="2777335" cy="707886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增加一个小数变量，用来存储超声波返回值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510D451-9F38-441A-9819-FFDBEF540E3B}"/>
              </a:ext>
            </a:extLst>
          </p:cNvPr>
          <p:cNvCxnSpPr>
            <a:cxnSpLocks/>
            <a:stCxn id="13" idx="1"/>
            <a:endCxn id="16" idx="3"/>
          </p:cNvCxnSpPr>
          <p:nvPr/>
        </p:nvCxnSpPr>
        <p:spPr>
          <a:xfrm flipH="1">
            <a:off x="3685880" y="2318995"/>
            <a:ext cx="1534192" cy="1414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A3D66044-0EBC-4E5C-BD73-F2390A19DC0E}"/>
              </a:ext>
            </a:extLst>
          </p:cNvPr>
          <p:cNvSpPr/>
          <p:nvPr/>
        </p:nvSpPr>
        <p:spPr>
          <a:xfrm>
            <a:off x="659877" y="2318995"/>
            <a:ext cx="3026003" cy="282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36A139-D4F1-4E9D-1A24-6EF083C73BB4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任务三：模拟驾驶器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4436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DA0157D-1F1D-4F47-A45B-C0D72DFEE79E}"/>
              </a:ext>
            </a:extLst>
          </p:cNvPr>
          <p:cNvSpPr txBox="1"/>
          <p:nvPr/>
        </p:nvSpPr>
        <p:spPr>
          <a:xfrm>
            <a:off x="125759" y="548680"/>
            <a:ext cx="8892480" cy="44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200" dirty="0">
              <a:solidFill>
                <a:srgbClr val="FF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CC4BE43-6E72-4754-BE30-1E8A8CE03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5723" y="639852"/>
            <a:ext cx="6405839" cy="612859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7E2E06E-085F-4C36-A089-9476F3ACA27E}"/>
              </a:ext>
            </a:extLst>
          </p:cNvPr>
          <p:cNvSpPr txBox="1"/>
          <p:nvPr/>
        </p:nvSpPr>
        <p:spPr>
          <a:xfrm>
            <a:off x="6545763" y="1343625"/>
            <a:ext cx="2244306" cy="40011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读取超声波返回值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510D451-9F38-441A-9819-FFDBEF540E3B}"/>
              </a:ext>
            </a:extLst>
          </p:cNvPr>
          <p:cNvCxnSpPr>
            <a:cxnSpLocks/>
            <a:stCxn id="13" idx="1"/>
            <a:endCxn id="16" idx="3"/>
          </p:cNvCxnSpPr>
          <p:nvPr/>
        </p:nvCxnSpPr>
        <p:spPr>
          <a:xfrm flipH="1" flipV="1">
            <a:off x="4572000" y="1484721"/>
            <a:ext cx="1973763" cy="589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A3D66044-0EBC-4E5C-BD73-F2390A19DC0E}"/>
              </a:ext>
            </a:extLst>
          </p:cNvPr>
          <p:cNvSpPr/>
          <p:nvPr/>
        </p:nvSpPr>
        <p:spPr>
          <a:xfrm>
            <a:off x="1602557" y="1366886"/>
            <a:ext cx="2969443" cy="2356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36A139-D4F1-4E9D-1A24-6EF083C73BB4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任务三：模拟驾驶器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D29E42F-45C5-8BAE-44CE-FAF5F75A8D8B}"/>
              </a:ext>
            </a:extLst>
          </p:cNvPr>
          <p:cNvCxnSpPr>
            <a:cxnSpLocks/>
            <a:stCxn id="24" idx="1"/>
            <a:endCxn id="69" idx="3"/>
          </p:cNvCxnSpPr>
          <p:nvPr/>
        </p:nvCxnSpPr>
        <p:spPr>
          <a:xfrm flipH="1">
            <a:off x="3157979" y="5709435"/>
            <a:ext cx="3211898" cy="7304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4FB04B6-2443-D37A-5865-657F20ABD2AD}"/>
              </a:ext>
            </a:extLst>
          </p:cNvPr>
          <p:cNvSpPr/>
          <p:nvPr/>
        </p:nvSpPr>
        <p:spPr>
          <a:xfrm>
            <a:off x="1977540" y="3893098"/>
            <a:ext cx="4574090" cy="23474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2A2DA-2937-D97A-F81E-A257F859E1B8}"/>
              </a:ext>
            </a:extLst>
          </p:cNvPr>
          <p:cNvSpPr txBox="1"/>
          <p:nvPr/>
        </p:nvSpPr>
        <p:spPr>
          <a:xfrm>
            <a:off x="5673069" y="1789321"/>
            <a:ext cx="3312051" cy="707886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倒挡状态下，且距离小于一定范围，倒车雷达开始提示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AEF1DF3-4F58-9E71-E96F-0D3F454AA128}"/>
              </a:ext>
            </a:extLst>
          </p:cNvPr>
          <p:cNvCxnSpPr>
            <a:cxnSpLocks/>
            <a:stCxn id="31" idx="1"/>
            <a:endCxn id="33" idx="3"/>
          </p:cNvCxnSpPr>
          <p:nvPr/>
        </p:nvCxnSpPr>
        <p:spPr>
          <a:xfrm flipH="1" flipV="1">
            <a:off x="5344998" y="1789321"/>
            <a:ext cx="328071" cy="3539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5AC4D3A4-18B0-A1A6-E25D-BFD8D340618C}"/>
              </a:ext>
            </a:extLst>
          </p:cNvPr>
          <p:cNvSpPr/>
          <p:nvPr/>
        </p:nvSpPr>
        <p:spPr>
          <a:xfrm>
            <a:off x="1602556" y="1602555"/>
            <a:ext cx="3742442" cy="3735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8D738D9-8613-42E5-EE87-EBE906694ED4}"/>
              </a:ext>
            </a:extLst>
          </p:cNvPr>
          <p:cNvSpPr txBox="1"/>
          <p:nvPr/>
        </p:nvSpPr>
        <p:spPr>
          <a:xfrm>
            <a:off x="5362934" y="2678880"/>
            <a:ext cx="3054859" cy="1015663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蜂鸣器发声的间隔时间用超声波返回值的十倍控制，距离越近，间隔时间越短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A6E3A16-42AA-1872-2BA1-F10246BBD942}"/>
              </a:ext>
            </a:extLst>
          </p:cNvPr>
          <p:cNvCxnSpPr>
            <a:cxnSpLocks/>
            <a:stCxn id="38" idx="1"/>
            <a:endCxn id="40" idx="3"/>
          </p:cNvCxnSpPr>
          <p:nvPr/>
        </p:nvCxnSpPr>
        <p:spPr>
          <a:xfrm flipH="1" flipV="1">
            <a:off x="4110087" y="2935297"/>
            <a:ext cx="1252847" cy="2514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E6182C28-6C84-339F-1D47-42FF9C209E5A}"/>
              </a:ext>
            </a:extLst>
          </p:cNvPr>
          <p:cNvSpPr/>
          <p:nvPr/>
        </p:nvSpPr>
        <p:spPr>
          <a:xfrm>
            <a:off x="1977539" y="2740895"/>
            <a:ext cx="2132548" cy="388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466685-EC45-C66F-A52B-544B450A71E5}"/>
              </a:ext>
            </a:extLst>
          </p:cNvPr>
          <p:cNvCxnSpPr>
            <a:cxnSpLocks/>
            <a:stCxn id="38" idx="1"/>
            <a:endCxn id="47" idx="3"/>
          </p:cNvCxnSpPr>
          <p:nvPr/>
        </p:nvCxnSpPr>
        <p:spPr>
          <a:xfrm flipH="1">
            <a:off x="4110087" y="3186712"/>
            <a:ext cx="1252847" cy="4218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88707EF3-7775-FEEF-775C-9F14955AFC5E}"/>
              </a:ext>
            </a:extLst>
          </p:cNvPr>
          <p:cNvSpPr/>
          <p:nvPr/>
        </p:nvSpPr>
        <p:spPr>
          <a:xfrm>
            <a:off x="1977539" y="3414197"/>
            <a:ext cx="2132548" cy="388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889D192-DB97-7F0E-7B8D-0E9483DCF4DD}"/>
              </a:ext>
            </a:extLst>
          </p:cNvPr>
          <p:cNvSpPr/>
          <p:nvPr/>
        </p:nvSpPr>
        <p:spPr>
          <a:xfrm>
            <a:off x="1631107" y="6309321"/>
            <a:ext cx="1526872" cy="261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A33AE84-B0F8-DD8C-6580-0888EA5B0602}"/>
              </a:ext>
            </a:extLst>
          </p:cNvPr>
          <p:cNvSpPr txBox="1"/>
          <p:nvPr/>
        </p:nvSpPr>
        <p:spPr>
          <a:xfrm>
            <a:off x="6369877" y="4893827"/>
            <a:ext cx="2519073" cy="1631216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显示档位和行驶状态的程序放到否则分支内，将清屏模块放到判断的下面，无论哪种情况，都需要清屏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396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uiExpand="1" animBg="1"/>
      <p:bldP spid="33" grpId="0" animBg="1"/>
      <p:bldP spid="38" grpId="0" uiExpand="1" animBg="1"/>
      <p:bldP spid="40" grpId="0" animBg="1"/>
      <p:bldP spid="47" grpId="0" animBg="1"/>
      <p:bldP spid="69" grpId="0" animBg="1"/>
      <p:bldP spid="24" grpId="0" uiExpan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F7606D-EEB9-4339-BFE0-190B1F46963E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知识总结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ED6395-3C1D-4670-BF58-99EB79598FA4}"/>
              </a:ext>
            </a:extLst>
          </p:cNvPr>
          <p:cNvSpPr txBox="1"/>
          <p:nvPr/>
        </p:nvSpPr>
        <p:spPr>
          <a:xfrm>
            <a:off x="215516" y="764704"/>
            <a:ext cx="8712968" cy="155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怎样用按键控制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LCD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液晶屏开关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</a:p>
          <a:p>
            <a:pPr lvl="0">
              <a:lnSpc>
                <a:spcPct val="15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液晶屏显示内容变化时，需要注意什么？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怎样实现启动信息显示一次后，一直显示挡位状态？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57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F7606D-EEB9-4339-BFE0-190B1F46963E}"/>
              </a:ext>
            </a:extLst>
          </p:cNvPr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课后任务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ED6395-3C1D-4670-BF58-99EB79598FA4}"/>
              </a:ext>
            </a:extLst>
          </p:cNvPr>
          <p:cNvSpPr txBox="1"/>
          <p:nvPr/>
        </p:nvSpPr>
        <p:spPr>
          <a:xfrm>
            <a:off x="179512" y="548680"/>
            <a:ext cx="8784976" cy="4196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</a:pP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距离测量仪：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★</a:t>
            </a:r>
            <a:r>
              <a:rPr lang="zh-CN" altLang="en-US" sz="2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2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初始化液晶屏并清屏，声明布尔型变量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IO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小数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，并赋初始值为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(2)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按键按下再松开，将变量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IO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取反；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(3)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如果变量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IO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，液晶屏关闭背光和显示；</a:t>
            </a:r>
            <a:endParaRPr lang="en-US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    (4)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否则，读取超声波返回值赋值给变量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液晶屏打开显示和背光，在第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行打印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latin typeface="华文中宋" panose="02010600040101010101" pitchFamily="2" charset="-122"/>
                <a:ea typeface="华文中宋" panose="02010600040101010101" pitchFamily="2" charset="-122"/>
              </a:rPr>
              <a:t>distance</a:t>
            </a:r>
            <a:r>
              <a:rPr lang="zh-CN" altLang="en-US" sz="2200"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行打印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连接文本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en-US" altLang="zh-CN" sz="22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cm</a:t>
            </a:r>
            <a:r>
              <a:rPr lang="zh-CN" altLang="en-US" sz="2200">
                <a:solidFill>
                  <a:srgbClr val="0000FF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”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，延时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毫秒，然后将液晶屏清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屏。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★提示：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用如果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否则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编写程序。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7846335"/>
      </p:ext>
    </p:extLst>
  </p:cSld>
  <p:clrMapOvr>
    <a:masterClrMapping/>
  </p:clrMapOvr>
</p:sld>
</file>

<file path=ppt/theme/theme1.xml><?xml version="1.0" encoding="utf-8"?>
<a:theme xmlns:a="http://schemas.openxmlformats.org/drawingml/2006/main" name="何老师设计9岁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12650</TotalTime>
  <Words>1605</Words>
  <Application>Microsoft Office PowerPoint</Application>
  <PresentationFormat>全屏显示(4:3)</PresentationFormat>
  <Paragraphs>124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Batang</vt:lpstr>
      <vt:lpstr>华文中宋</vt:lpstr>
      <vt:lpstr>楷体</vt:lpstr>
      <vt:lpstr>新宋体</vt:lpstr>
      <vt:lpstr>Arial</vt:lpstr>
      <vt:lpstr>Calibri</vt:lpstr>
      <vt:lpstr>HoloLens MDL2 Assets</vt:lpstr>
      <vt:lpstr>何老师设计9岁</vt:lpstr>
      <vt:lpstr>PowerPoint 演示文稿</vt:lpstr>
      <vt:lpstr>第二十五节课 驾驶模拟器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课前准备</dc:title>
  <dc:creator>何胜晖</dc:creator>
  <cp:lastModifiedBy>胜晖 何</cp:lastModifiedBy>
  <cp:revision>284</cp:revision>
  <dcterms:modified xsi:type="dcterms:W3CDTF">2023-11-16T05:33:06Z</dcterms:modified>
</cp:coreProperties>
</file>